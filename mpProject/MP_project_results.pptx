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MP Project — N-terminal Enrichment Analysis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CFDBE8"/>
                </a:solidFill>
              </a:rPr>
              <a:t>155 hit peptides vs N-terminome GPS screen library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E6ECF2"/>
                </a:solidFill>
              </a:rPr>
              <a:t>Two-background comparison: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E6ECF2"/>
                </a:solidFill>
              </a:rPr>
              <a:t>  1) vs all MP-starting peptides in the library (n = 1,263)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E6ECF2"/>
                </a:solidFill>
              </a:rPr>
              <a:t>  2) vs the full GPS library, all N-termini (n = 23,408)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E6ECF2"/>
                </a:solidFill>
              </a:rPr>
              <a:t>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E6ECF2"/>
                </a:solidFill>
              </a:rPr>
              <a:t>Each section: enrichment heatmap, frequency heatmaps, Fisher's exact significance, sequence logo, property-grouped heatmap, per-position top movers.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Data sources, definitions &amp;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Inputs: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MP project peptide list — 155 user-supplied gene / transcript IDs (some with explicit |ENST suffix). Loaded from peptide_list.txt; duplicate ' 2' suffixes are stripped.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Library — Data S3.xlsx (N-terminome GPS screen, in different genetic backgrounds). Sheets Data S3A / S3B / S3C are concatenated and deduplicated on Ensembl Transcript ID, giving 23,408 unique transcripts. 1,263 of those start with M-P. Each entry has a 24-residue N-terminal peptide sequence.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Definitions: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'MP peptide' = peptide whose AA sequence starts with M-P.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Each user entry is matched to the library first by Ensembl transcript (when supplied), otherwise by gene symbol; we then take the first MP-starting peptide from the matching rows. All 155 entries match (0 unmatched).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Enrichment statistic: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At every (amino acid, position) cell, log2( hit_freq / library_freq ), with a Laplace pseudocount of 0.5 added to raw counts before normalisation.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Cells where both hit and library counts are exactly 0 are set to 0 (avoids pseudocount artefacts in fully empty cells).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Significance is two-sided Fisher's exact (AA vs others, hits vs library). No multiple-testing correction.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Section 1 — vs MP-only library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Background: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1,263 unique MP-starting peptides in the GPS library.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This is the conservative comparison: it cancels out the library's design constraints around the M-P start and isolates the biological signal at positions 3 and beyond.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Why this matters: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If a residue is enriched at position 4 vs MP library, it is enriched relative to OTHER MP peptides — i.e. it is a true preference within the M-P starting population.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Enrichment heatmap (primary)</a:t>
            </a:r>
          </a:p>
          <a:p>
            <a:r>
              <a:rPr sz="1400">
                <a:solidFill>
                  <a:srgbClr val="CFDBE8"/>
                </a:solidFill>
              </a:rPr>
              <a:t>MP project (n=155) vs all MP peptides in the GPS library (n=1,263)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enrich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8" y="1097280"/>
            <a:ext cx="6782843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Each cell shows log2(frequency in hits / frequency in MP library) for one amino acid (rows) at one residue position (columns).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Red = enriched in your hits, blue = depleted, white ≈ no change.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strongest signals sit at positions 3–7: Y, M, F, W, V, C are enriched while K, R, N, P are depleted — the canonical hydrophobic / aromatic preference of an N-degron pathway after the conserved M-P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Counts of each amino acid at each position were computed for both the hit set and the MP library, then converted to per-position frequencies. log2 ratio reported with a Laplace pseudocount of 0.5 to avoid divide-by-zero. Cells where both groups have zero observations are forced to 0. Positions 1 (always M) and 2 (always P in MP peptides) are invariant in both groups and were excluded; positions 3–24 are shown.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Per-position frequency heatmaps</a:t>
            </a:r>
          </a:p>
          <a:p>
            <a:r>
              <a:rPr sz="1400">
                <a:solidFill>
                  <a:srgbClr val="CFDBE8"/>
                </a:solidFill>
              </a:rPr>
              <a:t>Raw amino-acid frequencies — hits vs MP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frequency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92643"/>
            <a:ext cx="6858000" cy="28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data without the ratio — panel A is the hit set, panel B is the MP library. Both panels share the same colour scale so the darker cell is the more frequent residue at that position.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library (B) is roughly uniform; the hits (A) show clear patches of darker colour at hydrophobic / aromatic rows and at positions 3–7, which is what produces the red areas in the enrichment heatmap.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Frequency = count of AA at position / total count at that position, expressed as a percentage. No pseudocount, no ratio — this is purely descriptive.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Statistical significance — Fisher's exact</a:t>
            </a:r>
          </a:p>
          <a:p>
            <a:r>
              <a:rPr sz="1400">
                <a:solidFill>
                  <a:srgbClr val="CFDBE8"/>
                </a:solidFill>
              </a:rPr>
              <a:t>Signed -log10(p) for each (AA, position)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signific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1" y="1097280"/>
            <a:ext cx="6675477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layout as the enrichment heatmap, but each cell is a signed -log10(p) from a 2×2 Fisher's exact test (AA-of-interest vs others, hit set vs MP library).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* = p&lt;0.05, ** = p&lt;0.01, *** = p&lt;0.001 (two-sided).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most significant signals (***) are at positions 3 and 4: P and Y enriched, K / R / L / P depleted — these are the cells you can quote with statistical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For each (AA, position) cell, a 2×2 contingency table was built (rows: hits / library, columns: this AA / all other AAs at that position). p-values come from scipy.stats.fisher_exact, two-sided. The colour is sign(observed − expected) × -log10(p). No multiple-testing correction is applied; treat single-cell p-values as descriptive.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Enrichment sequence logo</a:t>
            </a:r>
          </a:p>
          <a:p>
            <a:r>
              <a:rPr sz="1400">
                <a:solidFill>
                  <a:srgbClr val="CFDBE8"/>
                </a:solidFill>
              </a:rPr>
              <a:t>Letter heights = log2(hit / library), coloured by chemistry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enrichm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96116"/>
            <a:ext cx="6858000" cy="328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A sequence logo where letter height encodes log2 enrichment directly. Letters above the baseline = enriched in hits; letters below (flipped upside-down) = depleted.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Letters are coloured by amino-acid chemistry group: green = hydrophobic, purple = aromatic, light blue = polar, dark blue = basic, red = acidic, orange = special (C, G, P).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aromatic / hydrophobic stack at positions 3–7 above the baseline and the basic stack below are the visual summary of the substrate preference.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Built with logomaker. Letter values are the same log2 enrichment matrix used in the heatmap (with the 0/0-cell mask applied), focused on positions 3–10 for figure readability. Negative values are rendered flipped below the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Property-grouped enrichment</a:t>
            </a:r>
          </a:p>
          <a:p>
            <a:r>
              <a:rPr sz="1400">
                <a:solidFill>
                  <a:srgbClr val="CFDBE8"/>
                </a:solidFill>
              </a:rPr>
              <a:t>Amino acids collapsed into 6 chemistry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property_grou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21449"/>
            <a:ext cx="6858000" cy="2838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same enrichment, summed within chemistry groups so the global trend is easier to read at a glance.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Aromatic (FWY) is enriched at positions 3–10. Basic (KRH) is depleted across positions 3–10 — strongest at position 4 (log2 ≈ −2.5). Acidic (DE) is mostly flat. Special (CGP) shows the M-P motif extension into early positions.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For each group, hit and library counts were summed across the AAs in the group at each position, then a log2 ratio was taken with the same pseudocount and total-normalisation as the AA-level heatmap. The groups are: Hydrophobic (AILMV), Aromatic (FWY), Polar (NQST), Basic (KRH), Acidic (DE), Special (CGP).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Top movers per position (3–7)</a:t>
            </a:r>
          </a:p>
          <a:p>
            <a:r>
              <a:rPr sz="1400">
                <a:solidFill>
                  <a:srgbClr val="CFDBE8"/>
                </a:solidFill>
              </a:rPr>
              <a:t>Four most enriched and four most depleted residues at each early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top_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2882"/>
            <a:ext cx="6858000" cy="3115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For each early residue position (3 through 7), a horizontal bar chart of the four most enriched (top, positive bars) and four most depleted (bottom, negative bars) amino acids. Bar colour = chemistry group; numeric label = log2 enrichment.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Useful as a 'pull-quote' figure: at every position 3–6 a basic residue (K or R) is the single most depleted residue, and at every position an aromatic / bulky-hydrophobic residue (Y, M, F, W, V, C) is the most enriched.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Top-4 enriched and top-4 depleted residues at each position were ranked by the same log2-enrichment score. All five panels share the same x-axis range so the bar lengths are directly comparable across positions.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Section 2 — vs FULL library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Background: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All 23,408 unique transcripts in the GPS library (every N-terminus, not just MP starts).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What this comparison answers: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Are the position-3-and-beyond preferences seen in Section 1 a property of the MP-only sub-library, or of the hit set? Comparing the same 155 hits to the entire library isolates the biology from the M-P start design.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Display choices (kept identical to Section 1):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Positions 3–24 are shown in every plot.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Position 1 is invariant (always M) in both groups.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Position 2 trivially enriches for P (every hit starts MP, only ~5.4 % of the library does); we exclude it so the biology at positions 3+ isn't obscured by the M-P design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Enrichment heatmap (primary)</a:t>
            </a:r>
          </a:p>
          <a:p>
            <a:r>
              <a:rPr sz="1400">
                <a:solidFill>
                  <a:srgbClr val="CFDBE8"/>
                </a:solidFill>
              </a:rPr>
              <a:t>MP project (n=155) vs full GPS library (n=23,408)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enrich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8" y="1097280"/>
            <a:ext cx="6782843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layout as the MP-vs-MP heatmap, but the background is now every N-terminus in the GPS library — not just the M-P starts.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biological signature is preserved: aromatic / bulky-hydrophobic residues (Y, M, F, W, V, C) are enriched at positions 3–7 and basic residues (K, R) are depleted, with the strongest depletion at position 4 (R log2 ≈ −3.0).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Compared to the MP-vs-MP heatmap, the absolute log2 values are similar — confirming that the signal is biological and not an artefact of the library's M-P starting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Counts → frequencies → log2 ratio with 0.5 pseudocount; cells with zero counts in both groups are masked to 0. Positions 1 (invariant M) and 2 (trivially enriched for P because every hit is an MP peptide while only ~5.4 % of the library is) are excluded. Positions 3–24 are shown.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Per-position frequency heatmaps</a:t>
            </a:r>
          </a:p>
          <a:p>
            <a:r>
              <a:rPr sz="1400">
                <a:solidFill>
                  <a:srgbClr val="CFDBE8"/>
                </a:solidFill>
              </a:rPr>
              <a:t>Raw frequencies — hits vs full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frequency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92643"/>
            <a:ext cx="6858000" cy="28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Side-by-side raw frequencies for hits (A) and the full library (B), shared colour scale. The library panel is more uniform and slightly more intense than the MP-only library because it contains ~19× more sequences.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hit panel still shows the aromatic / hydrophobic patches at positions 3–7 — the same signal that drives the enrichment heatmap.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Frequency = AA count divided by total count at that position, as a percentage. No pseudocount, no ratio — purely descriptive.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Statistical significance — Fisher's exact</a:t>
            </a:r>
          </a:p>
          <a:p>
            <a:r>
              <a:rPr sz="1400">
                <a:solidFill>
                  <a:srgbClr val="CFDBE8"/>
                </a:solidFill>
              </a:rPr>
              <a:t>Signed -log10(p), full-library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signific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8" y="1097280"/>
            <a:ext cx="6782843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significance map as the MP-vs-MP run, but with a larger library denominator (~23 k entries), so p-values are tighter and *** labels appear in more cells.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The strongest *** signals reproduce the MP-vs-MP pattern: K, R depleted at positions 3–6; Y, P enriched at positions 3–4. Cells you can quote with statistical confidence (***) line up across both backgrounds — the biology is robust.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Two-sided Fisher's exact for each (AA, position) cell against the full library. No multiple-testing correction. Positions 3–24.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Enrichment sequence logo</a:t>
            </a:r>
          </a:p>
          <a:p>
            <a:r>
              <a:rPr sz="1400">
                <a:solidFill>
                  <a:srgbClr val="CFDBE8"/>
                </a:solidFill>
              </a:rPr>
              <a:t>Letter heights = log2(hit / full library)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enrichm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96116"/>
            <a:ext cx="6858000" cy="328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Logo of the same enrichment matrix. The aromatic / hydrophobic stack above the baseline at positions 3–7 and the basic stack below are visually similar to the MP-vs-MP logo — just slightly compressed because the larger background smoothens single-residue 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logomaker construction as the MP-vs-MP logo; positions 3–10, 0/0-cell mask applied, negative letters flipped below the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Property-grouped enrichment</a:t>
            </a:r>
          </a:p>
          <a:p>
            <a:r>
              <a:rPr sz="1400">
                <a:solidFill>
                  <a:srgbClr val="CFDBE8"/>
                </a:solidFill>
              </a:rPr>
              <a:t>Chemistry-group summary, full-library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property_grou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42582"/>
            <a:ext cx="6858000" cy="2795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chemistry-group summary as the MP-vs-MP run.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Position 4 still shows the strongest depletion of Basic (KRH, log2 ≈ −2.4) and Aromatic (FWY) is enriched at positions 3–10. The fact that this pattern survives a 19× larger / more diverse background confirms it's a property of the hit set, not of the MP-only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group definitions and computation as the MP-vs-MP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Top movers per position (3–7)</a:t>
            </a:r>
          </a:p>
          <a:p>
            <a:r>
              <a:rPr sz="1400">
                <a:solidFill>
                  <a:srgbClr val="CFDBE8"/>
                </a:solidFill>
              </a:rPr>
              <a:t>Top-4 enriched / depleted residues, full-library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1005840"/>
            <a:ext cx="4754880" cy="5669280"/>
          </a:xfrm>
          <a:prstGeom prst="rect">
            <a:avLst/>
          </a:prstGeom>
          <a:solidFill>
            <a:srgbClr val="F4F4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_top_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94376"/>
            <a:ext cx="6858000" cy="3092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188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Explanation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Per-position top movers, full-library background. Comparing side by side with the MP-vs-MP panel: the same residues occupy the top and bottom slots at almost every position — Y leads positions 3–5, K and R dominate the depleted side at positions 3–6, F and M follow Y in the enriched stack at positions 4–5.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Quantitative differences exist (effects are typically a touch larger vs full library because the background is more diffuse), but the ranking is virtually identical.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4048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42A4C"/>
                </a:solidFill>
              </a:rPr>
              <a:t>Methods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555555"/>
                </a:solidFill>
              </a:rPr>
              <a:t>Same top-4 ranking and shared x-axis as the MP-vs-MP panel; positions 3–7.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60175" cy="82296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Summary of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Background-invariant biological signal (positions 3–7):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Strong enrichment of aromatic / bulky-hydrophobic residues (Y, M, L, F, W, V, C) at the early peptide positions.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Strong depletion of basic residues (K, R, H) and several polar / amide residues (N, Q) at the same positions.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Largest single signals: K depleted at positions 3–6 (log2 ≈ −2 to −2.6); R depleted at position 4 (≈ −3.0 vs full library, −3.1 vs MP library).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Robustness across backgrounds: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The same residues occupy the same enriched / depleted slots whether the hits are compared against the MP-only library (n = 1,263) or the full library (n = 23,408).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Effect magnitudes are similar between the two backgrounds; the full-library comparison gives slightly tighter p-values thanks to the larger denominator.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42A4C"/>
                </a:solidFill>
              </a:rPr>
              <a:t>Outputs delivered: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mpProject/results/vs_MP_library/   — 6 figures + CSVs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mpProject/results/vs_full_library/ — 6 figures + CSVs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55555"/>
                </a:solidFill>
              </a:rPr>
              <a:t>• MP_project_results.pptx (this deck)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