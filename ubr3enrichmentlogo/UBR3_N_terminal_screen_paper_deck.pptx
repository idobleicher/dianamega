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82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728655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UBR3 N-terminal Degron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728655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1">
                <a:solidFill>
                  <a:srgbClr val="FFFFFF"/>
                </a:solidFill>
                <a:latin typeface="Calibri"/>
              </a:rPr>
              <a:t>Statistical Reanalysis, Figures and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72865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Library: 16,514 peptides    ·    Best hits: 54 peptides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72865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 i="1">
                <a:solidFill>
                  <a:srgbClr val="ECF0F1"/>
                </a:solidFill>
                <a:latin typeface="Calibri"/>
              </a:rPr>
              <a:t>Figures · Raw data · Methods · References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782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6017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04088"/>
            <a:ext cx="1146017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Each figure is on its own slide with a paper-ready caption. Methods and raw data are at the 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>
                <a:solidFill>
                  <a:srgbClr val="1F3A5F"/>
                </a:solidFill>
                <a:latin typeface="Calibri"/>
              </a:rPr>
              <a:t>▸  1.   Amino-acid enrichment heatmap — Fisher exact test   (Fig 1B)</a:t>
            </a:r>
          </a:p>
          <a:p>
            <a:pPr algn="l">
              <a:lnSpc>
                <a:spcPct val="140000"/>
              </a:lnSpc>
            </a:pPr>
            <a:r>
              <a:rPr sz="1800">
                <a:solidFill>
                  <a:srgbClr val="1F3A5F"/>
                </a:solidFill>
                <a:latin typeface="Calibri"/>
              </a:rPr>
              <a:t>▸  2.   Top dipeptide enrichments at positions 2–3   (Fig 3)</a:t>
            </a:r>
          </a:p>
          <a:p>
            <a:pPr algn="l">
              <a:lnSpc>
                <a:spcPct val="140000"/>
              </a:lnSpc>
            </a:pPr>
            <a:r>
              <a:rPr sz="1800">
                <a:solidFill>
                  <a:srgbClr val="1F3A5F"/>
                </a:solidFill>
                <a:latin typeface="Calibri"/>
              </a:rPr>
              <a:t>▸  3.   Fold-change sequence logo (positions 2 and 3)   (Fig 4)</a:t>
            </a:r>
          </a:p>
          <a:p>
            <a:pPr algn="l">
              <a:lnSpc>
                <a:spcPct val="140000"/>
              </a:lnSpc>
            </a:pPr>
            <a:r>
              <a:rPr sz="1800">
                <a:solidFill>
                  <a:srgbClr val="1F3A5F"/>
                </a:solidFill>
                <a:latin typeface="Calibri"/>
              </a:rPr>
              <a:t>▸  4.   Combined dipeptide groups PD+PE+PT and GE+GD — Mann-Whitney U</a:t>
            </a:r>
          </a:p>
          <a:p>
            <a:pPr algn="l">
              <a:lnSpc>
                <a:spcPct val="140000"/>
              </a:lnSpc>
            </a:pPr>
            <a:r>
              <a:rPr sz="1800">
                <a:solidFill>
                  <a:srgbClr val="1F3A5F"/>
                </a:solidFill>
                <a:latin typeface="Calibri"/>
              </a:rPr>
              <a:t>▸  5.   Combined dipeptide groups — Brunner-Munzel + Cohen's d</a:t>
            </a:r>
          </a:p>
          <a:p>
            <a:pPr algn="l">
              <a:lnSpc>
                <a:spcPct val="140000"/>
              </a:lnSpc>
            </a:pPr>
            <a:r>
              <a:rPr sz="1800">
                <a:solidFill>
                  <a:srgbClr val="1F3A5F"/>
                </a:solidFill>
                <a:latin typeface="Calibri"/>
              </a:rPr>
              <a:t>▸  6.   Volcano plot — moderated t-test (limma-style EB) + BH FDR   (Fig 20c)</a:t>
            </a:r>
          </a:p>
          <a:p>
            <a:pPr algn="l">
              <a:lnSpc>
                <a:spcPct val="140000"/>
              </a:lnSpc>
            </a:pPr>
            <a:r>
              <a:rPr sz="1800">
                <a:solidFill>
                  <a:srgbClr val="1F3A5F"/>
                </a:solidFill>
                <a:latin typeface="Calibri"/>
              </a:rPr>
              <a:t>▸  7.   Methods section   (paper-ready)</a:t>
            </a:r>
          </a:p>
          <a:p>
            <a:pPr algn="l">
              <a:lnSpc>
                <a:spcPct val="140000"/>
              </a:lnSpc>
            </a:pPr>
            <a:r>
              <a:rPr sz="1800">
                <a:solidFill>
                  <a:srgbClr val="1F3A5F"/>
                </a:solidFill>
                <a:latin typeface="Calibri"/>
              </a:rPr>
              <a:t>▸  8.   Raw data — Top Hits (PD+PE+PT and GE+GD)</a:t>
            </a:r>
          </a:p>
          <a:p>
            <a:pPr algn="l">
              <a:lnSpc>
                <a:spcPct val="140000"/>
              </a:lnSpc>
            </a:pPr>
            <a:r>
              <a:rPr sz="1800">
                <a:solidFill>
                  <a:srgbClr val="1F3A5F"/>
                </a:solidFill>
                <a:latin typeface="Calibri"/>
              </a:rPr>
              <a:t>▸  9.   Software, packages, 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43055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Calibri"/>
              </a:rPr>
              <a:t>UBR3 N-terminal screen  ·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782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6017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Fig 1B.  Amino-acid enrichment heatmap (Positions 2 and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04088"/>
            <a:ext cx="1146017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Best hits vs. full library  |  Fisher exact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694944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b_enrichment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2806" y="987552"/>
            <a:ext cx="2855347" cy="51572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960120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Calibri"/>
              </a:rPr>
              <a:t>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298448"/>
            <a:ext cx="4389120" cy="2560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Heatmap of per-residue enrichment at the two positions immediately after the N-terminal Met.</a:t>
            </a: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Enrichment = frequency in best hits / frequency in library. Rows sorted by enrichment at position 2.</a:t>
            </a: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P, G and T dominate position 2; D, E and N dominate position 3 — consistent with the UBR family Nt-degron recognition rules.</a:t>
            </a: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Stars indicate significance from Fisher exact tests (two-sided) on 2×2 contingency tables (hit vs. non-hit × carries AA vs. does not).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77639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Calibri"/>
              </a:rPr>
              <a:t>Statistical 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315968"/>
            <a:ext cx="4389120" cy="1828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Test: Fisher exact (two-sided)   scipy.stats.fisher_exact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2×2 table per amino acid × position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n_hits = 54,   n_library = 16,514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*  p&lt;0.05    **  p&lt;0.01    ***  p&lt;0.001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6126480"/>
            <a:ext cx="4389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Calibri"/>
              </a:rPr>
              <a:t>Editable vector (SVG) available in project folder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782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6017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Fig 3.  Top-10 dipeptide enrichments at P2-P3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04088"/>
            <a:ext cx="1146017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Best hits vs. full library  |  frequency fold-change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694944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_dipeptide_enrichment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156510"/>
            <a:ext cx="6803136" cy="4819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960120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Calibri"/>
              </a:rPr>
              <a:t>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298448"/>
            <a:ext cx="4389120" cy="2560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Ranked enrichment of the 10 most frequent dipeptides at positions 2–3 in the best-hits subset (out of the top-20 observed).</a:t>
            </a: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Dipeptide enrichment = f(dipeptide|hits) / f(dipeptide|library).</a:t>
            </a: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PD, PT, GD and GE exceed 30× enrichment — these are the dominant P2-P3 motifs in UBR3 substrates.</a:t>
            </a: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Dashed line at 1 marks the background (library) frequency.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77639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Calibri"/>
              </a:rPr>
              <a:t>Statistical 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315968"/>
            <a:ext cx="4389120" cy="1828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Frequency-based enrichment, no statistical test (descriptive).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Chart truncated at dipeptide EL (rank 10).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See Fig 1C in the project for the complete 20×20 heatmap.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6126480"/>
            <a:ext cx="4389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Calibri"/>
              </a:rPr>
              <a:t>Editable vector (SVG) available in project folder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782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6017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Fig 4.  Fold-change sequence logo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04088"/>
            <a:ext cx="1146017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Best hits vs. library at positions 2 and 3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694944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_logo_pos2_pos3_besth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808" y="987552"/>
            <a:ext cx="6677343" cy="51572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960120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Calibri"/>
              </a:rPr>
              <a:t>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298448"/>
            <a:ext cx="4389120" cy="2560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Stacked logo where each letter's height equals its fold-change (enrichment) at that position; letters with FC ≤ 1 are hidden.</a:t>
            </a: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Colour = biochemical category: Acidic (dark red), Basic, Nonpolar (orange) and Polar (yellow).</a:t>
            </a: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Position 2 is dominated by P and G (large Nonpolar stack); position 3 is dominated by D and E (Acidic stack).</a:t>
            </a: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A simultaneous P/G at P2 and D/E at P3 defines the core UBR3 motif.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77639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Calibri"/>
              </a:rPr>
              <a:t>Statistical 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315968"/>
            <a:ext cx="4389120" cy="1828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Built with logomaker (Python); stack_order="big_on_top".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Matrix = per-residue enrichment (hits/library); threshold at 1.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No statistical test — descriptive visualization of enrichment.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6126480"/>
            <a:ext cx="4389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Calibri"/>
              </a:rPr>
              <a:t>Editable vector (SVG) available in project folder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782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6017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Combined dipeptide groups — Mann-Whitney U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04088"/>
            <a:ext cx="1146017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PD+PE+PT and GE+GD — PSI in control (AAVS) cells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694944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Combined_only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014984"/>
            <a:ext cx="6803136" cy="51023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960120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Calibri"/>
              </a:rPr>
              <a:t>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298448"/>
            <a:ext cx="4389120" cy="2560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PSI (Protein Stability Index in the AAVS control cell line) compared between Top Hits and the full library for two pooled motif groups.</a:t>
            </a: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PD+PE+PT:  n_hits = 8,  n_all = 104  →  p = 0.016  (*)</a:t>
            </a: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GE+GD:     n_hits = 12, n_all = 109  →  p = 0.051  (ns, borderline)</a:t>
            </a: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One-tailed test (H₁: Top Hits &lt; All Screen) reflecting the pre-specified hypothesis that destabilizing motifs have lower PSI.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77639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Calibri"/>
              </a:rPr>
              <a:t>Statistical 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315968"/>
            <a:ext cx="4389120" cy="1828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Test: one-tailed Mann-Whitney U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   scipy.stats.mannwhitneyu(alternative="less")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Rank-based; assumes similar dispersions in both groups.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With unequal SDs + unequal N, MW is conservative here → see next slide.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6126480"/>
            <a:ext cx="4389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Calibri"/>
              </a:rPr>
              <a:t>Editable vector (SVG) available in project folder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782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6017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Combined dipeptide groups — Brunner-Munzel + Cohen's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04088"/>
            <a:ext cx="1146017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Rank-based test robust to unequal variances and unequal 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694944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Combined_only_cohen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014984"/>
            <a:ext cx="6803136" cy="51023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960120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Calibri"/>
              </a:rPr>
              <a:t>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298448"/>
            <a:ext cx="4389120" cy="2560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Same data as the previous slide, analysed with a test appropriate for the data structure (unequal variances, unequal sample sizes, non-normal library distribution).</a:t>
            </a: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PD+PE+PT:  d = 1.05 (large effect),   Brunner-Munzel p = 0.0017  **</a:t>
            </a: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GE+GD:     d = 0.49 (small effect),    Brunner-Munzel p = 0.0086  **</a:t>
            </a: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Both dipeptide groups are significantly destabilized relative to the background screen.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77639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Calibri"/>
              </a:rPr>
              <a:t>Statistical 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315968"/>
            <a:ext cx="4389120" cy="1828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Test: one-tailed Brunner-Munzel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   scipy.stats.brunnermunzel(alternative="less")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Cohen's d = (mean_all − mean_hits) / pooled SD.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Rank-based, Welch-style variance adjustment — rank analogue of Welch's t-test.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Shapiro-Wilk on All Screen: non-normal (p &lt; 0.001) → parametric tests are not ideal.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6126480"/>
            <a:ext cx="4389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Calibri"/>
              </a:rPr>
              <a:t>Editable vector (SVG) available in project folder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782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6017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Fig 20C.  Volcano plot — moderated t-test + BH FDR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04088"/>
            <a:ext cx="1146017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limma-style empirical Bayes variance shrinkage (Smyth 2004)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694944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0c_volcano_moderated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165515"/>
            <a:ext cx="6803136" cy="28012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960120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Calibri"/>
              </a:rPr>
              <a:t>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298448"/>
            <a:ext cx="4389120" cy="2560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ΔPSI = UBR3-cell PSI − AAVS-control PSI, per peptide (N=2 each).</a:t>
            </a: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Y-axis = –log10(BH-adjusted p) from a moderated t-test — variances are shrunk toward a dataset-wide prior, raising effective d.f. from ~1–2 (Welch) to ~11.6.</a:t>
            </a: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Empirical Bayes prior:  s₀² = 0.013,  d₀ = 9.6 (fit from all 16,514 variances).</a:t>
            </a: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After |ΔPSI| ≥ 0.5 and FDR &lt; 0.05:  43 stabilized, 16 destabilized, plus the 54 pre-labelled best hits — all visibly enriched in the upper-right quadrant.</a:t>
            </a: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F3A5F"/>
                </a:solidFill>
                <a:latin typeface="Calibri"/>
              </a:rPr>
              <a:t>•  Dots coloured by Position-2 residue; hits labelled Gene (P2P3).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77639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Calibri"/>
              </a:rPr>
              <a:t>Statistical 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315968"/>
            <a:ext cx="4389120" cy="1828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Moderated t-test (Smyth 2004) implemented from scratch.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Per-gene pooled variance s²_g  (d.f.  d_g = 2).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Prior (s₀², d₀) estimated by fitting a scaled F-distribution to s²_g (trigamma-based method of moments).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s̃²_g = (d₀·s₀² + d_g·s²_g) / (d₀ + d_g)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t̃_g = ΔPSI / √[s̃²_g · (1/n₁ + 1/n₂)]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p̃_g from t-distribution with (d_g + d₀) d.f., two-sided.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•  Benjamini-Hochberg FDR:   statsmodels.multitest, method="fdr_bh".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6126480"/>
            <a:ext cx="4389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Calibri"/>
              </a:rPr>
              <a:t>Editable vector (SVG) available in project folder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6017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Methods — Data and statistics (paper-ready, part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04088"/>
            <a:ext cx="1146017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Verbatim text suitable for the Methods section of the paper.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77295" cy="5486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just"/>
            <a:r>
              <a:rPr sz="1200" b="0" i="0">
                <a:solidFill>
                  <a:srgbClr val="1F3A5F"/>
                </a:solidFill>
                <a:latin typeface="Calibri"/>
              </a:rPr>
              <a:t>Dataset.  A library of 16,514 human N-terminal 24-mer peptides was screened in duplicate in HEK293-derived AAVS (control) and UBR3-expressing cells using a GFP:RFP dual-reporter stability assay. For each peptide, the Protein Stability Index (PSI) was taken as the mean log-ratio over the two replicates: PSI_ctrl = (PSI-293a + PSI-293b) / 2 and PSI_UBR3 = (PSI-UBR3a + PSI-UBR3b) / 2.  The per-peptide differential was ΔPSI = PSI_UBR3 − PSI_ctrl, where a positive value indicates UBR3-dependent stabilization. A curated set of 54 top hits (sheet sub_high, column HITubr3 = TRUE) was used wherever the analysis refers to "best hits".</a:t>
            </a:r>
          </a:p>
          <a:p>
            <a:pPr algn="just"/>
            <a:r>
              <a:rPr sz="1200" b="0" i="0">
                <a:solidFill>
                  <a:srgbClr val="1F3A5F"/>
                </a:solidFill>
                <a:latin typeface="Calibri"/>
              </a:rPr>
              <a:t/>
            </a:r>
          </a:p>
          <a:p>
            <a:pPr algn="just"/>
            <a:r>
              <a:rPr sz="1200" b="0" i="0">
                <a:solidFill>
                  <a:srgbClr val="1F3A5F"/>
                </a:solidFill>
                <a:latin typeface="Calibri"/>
              </a:rPr>
              <a:t>Enrichment analyses (Figs 1B, 3, 4).  For each amino acid at each position and for each dipeptide at positions 2–3, enrichment was defined as f_hits / f_library where f is the frequency in the respective subset. Per-residue significance (Fig 1B) was assessed with a two-sided Fisher exact test on the 2×2 contingency table [hit vs non-hit] × [carries AA at position p vs does not] (scipy.stats.fisher_exact). Sequence logos (Fig 4) were built in logomaker 0.8 using the fold-change matrix with stack_order = "big_on_top"; letters with fold-change ≤ 1 were hidden.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11643055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Calibri"/>
              </a:rPr>
              <a:t>UBR3 N-terminal screen  ·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6017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Methods — Statistics (part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04088"/>
            <a:ext cx="1146017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Group comparisons and moderated t-test.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77295" cy="5486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just"/>
            <a:r>
              <a:rPr sz="1200" b="0" i="0">
                <a:solidFill>
                  <a:srgbClr val="1F3A5F"/>
                </a:solidFill>
                <a:latin typeface="Calibri"/>
              </a:rPr>
              <a:t>Comparison of combined dipeptide groups.  Peptides were pooled into two groups: PD+PE+PT and GE+GD. For each group, the PSI_ctrl distribution of Top Hits was compared with the PSI_ctrl distribution of all library peptides carrying the same motif. Because the two groups in each comparison differed markedly in sample size (n_hits ≈ 8–12 vs n_library ≈ 100) and dispersion (SD_library / SD_hits ≈ 1.7), and because the library distribution was non-normal (Shapiro-Wilk p &lt; 0.001), the reported p-values are from the Brunner-Munzel test (scipy.stats.brunnermunzel, alternative="less"), which is the rank analogue of Welch's t-test and does not assume equal variances or equal shape. Effect sizes are Cohen's d with a pooled standard deviation (ddof = 1). The one-tailed Mann-Whitney U test (scipy.stats.mannwhitneyu, alternative="less") is reported as a supplementary reference in the original boxplot figure.</a:t>
            </a:r>
          </a:p>
          <a:p>
            <a:pPr algn="just"/>
            <a:r>
              <a:rPr sz="1200" b="0" i="0">
                <a:solidFill>
                  <a:srgbClr val="1F3A5F"/>
                </a:solidFill>
                <a:latin typeface="Calibri"/>
              </a:rPr>
              <a:t/>
            </a:r>
          </a:p>
          <a:p>
            <a:pPr algn="just"/>
            <a:r>
              <a:rPr sz="1200" b="0" i="0">
                <a:solidFill>
                  <a:srgbClr val="1F3A5F"/>
                </a:solidFill>
                <a:latin typeface="Calibri"/>
              </a:rPr>
              <a:t>Differential stability (volcano plot, Fig 20C).  To improve power given the N=2 replicate design, ΔPSI was analysed with a moderated t-test using the limma-style empirical Bayes variance shrinkage of Smyth (2004). Per-peptide pooled variances s²_g were computed under the equal-variance assumption (d.f. d_g = 2). A scaled F-distribution was fitted to the 16,514 variances by the method of moments on log(s²_g), using the trigamma-inverse estimator, yielding prior hyperparameters s₀² = 0.0133 and d₀ = 9.61. Shrunk variances were computed as s̃²_g = (d₀·s₀² + d_g·s²_g) / (d₀ + d_g). The moderated t-statistic was t̃_g = ΔPSI / √[s̃²_g · (1/n₁ + 1/n₂)] and p-values were obtained from a t-distribution with d_g + d₀ ≈ 11.6 d.f. Multiple-testing correction was performed with the Benjamini-Hochberg procedure (statsmodels.stats.multitest.multipletests, method="fdr_bh"). A peptide was considered significantly regulated when |ΔPSI| ≥ 0.5 and FDR &lt; 0.05. As an orthogonal, non-parametric cross-check, a robust z-score of ΔPSI was computed as (ΔPSI − median) / (1.4826·MAD).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11643055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Calibri"/>
              </a:rPr>
              <a:t>UBR3 N-terminal screen  ·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6017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Raw data — Top Hits with PD, PE or PT at P2-P3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04088"/>
            <a:ext cx="1146017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n_hits = 8     |     n_all_library = 104     |     mean PSI = 1.835 vs 2.490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005840"/>
          <a:ext cx="6858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Gene</a:t>
                      </a:r>
                    </a:p>
                  </a:txBody>
                  <a:tcPr marL="45720" marR="45720" marT="27432" marB="2743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Dipeptide</a:t>
                      </a:r>
                    </a:p>
                  </a:txBody>
                  <a:tcPr marL="45720" marR="45720" marT="27432" marB="2743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PSI-293a</a:t>
                      </a:r>
                    </a:p>
                  </a:txBody>
                  <a:tcPr marL="45720" marR="45720" marT="27432" marB="2743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PSI-293b</a:t>
                      </a:r>
                    </a:p>
                  </a:txBody>
                  <a:tcPr marL="45720" marR="45720" marT="27432" marB="2743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PSI_AAVS</a:t>
                      </a:r>
                    </a:p>
                  </a:txBody>
                  <a:tcPr marL="45720" marR="45720" marT="27432" marB="27432">
                    <a:solidFill>
                      <a:srgbClr val="1F3A5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latin typeface="Calibri"/>
                        </a:rPr>
                        <a:t>UNC13B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PD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1.4356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1.5907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1.5132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latin typeface="Calibri"/>
                        </a:rPr>
                        <a:t>PGBD5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PD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2.3598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2.4766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2.4182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latin typeface="Calibri"/>
                        </a:rPr>
                        <a:t>UVRAG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PD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1.5629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1.3280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1.4454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latin typeface="Calibri"/>
                        </a:rPr>
                        <a:t>ERMAP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PE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1.7786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1.8865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1.8326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latin typeface="Calibri"/>
                        </a:rPr>
                        <a:t>FARSB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PT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1.7000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1.7056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1.7028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latin typeface="Calibri"/>
                        </a:rPr>
                        <a:t>B3GNTL1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PT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1.3689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1.4457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1.4073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latin typeface="Calibri"/>
                        </a:rPr>
                        <a:t>ZNF496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PT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2.0584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1.9931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2.0258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latin typeface="Calibri"/>
                        </a:rPr>
                        <a:t>INTS14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PT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2.4953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2.1736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Calibri"/>
                        </a:rPr>
                        <a:t>2.3345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89520" y="1005840"/>
            <a:ext cx="4389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Calibri"/>
              </a:rPr>
              <a:t>Summary statistics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417320"/>
            <a:ext cx="4389120" cy="45720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n hits       = 8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mean PSI   = 1.8350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SD PSI      = 0.3931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median      = 1.7677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Q1, Q3       = 1.496, 2.103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vs all-library PSI  (n = 104):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   mean       = 2.4900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   SD          = 0.7907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mean diff      = −0.655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Cohen's d     =  1.05  (large)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Brunner-Munzel  p = 0.0017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37960"/>
            <a:ext cx="11643055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Calibri"/>
              </a:rPr>
              <a:t>UBR3 N-terminal screen  ·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6017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Raw data — Top Hits with GE or GD at P2-P3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04088"/>
            <a:ext cx="1146017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n_hits = 12     |     n_all_library = 109     |     mean PSI = 2.562 vs 2.836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005840"/>
          <a:ext cx="68580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40796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Gene</a:t>
                      </a:r>
                    </a:p>
                  </a:txBody>
                  <a:tcPr marL="45720" marR="45720" marT="27432" marB="2743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Dipeptide</a:t>
                      </a:r>
                    </a:p>
                  </a:txBody>
                  <a:tcPr marL="45720" marR="45720" marT="27432" marB="2743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PSI-293a</a:t>
                      </a:r>
                    </a:p>
                  </a:txBody>
                  <a:tcPr marL="45720" marR="45720" marT="27432" marB="2743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PSI-293b</a:t>
                      </a:r>
                    </a:p>
                  </a:txBody>
                  <a:tcPr marL="45720" marR="45720" marT="27432" marB="2743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PSI_AAVS</a:t>
                      </a:r>
                    </a:p>
                  </a:txBody>
                  <a:tcPr marL="45720" marR="45720" marT="27432" marB="27432">
                    <a:solidFill>
                      <a:srgbClr val="1F3A5F"/>
                    </a:solidFill>
                  </a:tcPr>
                </a:tc>
              </a:tr>
              <a:tr h="40796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latin typeface="Calibri"/>
                        </a:rPr>
                        <a:t>FARP1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GE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2.4875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2.6695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2.5785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0796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latin typeface="Calibri"/>
                        </a:rPr>
                        <a:t>C17orf51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GE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2.0616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2.0534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2.0575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0796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latin typeface="Calibri"/>
                        </a:rPr>
                        <a:t>FBXO24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GE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1.9973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2.1763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2.0868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0796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latin typeface="Calibri"/>
                        </a:rPr>
                        <a:t>FARP2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GE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2.4798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2.4433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2.4616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0796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latin typeface="Calibri"/>
                        </a:rPr>
                        <a:t>KIAA1211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GE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2.2567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2.2608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2.2587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0796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latin typeface="Calibri"/>
                        </a:rPr>
                        <a:t>LPIN1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GE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2.8316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2.7794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2.8055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0796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latin typeface="Calibri"/>
                        </a:rPr>
                        <a:t>MYLK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GD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2.7720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2.5882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2.6801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0796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latin typeface="Calibri"/>
                        </a:rPr>
                        <a:t>LTBP4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GD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2.1862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2.1254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2.1558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0796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latin typeface="Calibri"/>
                        </a:rPr>
                        <a:t>SLC25A4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GD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2.3997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2.4494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2.4246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0796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latin typeface="Calibri"/>
                        </a:rPr>
                        <a:t>ATF7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GD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2.9843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2.8472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2.9158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0796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latin typeface="Calibri"/>
                        </a:rPr>
                        <a:t>SLC7A9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GD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3.1908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3.3571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3.2740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079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latin typeface="Calibri"/>
                        </a:rPr>
                        <a:t>THEG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GD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3.2440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2.8405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3.0423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89520" y="1005840"/>
            <a:ext cx="4389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Calibri"/>
              </a:rPr>
              <a:t>Summary statistics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417320"/>
            <a:ext cx="4389120" cy="45720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n hits       = 12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mean PSI   = 2.5618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SD PSI      = 0.3934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median      = 2.5200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Q1, Q3       = 2.233, 2.833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vs all-library PSI  (n = 109):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   mean       = 2.8364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   SD          = 0.6937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mean diff      = −0.275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Cohen's d     =  0.49  (small)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Brunner-Munzel  p = 0.0086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37960"/>
            <a:ext cx="11643055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Calibri"/>
              </a:rPr>
              <a:t>UBR3 N-terminal screen  ·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6017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Software and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C0392B"/>
                </a:solidFill>
                <a:latin typeface="Calibri"/>
              </a:rPr>
              <a:t>Python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486400" cy="27432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Python 3.13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numpy 2.4, pandas 2.3, scipy 1.17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matplotlib 3.10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logomaker 0.8         (Tareen &amp; Kinney 2019)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statsmodels 0.14      (BH FDR correction)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adjustText 1.3         (non-overlapping labels)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python-docx 1.2, python-pptx 1.0, PyMuPDF 1.27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3A5F"/>
                </a:solidFill>
                <a:latin typeface="Calibri"/>
              </a:rPr>
              <a:t>·  openpyxl / xlsxwriter (Excel I/O)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C0392B"/>
                </a:solidFill>
                <a:latin typeface="Calibri"/>
              </a:rPr>
              <a:t>Key statistical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80560"/>
            <a:ext cx="5486400" cy="21031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·  Smyth GK. Linear models and empirical Bayes methods for assessing differential expression in microarray experiments. Stat Appl Genet Mol Biol. 2004;3:Article 3.</a:t>
            </a:r>
          </a:p>
          <a:p>
            <a:pPr algn="l">
              <a:lnSpc>
                <a:spcPct val="125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·  Brunner E, Munzel U. The nonparametric Behrens-Fisher problem: Asymptotic theory and a small-sample approximation. Biom J. 2000;42:17-25.</a:t>
            </a:r>
          </a:p>
          <a:p>
            <a:pPr algn="l">
              <a:lnSpc>
                <a:spcPct val="125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·  Benjamini Y, Hochberg Y. Controlling the false discovery rate: A practical and powerful approach to multiple testing. J R Stat Soc B. 1995;57:289-300.</a:t>
            </a:r>
          </a:p>
          <a:p>
            <a:pPr algn="l">
              <a:lnSpc>
                <a:spcPct val="125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·  Tareen A, Kinney JB. Logomaker: beautiful sequence logos in Python. Bioinformatics. 2020;36:2272-2274.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9144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C0392B"/>
                </a:solidFill>
                <a:latin typeface="Calibri"/>
              </a:rPr>
              <a:t>Files produced by this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5486400" cy="3657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·  figures/fig1b_enrichment_heatmap.{png|pdf|svg}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·  figures/fig3_dipeptide_enrichment_bars.{png|pdf|svg}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·  figures/fig4_logo_pos2_pos3_besthits.{png|pdf|svg}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·  dipeptide_analysis/Fig_Combined_only_boxplot.{png|pdf|svg}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·  dipeptide_analysis/Fig_Combined_only_cohen_d.{png|pdf|svg}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·  figures/fig20c_volcano_moderated_t.{png|pdf|svg}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·  figures/volcano_moderated_t_results.xlsx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·  dipeptide_analysis/RAW_DATA_for_verification.xlsx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·  dipeptide_analysis/Statistical_reanalysis_report.docx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846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C0392B"/>
                </a:solidFill>
                <a:latin typeface="Calibri"/>
              </a:rPr>
              <a:t>Source scripts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212080"/>
            <a:ext cx="5486400" cy="1371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·  ubr3enrichmentlogo/peptide_analysis.py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·  ubr3paper/dipeptide_boxplot_analysis.py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·  ubr3paper/volcano_moderated_t.py</a:t>
            </a:r>
          </a:p>
          <a:p>
            <a:pPr algn="l">
              <a:lnSpc>
                <a:spcPct val="120000"/>
              </a:lnSpc>
            </a:pPr>
            <a:r>
              <a:rPr sz="1050">
                <a:solidFill>
                  <a:srgbClr val="1F3A5F"/>
                </a:solidFill>
                <a:latin typeface="Calibri"/>
              </a:rPr>
              <a:t>·  ubr3paper/build_paper_pptx.py    (this deck)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537960"/>
            <a:ext cx="11643055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Calibri"/>
              </a:rPr>
              <a:t>UBR3 N-terminal screen  ·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82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728655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End of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8655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 i="1">
                <a:solidFill>
                  <a:srgbClr val="ECF0F1"/>
                </a:solidFill>
                <a:latin typeface="Calibri"/>
              </a:rPr>
              <a:t>All figures, raw data, and source scripts are kept in the project repository alongside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