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355E"/>
                </a:solidFill>
              </a:rPr>
              <a:t>UBR3 Co-Immunoprecipitation Mass Spectrometry</a:t>
            </a:r>
          </a:p>
          <a:p>
            <a:r>
              <a:rPr sz="1800">
                <a:solidFill>
                  <a:srgbClr val="222222"/>
                </a:solidFill>
              </a:rPr>
              <a:t>Interactome analysis: enriched interactors, functional enrichment, network, and RING-dependence</a:t>
            </a:r>
          </a:p>
          <a:p>
            <a:pPr>
              <a:spcBef>
                <a:spcPts val="1600"/>
              </a:spcBef>
            </a:pPr>
            <a:r>
              <a:rPr sz="1300">
                <a:solidFill>
                  <a:srgbClr val="666666"/>
                </a:solidFill>
              </a:rPr>
              <a:t>Samples (3 biological replicates each):  293T = negative control · WT = UBR3 wild-type · UBR3 = RING-domain mutant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55E"/>
                </a:solidFill>
              </a:rPr>
              <a:t>Experimental design &amp; analysis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Experiment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Co-IP of UBR3 wild-type (WT), a UBR3 RING-domain mutant (labelled "UBR3"), and 293T cells (control), 3 replicates each.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Bait UBR3 is the top hit in both pulldowns (log2 fold change ≈ 17) — confirms the pulldown worked.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Mass spectrometry / quantification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MaxQuant proteinGroups with label-free quantification (LFQ); 2,332 protein groups; no contaminants or reverse hits present.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Peptide/protein FDR filtered to 1% (standard MaxQuant).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Interactor definition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A protein is a specific interactor if enriched over the 293T control: adjusted P &lt; 0.05 and log2 fold change ≥ 1 (2-fold).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UBR3-WT: 50 interactors · RING mutant: 38 interactors · union: 82 (6 shared).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Downstream analyses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Functional enrichment (GO, DAVID/Enrichr) · STRING protein network · WT-vs-RING differential · abundance heatmaps · N-degron · sample QC.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55E"/>
                </a:solidFill>
              </a:rPr>
              <a:t>UBR3-WT interactome — volcano plot</a:t>
            </a:r>
          </a:p>
        </p:txBody>
      </p:sp>
      <p:pic>
        <p:nvPicPr>
          <p:cNvPr id="3" name="Picture 2" descr="volcano_WT_vs_293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1051560"/>
            <a:ext cx="5646420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051560"/>
            <a:ext cx="4892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Method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Each protein: LFQ intensity in the UBR3-WT pulldown vs 293T control (n = 3 per group), log2-transformed.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x = log2 fold change (bait/control); y = −log10(P value). Right side = enriched in the pulldown.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Orange = 50 enriched interactors (labelled). Filled grey = other significant; open grey = not significant.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Statistics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Two-sided Student’s t-test per protein.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Multiple testing corrected with the Benjamini-Hochberg FDR (adjusted P).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Significance thresholds (dashed lines): adjusted P &lt; 0.05 AND |log2 FC| ≥ 1.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Same test and thresholds as the reference paper (Welch/Student t-test + BH-FDR).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55E"/>
                </a:solidFill>
              </a:rPr>
              <a:t>UBR3-RING mutant interactome — volcano plot</a:t>
            </a:r>
          </a:p>
        </p:txBody>
      </p:sp>
      <p:pic>
        <p:nvPicPr>
          <p:cNvPr id="3" name="Picture 2" descr="volcano_RING_vs_293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1051560"/>
            <a:ext cx="5646420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051560"/>
            <a:ext cx="4892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Method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LFQ intensity in the RING-mutant pulldown vs 293T control (n = 3 per group), log2-transformed.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Orange = 38 enriched interactors; grey as in the WT volcano.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Statistics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Two-sided t-test with Benjamini-Hochberg FDR.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Significant interactor: adjusted P &lt; 0.05 AND |log2 FC| ≥ 1.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Fewer interactors than WT, consistent with reduced binding by the catalytically-impaired mutant.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55E"/>
                </a:solidFill>
              </a:rPr>
              <a:t>GO enrichment of the interactors</a:t>
            </a:r>
          </a:p>
        </p:txBody>
      </p:sp>
      <p:pic>
        <p:nvPicPr>
          <p:cNvPr id="3" name="Picture 2" descr="GO_ba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45" y="1051560"/>
            <a:ext cx="5733908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051560"/>
            <a:ext cx="4892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Method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Gene Ontology over-representation of the 82 union interactor genes.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Terms grouped by category: Biological Process, Molecular Function, Cellular Component (top 7 each).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Bar length = −log10(P value); numbers at bars = interactor genes in the term.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Statistics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Tool: g:Profiler (g:GOSt), organism Homo sapiens, whole-genome background.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Multiple-testing correction: g:SCS method (threshold 0.05) — g:Profiler’s tailored analogue of FDR.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Enrichment test = one-sided over-representation (hypergeometric).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Interpretation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Nuclear / chromatin, DNA &amp; nucleic-acid binding, DNA-damage response, cell cycle/mitotic.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55E"/>
                </a:solidFill>
              </a:rPr>
              <a:t>Functional annotation (DAVID-style)</a:t>
            </a:r>
          </a:p>
        </p:txBody>
      </p:sp>
      <p:pic>
        <p:nvPicPr>
          <p:cNvPr id="3" name="Picture 2" descr="DAVID_functional_ann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01" y="1051560"/>
            <a:ext cx="5621997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051560"/>
            <a:ext cx="4892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Method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Functional annotation of the 82 interactors across GO BP/MF/CC, KEGG and Reactome.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Bars = −log10(adjusted P); coloured by source database; numbers = genes per term.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Statistics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Enrichment test: Fisher’s exact test (over-representation).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Correction: Benjamini-Hochberg adjusted p ≤ 0.10.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Run with Enrichr, which queries the same GO/KEGG/Reactome libraries DAVID uses.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Note on DAVID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The DAVID web API requires a registered email; ready-to-paste gene lists + steps are in the workbook (DAVID_howto).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55E"/>
                </a:solidFill>
              </a:rPr>
              <a:t>STRING protein-protein interaction network</a:t>
            </a:r>
          </a:p>
        </p:txBody>
      </p:sp>
      <p:pic>
        <p:nvPicPr>
          <p:cNvPr id="3" name="Picture 2" descr="STRING_network_clus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03019"/>
            <a:ext cx="653796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051560"/>
            <a:ext cx="4892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Method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The 82 interactors mapped to STRING (Homo sapiens); edges = interactions at confidence ≥ 0.4.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Node colour = functional module (greedy-modularity clustering); node size = number of connections.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Red ring = bait UBR3.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Statistics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PPI-enrichment test (STRING): observed 110 edges vs 54 expected for a random protein set of equal size.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PPI-enrichment p = 1.3 × 10⁻¹¹ → the interactors are far more interconnected than random (a real complex, not noise).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UBR3 has no prior STRING edges → the interactors are largely novel.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Modules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Histone/chromatin hub · DNA-repair/replication · mRNA-silencing (TNRC6B/C, GIGYF2).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55E"/>
                </a:solidFill>
              </a:rPr>
              <a:t>WT vs RING mutant — differential (substrate trapping)</a:t>
            </a:r>
          </a:p>
        </p:txBody>
      </p:sp>
      <p:pic>
        <p:nvPicPr>
          <p:cNvPr id="3" name="Picture 2" descr="WTvsRING_volc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17811"/>
            <a:ext cx="6537960" cy="4999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051560"/>
            <a:ext cx="4892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Method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Direct comparison of interactor abundance in the RING mutant vs WT pulldown, to test RING-dependence.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Right (positive) = higher in the RING mutant → candidate trapped substrates (accumulate when the ligase is catalytically dead).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Left (negative) = higher in WT → RING-dependent binding (reduced in the mutant).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Statistics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Two-sample t-test, RING vs WT.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Classification by log2 difference: &gt; +1 = RING-preferring (31) · &lt; −1 = WT-preferring (45) · else shared/RING-independent (6).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Caveat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Differences may also reflect construct expression / pulldown efficiency — candidate substrates need orthogonal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55E"/>
                </a:solidFill>
              </a:rPr>
              <a:t>WT vs RING interactor overlap</a:t>
            </a:r>
          </a:p>
        </p:txBody>
      </p:sp>
      <p:pic>
        <p:nvPicPr>
          <p:cNvPr id="3" name="Picture 2" descr="WTvsRING_ve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6537960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051560"/>
            <a:ext cx="4892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Method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Overlap of the significant enriched-interactor sets from the two pulldowns.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UBR3-WT = 50 · RING mutant = 38 · shared = 6.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Statistics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Sets defined identically (adjusted P &lt; 0.05 &amp; |log2 FC| ≥ 1 vs 293T).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Limited overlap → the intact vs catalytically-dead ligase engage largely distinct partners.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55E"/>
                </a:solidFill>
              </a:rPr>
              <a:t>Interactor abundance heatmap (clustered)</a:t>
            </a:r>
          </a:p>
        </p:txBody>
      </p:sp>
      <p:pic>
        <p:nvPicPr>
          <p:cNvPr id="3" name="Picture 2" descr="interacto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730" y="1051560"/>
            <a:ext cx="3279140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051560"/>
            <a:ext cx="4892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Method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Log2 LFQ intensity of the 82 interactors across all 9 samples (3 × 293T, WT, RING).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Rows clustered by similarity so co-behaving proteins group together.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Statistics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Row z-score: each protein’s values standardised (mean 0, sd 1) across samples; colour = z-score (red high, blue low).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Clustering: Ward linkage on Euclidean distance of the z-scored rows.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55E"/>
                </a:solidFill>
              </a:rPr>
              <a:t>Interactor heatmap organised by cellular role</a:t>
            </a:r>
          </a:p>
        </p:txBody>
      </p:sp>
      <p:pic>
        <p:nvPicPr>
          <p:cNvPr id="3" name="Picture 2" descr="interactor_heatmap_by_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24" y="1051560"/>
            <a:ext cx="4686351" cy="5532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051560"/>
            <a:ext cx="4892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Method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Same data, but rows grouped into 12 curated cellular-role categories (colour strip at left) instead of clustering.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Within each role, sorted by WT enrichment.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Statistics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Row z-score of log2 LFQ (as above).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Roles assigned from each protein’s known function, informed by the GO/enrichment results.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Key result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WT-preferring roles = chromatin / transcription / mRNA silencing; RING-preferring = DNA repair / cell cycle / RNA processing.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55E"/>
                </a:solidFill>
              </a:rPr>
              <a:t>Sample quality control — PCA &amp; correlation</a:t>
            </a:r>
          </a:p>
        </p:txBody>
      </p:sp>
      <p:pic>
        <p:nvPicPr>
          <p:cNvPr id="3" name="Picture 2" descr="sample_QC_PCA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303818"/>
            <a:ext cx="6537960" cy="3027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051560"/>
            <a:ext cx="4892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Method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Left: principal-component analysis of the 9 samples. Right: pairwise Pearson correlation of samples.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Based on log2 LFQ of proteins detected in ≥ 6 samples.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Statistics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PCA on standardised log2 LFQ; percentages = variance explained by PC1/PC2.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Correlation = Pearson r between samples.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Interpretation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Replicates group loosely by condition; UBR3-WT is the most variable, so borderline WT-only hits are noisier (the t-test already accounts for variance).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55E"/>
                </a:solidFill>
              </a:rPr>
              <a:t>N-degron analysis — N-terminal sequence logo (from residue 2)</a:t>
            </a:r>
          </a:p>
        </p:txBody>
      </p:sp>
      <p:pic>
        <p:nvPicPr>
          <p:cNvPr id="3" name="Picture 2" descr="Ndegro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30701"/>
            <a:ext cx="6537960" cy="33738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40880" y="1051560"/>
            <a:ext cx="4892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Method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Sequence logo of the 6 N-terminal residues starting at position 2 (initiator Met removed) for the 82 interactors.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Letter height = probability (relative frequency of each amino acid at that position).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Position 2 = the residue immediately after the initiator Met.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Statistics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No conserved motif: position 2 is a mix (A most common, then S, E, V, D…); information content &lt; 0.5 bits at every position.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UBR3 is a UBR-box E3 (N-recognin family) that recognises destabilising N-termini (type-1 basic R/K/H; type-2 bulky F/W/Y/L/I) — none of which dominate here.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Caveat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Position 2 is only the true N-terminus if the initiator Met is co-translationally removed — which happens ONLY when position 2 is a small residue (A/C/G/P/S/T/V), and those are all stabilising. Bulky/charged residues at position 2 (E, D, F…) retain the Met, so they are not actually N-terminal → no genuine Arg/N-degron signal.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55E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Interactors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50 UBR3-WT and 38 RING-mutant specific interactors (union 82); bait UBR3 top hit (QC passed).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Function (GO / DAVID / STRING)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Coherent nuclear-chromatin &amp; DNA-damage / cell-cycle interactome; PPI-enrichment p = 1.3e-11 (not random).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Modules: histones/chromatin remodelling, DNA repair/replication, mRNA silencing.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RING-dependence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45 WT-preferring (RING-dependent binding), 31 RING-preferring (candidate trapped substrates), 6 shared.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WT- vs RING-preferring partners map to distinct cellular roles.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Statistics used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Interactors: two-sided t-test + Benjamini-Hochberg FDR (adj P&lt;0.05, |log2FC|≥1).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Enrichment: g:Profiler g:SCS (GO) and Fisher + BH (DAVID/Enrichr). Network: STRING PPI-enrichment.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N-degron: Fisher’s exact test. n = 3 biological replicates per condition.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b="1" sz="1400">
                <a:solidFill>
                  <a:srgbClr val="C1440E"/>
                </a:solidFill>
              </a:rPr>
              <a:t>Caveats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</a:rPr>
              <a:t>• Candidate trapped substrates need orthogonal validation; UBR3-WT replicates are the most variable; DAVID run via Enrichr equivalent.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