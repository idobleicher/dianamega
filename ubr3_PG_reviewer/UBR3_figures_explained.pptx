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822960" y="1874519"/>
            <a:ext cx="146304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463040"/>
          </a:xfrm>
          <a:prstGeom prst="rect">
            <a:avLst/>
          </a:prstGeom>
          <a:noFill/>
        </p:spPr>
        <p:txBody>
          <a:bodyPr wrap="square" anchor="t" lIns="0" rIns="0" tIns="0" bIns="0">
            <a:spAutoFit/>
          </a:bodyPr>
          <a:lstStyle/>
          <a:p>
            <a:pPr algn="l">
              <a:spcBef>
                <a:spcPts val="0"/>
              </a:spcBef>
              <a:spcAft>
                <a:spcPts val="600"/>
              </a:spcAft>
            </a:pPr>
            <a:r>
              <a:rPr sz="3000" b="1" i="0">
                <a:solidFill>
                  <a:srgbClr val="0B0B0B"/>
                </a:solidFill>
                <a:latin typeface="Segoe UI"/>
              </a:rPr>
              <a:t>UBR3 N24mer screen</a:t>
            </a:r>
          </a:p>
          <a:p>
            <a:pPr algn="l">
              <a:spcBef>
                <a:spcPts val="0"/>
              </a:spcBef>
              <a:spcAft>
                <a:spcPts val="0"/>
              </a:spcAft>
            </a:pPr>
            <a:r>
              <a:rPr sz="3000" b="1" i="0">
                <a:solidFill>
                  <a:srgbClr val="2A78D6"/>
                </a:solidFill>
                <a:latin typeface="Segoe UI"/>
              </a:rPr>
              <a:t>Pro/Gly N-termini and the [P/G]-[E/D] motif</a:t>
            </a:r>
          </a:p>
        </p:txBody>
      </p:sp>
      <p:sp>
        <p:nvSpPr>
          <p:cNvPr id="4" name="TextBox 3"/>
          <p:cNvSpPr txBox="1"/>
          <p:nvPr/>
        </p:nvSpPr>
        <p:spPr>
          <a:xfrm>
            <a:off x="822960" y="3749039"/>
            <a:ext cx="9509760" cy="1828800"/>
          </a:xfrm>
          <a:prstGeom prst="rect">
            <a:avLst/>
          </a:prstGeom>
          <a:noFill/>
        </p:spPr>
        <p:txBody>
          <a:bodyPr wrap="square" anchor="t" lIns="0" rIns="0" tIns="0" bIns="0">
            <a:spAutoFit/>
          </a:bodyPr>
          <a:lstStyle/>
          <a:p>
            <a:pPr algn="l">
              <a:spcBef>
                <a:spcPts val="0"/>
              </a:spcBef>
              <a:spcAft>
                <a:spcPts val="1000"/>
              </a:spcAft>
            </a:pPr>
            <a:r>
              <a:rPr sz="1400" b="0" i="0">
                <a:solidFill>
                  <a:srgbClr val="52514E"/>
                </a:solidFill>
                <a:latin typeface="Segoe UI"/>
              </a:rPr>
              <a:t>Every panel on its own slide, with a detailed explanation of what is plotted, how it was computed, what it shows, and what to watch out for.</a:t>
            </a:r>
          </a:p>
          <a:p>
            <a:pPr algn="l">
              <a:spcBef>
                <a:spcPts val="0"/>
              </a:spcBef>
              <a:spcAft>
                <a:spcPts val="400"/>
              </a:spcAft>
            </a:pPr>
            <a:r>
              <a:rPr sz="1100" b="0" i="0">
                <a:solidFill>
                  <a:srgbClr val="898781"/>
                </a:solidFill>
                <a:latin typeface="Segoe UI"/>
              </a:rPr>
              <a:t>34 panels in 9 groups  ·  Source: Supplemental Data 1.xlsx  ·  Companion workbook: UBR3_PG_substrate_tables.xlsx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Definitions and methods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ASSAY</a:t>
            </a:r>
          </a:p>
          <a:p>
            <a:pPr algn="l">
              <a:spcBef>
                <a:spcPts val="0"/>
              </a:spcBef>
              <a:spcAft>
                <a:spcPts val="0"/>
              </a:spcAft>
            </a:pPr>
            <a:r>
              <a:rPr sz="980" b="0" i="0">
                <a:solidFill>
                  <a:srgbClr val="52514E"/>
                </a:solidFill>
                <a:latin typeface="Segoe UI"/>
              </a:rPr>
              <a:t>GPS (Global Protein Stability). Each of 16,514 human N-terminal 24-mers is fused to a fluorescent reporter, cells are FACS-sorted into 4 stability bins, and the bin distribution of each peptide is read out by Illumina sequencing.</a:t>
            </a:r>
          </a:p>
          <a:p>
            <a:pPr algn="l">
              <a:spcBef>
                <a:spcPts val="900"/>
              </a:spcBef>
              <a:spcAft>
                <a:spcPts val="200"/>
              </a:spcAft>
            </a:pPr>
            <a:r>
              <a:rPr sz="900" b="1" i="0">
                <a:solidFill>
                  <a:srgbClr val="2A78D6"/>
                </a:solidFill>
                <a:latin typeface="Segoe UI"/>
              </a:rPr>
              <a:t>PSI</a:t>
            </a:r>
          </a:p>
          <a:p>
            <a:pPr algn="l">
              <a:spcBef>
                <a:spcPts val="0"/>
              </a:spcBef>
              <a:spcAft>
                <a:spcPts val="0"/>
              </a:spcAft>
            </a:pPr>
            <a:r>
              <a:rPr sz="980" b="0" i="0">
                <a:solidFill>
                  <a:srgbClr val="52514E"/>
                </a:solidFill>
                <a:latin typeface="Segoe UI"/>
              </a:rPr>
              <a:t>Protein Stability Index - the read-weighted mean bin, running ~1 to 4. Higher = more stable. "Control PSI" is the mean of the two control-KO replicates.</a:t>
            </a:r>
          </a:p>
          <a:p>
            <a:pPr algn="l">
              <a:spcBef>
                <a:spcPts val="900"/>
              </a:spcBef>
              <a:spcAft>
                <a:spcPts val="200"/>
              </a:spcAft>
            </a:pPr>
            <a:r>
              <a:rPr sz="900" b="1" i="0">
                <a:solidFill>
                  <a:srgbClr val="2A78D6"/>
                </a:solidFill>
                <a:latin typeface="Segoe UI"/>
              </a:rPr>
              <a:t>ΔPSI</a:t>
            </a:r>
          </a:p>
          <a:p>
            <a:pPr algn="l">
              <a:spcBef>
                <a:spcPts val="0"/>
              </a:spcBef>
              <a:spcAft>
                <a:spcPts val="0"/>
              </a:spcAft>
            </a:pPr>
            <a:r>
              <a:rPr sz="980" b="0" i="0">
                <a:solidFill>
                  <a:srgbClr val="52514E"/>
                </a:solidFill>
                <a:latin typeface="Segoe UI"/>
              </a:rPr>
              <a:t>PSI(UBR3 KO) minus PSI(control KO). Positive means the peptide becomes more stable when UBR3 is lost, i.e. UBR3 normally destabilises it. Two independent replicates.</a:t>
            </a:r>
          </a:p>
          <a:p>
            <a:pPr algn="l">
              <a:spcBef>
                <a:spcPts val="900"/>
              </a:spcBef>
              <a:spcAft>
                <a:spcPts val="200"/>
              </a:spcAft>
            </a:pPr>
            <a:r>
              <a:rPr sz="900" b="1" i="0">
                <a:solidFill>
                  <a:srgbClr val="2A78D6"/>
                </a:solidFill>
                <a:latin typeface="Segoe UI"/>
              </a:rPr>
              <a:t>THE SUBSTRATE SET</a:t>
            </a:r>
          </a:p>
          <a:p>
            <a:pPr algn="l">
              <a:spcBef>
                <a:spcPts val="0"/>
              </a:spcBef>
              <a:spcAft>
                <a:spcPts val="0"/>
              </a:spcAft>
            </a:pPr>
            <a:r>
              <a:rPr sz="980" b="0" i="0">
                <a:solidFill>
                  <a:srgbClr val="52514E"/>
                </a:solidFill>
                <a:latin typeface="Segoe UI"/>
              </a:rPr>
              <a:t>The 54 peptides in sheet (B) of Supplemental Data 1 are the candidate UBR3 substrates, used verbatim everywhere in this deck. Any library peptide not among those 54 is treated as not stabilised.</a:t>
            </a:r>
          </a:p>
          <a:p>
            <a:pPr algn="l">
              <a:spcBef>
                <a:spcPts val="900"/>
              </a:spcBef>
              <a:spcAft>
                <a:spcPts val="200"/>
              </a:spcAft>
            </a:pPr>
            <a:r>
              <a:rPr sz="900" b="1" i="0">
                <a:solidFill>
                  <a:srgbClr val="2A78D6"/>
                </a:solidFill>
                <a:latin typeface="Segoe UI"/>
              </a:rPr>
              <a:t>INITIATOR-MET EXCISION</a:t>
            </a:r>
          </a:p>
          <a:p>
            <a:pPr algn="l">
              <a:spcBef>
                <a:spcPts val="0"/>
              </a:spcBef>
              <a:spcAft>
                <a:spcPts val="0"/>
              </a:spcAft>
            </a:pPr>
            <a:r>
              <a:rPr sz="980" b="0" i="0">
                <a:solidFill>
                  <a:srgbClr val="52514E"/>
                </a:solidFill>
                <a:latin typeface="Segoe UI"/>
              </a:rPr>
              <a:t>Position 1 is Met in 100% of the library. MetAP removes it when position 2 has a small side chain (A, C, G, P, S, T, V), so position 2 becomes the residue actually exposed at the N-terminus. Excision at Met-Pro is less efficient than at Met-Gly, so the call is a prediction for Pro-starting peptides.</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MOTIF UNDER TEST</a:t>
            </a:r>
          </a:p>
          <a:p>
            <a:pPr algn="l">
              <a:spcBef>
                <a:spcPts val="0"/>
              </a:spcBef>
              <a:spcAft>
                <a:spcPts val="0"/>
              </a:spcAft>
            </a:pPr>
            <a:r>
              <a:rPr sz="980" b="0" i="0">
                <a:solidFill>
                  <a:srgbClr val="52514E"/>
                </a:solidFill>
                <a:latin typeface="Segoe UI"/>
              </a:rPr>
              <a:t>[P/G]-[E/D] means Pro or Gly at position 2 AND Asp or Glu at position 3 - a Pro/Gly-initiated N-terminus immediately followed by an acidic residue. "[P/G]-other" carries Pro/Gly without the acidic residue; "non-P/G" is everything else.</a:t>
            </a:r>
          </a:p>
          <a:p>
            <a:pPr algn="l">
              <a:spcBef>
                <a:spcPts val="900"/>
              </a:spcBef>
              <a:spcAft>
                <a:spcPts val="200"/>
              </a:spcAft>
            </a:pPr>
            <a:r>
              <a:rPr sz="900" b="1" i="0">
                <a:solidFill>
                  <a:srgbClr val="2A78D6"/>
                </a:solidFill>
                <a:latin typeface="Segoe UI"/>
              </a:rPr>
              <a:t>BASELINE STRATA</a:t>
            </a:r>
          </a:p>
          <a:p>
            <a:pPr algn="l">
              <a:spcBef>
                <a:spcPts val="0"/>
              </a:spcBef>
              <a:spcAft>
                <a:spcPts val="0"/>
              </a:spcAft>
            </a:pPr>
            <a:r>
              <a:rPr sz="980" b="0" i="0">
                <a:solidFill>
                  <a:srgbClr val="52514E"/>
                </a:solidFill>
                <a:latin typeface="Segoe UI"/>
              </a:rPr>
              <a:t>Control PSI &lt; 2.6 = unstable at baseline (8,112 peptides); &gt;= 2.6 = already stable (8,402). The cut is the antimode of the control-PSI density, not a round number. A sweep across cutoffs from 2.0 to 3.4 (workbook sheet 18) shows nothing depends on this choice.</a:t>
            </a:r>
          </a:p>
          <a:p>
            <a:pPr algn="l">
              <a:spcBef>
                <a:spcPts val="900"/>
              </a:spcBef>
              <a:spcAft>
                <a:spcPts val="200"/>
              </a:spcAft>
            </a:pPr>
            <a:r>
              <a:rPr sz="900" b="1" i="0">
                <a:solidFill>
                  <a:srgbClr val="2A78D6"/>
                </a:solidFill>
                <a:latin typeface="Segoe UI"/>
              </a:rPr>
              <a:t>AMINO-ACID CLASSES</a:t>
            </a:r>
          </a:p>
          <a:p>
            <a:pPr algn="l">
              <a:spcBef>
                <a:spcPts val="0"/>
              </a:spcBef>
              <a:spcAft>
                <a:spcPts val="0"/>
              </a:spcAft>
            </a:pPr>
            <a:r>
              <a:rPr sz="980" b="0" i="0">
                <a:solidFill>
                  <a:srgbClr val="52514E"/>
                </a:solidFill>
                <a:latin typeface="Segoe UI"/>
              </a:rPr>
              <a:t>Acidic D,E | Basic K,R,H | Polar S,T,N,Q,C | Hydrophobic A,V,L,I,M | Aromatic F,W,Y | Special G,P.</a:t>
            </a:r>
          </a:p>
          <a:p>
            <a:pPr algn="l">
              <a:spcBef>
                <a:spcPts val="900"/>
              </a:spcBef>
              <a:spcAft>
                <a:spcPts val="200"/>
              </a:spcAft>
            </a:pPr>
            <a:r>
              <a:rPr sz="900" b="1" i="0">
                <a:solidFill>
                  <a:srgbClr val="2A78D6"/>
                </a:solidFill>
                <a:latin typeface="Segoe UI"/>
              </a:rPr>
              <a:t>STATISTICS</a:t>
            </a:r>
          </a:p>
          <a:p>
            <a:pPr algn="l">
              <a:spcBef>
                <a:spcPts val="0"/>
              </a:spcBef>
              <a:spcAft>
                <a:spcPts val="0"/>
              </a:spcAft>
            </a:pPr>
            <a:r>
              <a:rPr sz="980" b="0" i="0">
                <a:solidFill>
                  <a:srgbClr val="52514E"/>
                </a:solidFill>
                <a:latin typeface="Segoe UI"/>
              </a:rPr>
              <a:t>Two-sided Fisher exact throughout, with Benjamini-Hochberg FDR applied across the residues, classes or cells tested in each analysis. Group ΔPSI comparisons use the two-sided Mann-Whitney U test. Proportion error bars are Wilson 95% intervals.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The motif is necessary but not sufficient</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reviewer's central point, argued four ways. The [P/G]-[E/D] motif enriches for substrates 27-fold, yet 163 of the 179 peptides carrying it are not stabilised at all. The motif biases stability without determining it.</a:t>
            </a:r>
          </a:p>
        </p:txBody>
      </p:sp>
      <p:pic>
        <p:nvPicPr>
          <p:cNvPr id="5" name="Picture 4" descr="Figure2_motif_necessary_not_sufficient.png"/>
          <p:cNvPicPr>
            <a:picLocks noChangeAspect="1"/>
          </p:cNvPicPr>
          <p:nvPr/>
        </p:nvPicPr>
        <p:blipFill>
          <a:blip r:embed="rId2"/>
          <a:stretch>
            <a:fillRect/>
          </a:stretch>
        </p:blipFill>
        <p:spPr>
          <a:xfrm>
            <a:off x="3228692" y="1993392"/>
            <a:ext cx="5734311"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2A</a:t>
            </a:r>
            <a:r>
              <a:rPr sz="1800" b="1">
                <a:solidFill>
                  <a:srgbClr val="0B0B0B"/>
                </a:solidFill>
                <a:latin typeface="Segoe UI"/>
              </a:rPr>
              <a:t>   ·   163 of 179 motif-bearing peptides are not stabilised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A.png"/>
          <p:cNvPicPr>
            <a:picLocks noChangeAspect="1"/>
          </p:cNvPicPr>
          <p:nvPr/>
        </p:nvPicPr>
        <p:blipFill>
          <a:blip r:embed="rId2"/>
          <a:stretch>
            <a:fillRect/>
          </a:stretch>
        </p:blipFill>
        <p:spPr>
          <a:xfrm>
            <a:off x="457200" y="1440736"/>
            <a:ext cx="7086600" cy="475376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Every one of the 179 library peptides carrying [P/G]-[E/D], one bar each, ranked left to right by mean ΔPSI. Orange bars are the 16 that are UBR3 substrates; grey bars are the 163 that are not.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short orange head and a very long grey tail. The motif-bearing peptides span the whole ΔPSI range, from +1.63 down to -0.57 - some are actually destabilised when UBR3 is lost. Carrying the motif tells you very little about what an individual peptide will do.</a:t>
            </a:r>
          </a:p>
          <a:p>
            <a:pPr algn="l">
              <a:spcBef>
                <a:spcPts val="900"/>
              </a:spcBef>
              <a:spcAft>
                <a:spcPts val="200"/>
              </a:spcAft>
            </a:pPr>
            <a:r>
              <a:rPr sz="900" b="1" i="0">
                <a:solidFill>
                  <a:srgbClr val="2A78D6"/>
                </a:solidFill>
                <a:latin typeface="Segoe UI"/>
              </a:rPr>
              <a:t>WHY IT ANSWERS THE REVIEWER</a:t>
            </a:r>
          </a:p>
          <a:p>
            <a:pPr algn="l">
              <a:spcBef>
                <a:spcPts val="0"/>
              </a:spcBef>
              <a:spcAft>
                <a:spcPts val="0"/>
              </a:spcAft>
            </a:pPr>
            <a:r>
              <a:rPr sz="1019" b="0" i="0">
                <a:solidFill>
                  <a:srgbClr val="52514E"/>
                </a:solidFill>
                <a:latin typeface="Segoe UI"/>
              </a:rPr>
              <a:t>This is the most direct possible answer to "only a subset of Pro-/Gly-initiated peptides are UBR3-regulated". 91% of motif-bearing peptides show no stabilisation whatsoever.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Orange and grey bars interleave near the top: some non-substrates have a higher mean ΔPSI than some substrates. Substrate status is the published call, not a pure rank on this axis, so the two orderings are not identical.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2B</a:t>
            </a:r>
            <a:r>
              <a:rPr sz="1800" b="1">
                <a:solidFill>
                  <a:srgbClr val="0B0B0B"/>
                </a:solidFill>
                <a:latin typeface="Segoe UI"/>
              </a:rPr>
              <a:t>   ·   The whole motif class shifts, but only slightly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B.png"/>
          <p:cNvPicPr>
            <a:picLocks noChangeAspect="1"/>
          </p:cNvPicPr>
          <p:nvPr/>
        </p:nvPicPr>
        <p:blipFill>
          <a:blip r:embed="rId2"/>
          <a:stretch>
            <a:fillRect/>
          </a:stretch>
        </p:blipFill>
        <p:spPr>
          <a:xfrm>
            <a:off x="457200" y="1187114"/>
            <a:ext cx="7086600" cy="526101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Empirical cumulative distribution functions of mean ΔPSI, one curve per motif class. For any x value the curve height is the fraction of that group at or below it. A curve sitting further right means a group that is more stabilised overall.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[P/G]-[E/D] curve (orange) sits to the right of the other two across most of the range: median ΔPSI 0.140 versus 0.066 for non-P/G, Mann-Whitney p = 2.9 x 10^-8. But the three curves overlap almost completely - the shift is real and highly significant, yet small.</a:t>
            </a:r>
          </a:p>
          <a:p>
            <a:pPr algn="l">
              <a:spcBef>
                <a:spcPts val="900"/>
              </a:spcBef>
              <a:spcAft>
                <a:spcPts val="200"/>
              </a:spcAft>
            </a:pPr>
            <a:r>
              <a:rPr sz="900" b="1" i="0">
                <a:solidFill>
                  <a:srgbClr val="2A78D6"/>
                </a:solidFill>
                <a:latin typeface="Segoe UI"/>
              </a:rPr>
              <a:t>THE NUANCE WORTH STATING</a:t>
            </a:r>
          </a:p>
          <a:p>
            <a:pPr algn="l">
              <a:spcBef>
                <a:spcPts val="0"/>
              </a:spcBef>
              <a:spcAft>
                <a:spcPts val="0"/>
              </a:spcAft>
            </a:pPr>
            <a:r>
              <a:rPr sz="1019" b="0" i="0">
                <a:solidFill>
                  <a:srgbClr val="52514E"/>
                </a:solidFill>
                <a:latin typeface="Segoe UI"/>
              </a:rPr>
              <a:t>The motif is not a switch that some peptides flip and others do not. It shifts the entire distribution a little. Substrate status is the top tail of a continuum, not a separate population.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A very small p value here reflects the enormous n (14,414 non-P/G peptides), not a large effect. Read the separation between curves for effect size and the p value only for whether the shift is real.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2C</a:t>
            </a:r>
            <a:r>
              <a:rPr sz="1800" b="1">
                <a:solidFill>
                  <a:srgbClr val="0B0B0B"/>
                </a:solidFill>
                <a:latin typeface="Segoe UI"/>
              </a:rPr>
              <a:t>   ·   Motif enrichment is 17-fold, but the motif is not sufficient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C.png"/>
          <p:cNvPicPr>
            <a:picLocks noChangeAspect="1"/>
          </p:cNvPicPr>
          <p:nvPr/>
        </p:nvPicPr>
        <p:blipFill>
          <a:blip r:embed="rId2"/>
          <a:stretch>
            <a:fillRect/>
          </a:stretch>
        </p:blipFill>
        <p:spPr>
          <a:xfrm>
            <a:off x="457200" y="1856001"/>
            <a:ext cx="7086600" cy="3923238"/>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Each motif class as a 100% stacked bar: orange = UBR3-stabilised, pale grey = not stabilised. The percentage inside the orange segment is the substrate rate; the label to the right gives the absolute number of non-responders.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orange slivers are 8.94%, 0.52% and 0.19%. Even in the best group, 163 of 179 peptides are unaffected by UBR3 loss. In the other two groups the orange is barely visible: 1,911 and 14,386 non-responders respectively.</a:t>
            </a:r>
          </a:p>
          <a:p>
            <a:pPr algn="l">
              <a:spcBef>
                <a:spcPts val="900"/>
              </a:spcBef>
              <a:spcAft>
                <a:spcPts val="200"/>
              </a:spcAft>
            </a:pPr>
            <a:r>
              <a:rPr sz="900" b="1" i="0">
                <a:solidFill>
                  <a:srgbClr val="2A78D6"/>
                </a:solidFill>
                <a:latin typeface="Segoe UI"/>
              </a:rPr>
              <a:t>WHY THIS FRAMING</a:t>
            </a:r>
          </a:p>
          <a:p>
            <a:pPr algn="l">
              <a:spcBef>
                <a:spcPts val="0"/>
              </a:spcBef>
              <a:spcAft>
                <a:spcPts val="0"/>
              </a:spcAft>
            </a:pPr>
            <a:r>
              <a:rPr sz="1019" b="0" i="0">
                <a:solidFill>
                  <a:srgbClr val="52514E"/>
                </a:solidFill>
                <a:latin typeface="Segoe UI"/>
              </a:rPr>
              <a:t>Panel 1D shows the same numbers as a rate comparison and makes the enrichment look dramatic. This panel shows the complement, and makes the insufficiency obvious. Both are true and the paper needs both.</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Do not read the orange widths as comparable areas - the group sizes differ by two orders of magnitude, so these are proportions within each row, not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2D</a:t>
            </a:r>
            <a:r>
              <a:rPr sz="1800" b="1">
                <a:solidFill>
                  <a:srgbClr val="0B0B0B"/>
                </a:solidFill>
                <a:latin typeface="Segoe UI"/>
              </a:rPr>
              <a:t>   ·   Stabilisation is reproducible, not replicate noise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D.png"/>
          <p:cNvPicPr>
            <a:picLocks noChangeAspect="1"/>
          </p:cNvPicPr>
          <p:nvPr/>
        </p:nvPicPr>
        <p:blipFill>
          <a:blip r:embed="rId2"/>
          <a:stretch>
            <a:fillRect/>
          </a:stretch>
        </p:blipFill>
        <p:spPr>
          <a:xfrm>
            <a:off x="457200" y="1097280"/>
            <a:ext cx="660114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ΔPSI in replicate 1 against replicate 2. Pale dots are all other library peptides; dark grey dots are [P/G]-[E/D] peptides that are not substrates; large orange dots are the 16 [P/G]-[E/D] substrates, with the top six labelled by gene.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16 substrates cluster together in the upper-right, meaning both independent replicates agree that they gained stability. Replicate correlation across the [P/G]-[E/D] set is r = 0.84.</a:t>
            </a:r>
          </a:p>
          <a:p>
            <a:pPr algn="l">
              <a:spcBef>
                <a:spcPts val="900"/>
              </a:spcBef>
              <a:spcAft>
                <a:spcPts val="200"/>
              </a:spcAft>
            </a:pPr>
            <a:r>
              <a:rPr sz="900" b="1" i="0">
                <a:solidFill>
                  <a:srgbClr val="2A78D6"/>
                </a:solidFill>
                <a:latin typeface="Segoe UI"/>
              </a:rPr>
              <a:t>WHY IT IS HERE</a:t>
            </a:r>
          </a:p>
          <a:p>
            <a:pPr algn="l">
              <a:spcBef>
                <a:spcPts val="0"/>
              </a:spcBef>
              <a:spcAft>
                <a:spcPts val="0"/>
              </a:spcAft>
            </a:pPr>
            <a:r>
              <a:rPr sz="1019" b="0" i="0">
                <a:solidFill>
                  <a:srgbClr val="52514E"/>
                </a:solidFill>
                <a:latin typeface="Segoe UI"/>
              </a:rPr>
              <a:t>It rules out the most obvious alternative explanation - that the substrates are simply peptides that happened to fluctuate upward in one replicate. Agreement between two independently sorted replicates is not something noise produces.</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dense pale cloud is centred slightly above zero, so a small positive ΔPSI is the norm across the library. Judge the substrates against that cloud, not against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Sequence logos of the substrate N-termini</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Where along the 24-mer the constraint actually lives. Panels A-B compare substrates against the library background on an identical scale; panel C converts the comparison into a statistical enrichment logo so only real signal is drawn.</a:t>
            </a:r>
          </a:p>
        </p:txBody>
      </p:sp>
      <p:pic>
        <p:nvPicPr>
          <p:cNvPr id="5" name="Picture 4" descr="Figure3_sequence_logos.png"/>
          <p:cNvPicPr>
            <a:picLocks noChangeAspect="1"/>
          </p:cNvPicPr>
          <p:nvPr/>
        </p:nvPicPr>
        <p:blipFill>
          <a:blip r:embed="rId2"/>
          <a:stretch>
            <a:fillRect/>
          </a:stretch>
        </p:blipFill>
        <p:spPr>
          <a:xfrm>
            <a:off x="3260888" y="1993392"/>
            <a:ext cx="5669918"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3A</a:t>
            </a:r>
            <a:r>
              <a:rPr sz="1800" b="1">
                <a:solidFill>
                  <a:srgbClr val="0B0B0B"/>
                </a:solidFill>
                <a:latin typeface="Segoe UI"/>
              </a:rPr>
              <a:t>   ·   Sequence logo of the 54 candidate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A.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sequence logo over positions 2 to 24. At each position the stack height is the information content in bits, and each letter's height is its share of that. Letters are coloured by chemical class (legend top right). The shaded block marks positions 2-3.</a:t>
            </a:r>
          </a:p>
          <a:p>
            <a:pPr algn="l">
              <a:spcBef>
                <a:spcPts val="900"/>
              </a:spcBef>
              <a:spcAft>
                <a:spcPts val="200"/>
              </a:spcAft>
            </a:pPr>
            <a:r>
              <a:rPr sz="850" b="1" i="0">
                <a:solidFill>
                  <a:srgbClr val="2A78D6"/>
                </a:solidFill>
                <a:latin typeface="Segoe UI"/>
              </a:rPr>
              <a:t>WHY POSITION 1 IS MISSING</a:t>
            </a:r>
          </a:p>
          <a:p>
            <a:pPr algn="l">
              <a:spcBef>
                <a:spcPts val="0"/>
              </a:spcBef>
              <a:spcAft>
                <a:spcPts val="0"/>
              </a:spcAft>
            </a:pPr>
            <a:r>
              <a:rPr sz="960" b="0" i="0">
                <a:solidFill>
                  <a:srgbClr val="52514E"/>
                </a:solidFill>
                <a:latin typeface="Segoe UI"/>
              </a:rPr>
              <a:t>Position 1 is Met in 100% of both the substrates and the library, so it carries no information that distinguishes them. Including it produces a single tower that flattens every other column to invisibility.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Almost all the height in the whole logo is at positions 2 and 3: Gly and Pro stacked at position 2, Asp and Glu at position 3. From position 4 rightward the stacks collapse to a low, even carpet.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Information content is computed against a uniform 1/20 background, so it measures how constrained a position is - not how different it is from the library. Panel B supplies the background and panel C the actual comparison.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3B</a:t>
            </a:r>
            <a:r>
              <a:rPr sz="1800" b="1">
                <a:solidFill>
                  <a:srgbClr val="0B0B0B"/>
                </a:solidFill>
                <a:latin typeface="Segoe UI"/>
              </a:rPr>
              <a:t>   ·   Sequence logo of the full library (background)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B.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identical calculation applied to all 16,514 library peptides, drawn on exactly the same y-scale as panel A so the two can be compared directly by eye.</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Essentially flat. There is a small stack at position 2 - Ala, Ser, Gly are common there because of MetAP-driven codon usage - and nothing elsewhere. This is what "no constraint" looks like in this assay.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It establishes that the towers in panel A are a property of the substrates and not of the library construction. Without this panel a reviewer could argue the position-2 signal is just how the library was built.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The residual position-2 structure here is exactly why enrichment must be measured against this background rather than against a uniform expectation - which is what panel C does.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3C</a:t>
            </a:r>
            <a:r>
              <a:rPr sz="1800" b="1">
                <a:solidFill>
                  <a:srgbClr val="0B0B0B"/>
                </a:solidFill>
                <a:latin typeface="Segoe UI"/>
              </a:rPr>
              <a:t>   ·   Statistical enrichment logo: what actually distinguishes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C.png"/>
          <p:cNvPicPr>
            <a:picLocks noChangeAspect="1"/>
          </p:cNvPicPr>
          <p:nvPr/>
        </p:nvPicPr>
        <p:blipFill>
          <a:blip r:embed="rId2"/>
          <a:stretch>
            <a:fillRect/>
          </a:stretch>
        </p:blipFill>
        <p:spPr>
          <a:xfrm>
            <a:off x="1941208" y="1078992"/>
            <a:ext cx="8309279"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Letter height is the signed -log10 of the Fisher exact p value for that residue at that position, substrates versus library. Letters above the line are over-represented in substrates; letters below are depleted. Only residues reaching p &lt; 0.05 are drawn at all. The two red lines mark p = 0.05 and the Bonferroni threshold.</a:t>
            </a:r>
          </a:p>
          <a:p>
            <a:pPr algn="l">
              <a:spcBef>
                <a:spcPts val="900"/>
              </a:spcBef>
              <a:spcAft>
                <a:spcPts val="200"/>
              </a:spcAft>
            </a:pPr>
            <a:r>
              <a:rPr sz="850" b="1" i="0">
                <a:solidFill>
                  <a:srgbClr val="2A78D6"/>
                </a:solidFill>
                <a:latin typeface="Segoe UI"/>
              </a:rPr>
              <a:t>WHY NOT A SIMPLE RATIO</a:t>
            </a:r>
          </a:p>
          <a:p>
            <a:pPr algn="l">
              <a:spcBef>
                <a:spcPts val="0"/>
              </a:spcBef>
              <a:spcAft>
                <a:spcPts val="0"/>
              </a:spcAft>
            </a:pPr>
            <a:r>
              <a:rPr sz="960" b="0" i="0">
                <a:solidFill>
                  <a:srgbClr val="52514E"/>
                </a:solidFill>
                <a:latin typeface="Segoe UI"/>
              </a:rPr>
              <a:t>A plain log2 substrate/library logo stacks a dozen depleted residues at every position and becomes unreadable, with the y-axis running to -13. Plotting significance instead keeps only what the data can actually support.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Pro and Gly at position 2 and Asp at position 3 tower far above the Bonferroni line. Everything else in the entire 23-position window sits at or just above the p = 0.05 line - the level you would expect from chance across this many tests.</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Letters between the two red lines are nominally significant but do not survive correction for multiple testing. Treat them as noise; the FDR-corrected version is panel 5B.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Chemical-class architecture across all 24 positions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same question at the level of chemical classes rather than individual residues. Panels A-B show composition position by position, C tests every class x position cell for significance, and D checks whole-peptide composition as a control.</a:t>
            </a:r>
          </a:p>
        </p:txBody>
      </p:sp>
      <p:pic>
        <p:nvPicPr>
          <p:cNvPr id="5" name="Picture 4" descr="Figure4_AA_class_analysis.png"/>
          <p:cNvPicPr>
            <a:picLocks noChangeAspect="1"/>
          </p:cNvPicPr>
          <p:nvPr/>
        </p:nvPicPr>
        <p:blipFill>
          <a:blip r:embed="rId2"/>
          <a:stretch>
            <a:fillRect/>
          </a:stretch>
        </p:blipFill>
        <p:spPr>
          <a:xfrm>
            <a:off x="3418895" y="1993392"/>
            <a:ext cx="535390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4A</a:t>
            </a:r>
            <a:r>
              <a:rPr sz="1800" b="1">
                <a:solidFill>
                  <a:srgbClr val="0B0B0B"/>
                </a:solidFill>
                <a:latin typeface="Segoe UI"/>
              </a:rPr>
              <a:t>   ·   Class composition at each position -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substrates whose residue at that position belongs to each of six chemical classes.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 that is the invariant initiator Met. Position 2 is 48% Special, i.e. Pro or Gly. Position 3 is 37% Acidic. From position 4 onward the bars settle into a mixture that looks like any random protein sequence.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CLASSES RATHER THAN RESIDUES</a:t>
            </a:r>
          </a:p>
          <a:p>
            <a:pPr algn="l">
              <a:spcBef>
                <a:spcPts val="0"/>
              </a:spcBef>
              <a:spcAft>
                <a:spcPts val="0"/>
              </a:spcAft>
            </a:pPr>
            <a:r>
              <a:rPr sz="960" b="0" i="0">
                <a:solidFill>
                  <a:srgbClr val="52514E"/>
                </a:solidFill>
                <a:latin typeface="Segoe UI"/>
              </a:rPr>
              <a:t>Grouping 20 residues into six classes raises the counts per cell, which matters with only 54 substrates, and it tests a chemically meaningful hypothesis - "an acidic residue" rather than "specifically Asp".</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54, one peptide is 1.9% of a bar. Small differences between adjacent positions are not meaningful; panel C applies the significance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4B</a:t>
            </a:r>
            <a:r>
              <a:rPr sz="1800" b="1">
                <a:solidFill>
                  <a:srgbClr val="0B0B0B"/>
                </a:solidFill>
                <a:latin typeface="Segoe UI"/>
              </a:rPr>
              <a:t>   ·   Class composition at each position - the full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stacked-bar calculation applied to all 16,514 library peptides - the background against which panel A should be read.</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again all Met. Position 2 shows mild structure, then from position 4 onward the composition is essentially constant: roughly 36% Hydrophobic, 22% Polar, 13% Special, 12% Basic, 10% Acidic, 7% Aromatic.</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The flatness confirms there is no positional bias built into the library beyond the N-terminal region. Any structure in panel A after position 3 would therefore be real - and there is none.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this panel can be treated as a fixed reference rather than an estimate.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4C</a:t>
            </a:r>
            <a:r>
              <a:rPr sz="1800" b="1">
                <a:solidFill>
                  <a:srgbClr val="0B0B0B"/>
                </a:solidFill>
                <a:latin typeface="Segoe UI"/>
              </a:rPr>
              <a:t>   ·   Class enrichment by position,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C.png"/>
          <p:cNvPicPr>
            <a:picLocks noChangeAspect="1"/>
          </p:cNvPicPr>
          <p:nvPr/>
        </p:nvPicPr>
        <p:blipFill>
          <a:blip r:embed="rId2"/>
          <a:stretch>
            <a:fillRect/>
          </a:stretch>
        </p:blipFill>
        <p:spPr>
          <a:xfrm>
            <a:off x="2361032" y="1078992"/>
            <a:ext cx="746963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library) for each chemical class at each position. Red = enriched in substrates, blue = depleted. Beige cells are those that do NOT reach q &lt; 0.05 and are deliberately left blank.</a:t>
            </a:r>
          </a:p>
          <a:p>
            <a:pPr algn="l">
              <a:spcBef>
                <a:spcPts val="900"/>
              </a:spcBef>
              <a:spcAft>
                <a:spcPts val="200"/>
              </a:spcAft>
            </a:pPr>
            <a:r>
              <a:rPr sz="850" b="1" i="0">
                <a:solidFill>
                  <a:srgbClr val="2A78D6"/>
                </a:solidFill>
                <a:latin typeface="Segoe UI"/>
              </a:rPr>
              <a:t>HOW IT WAS COMPUTED</a:t>
            </a:r>
          </a:p>
          <a:p>
            <a:pPr algn="l">
              <a:spcBef>
                <a:spcPts val="0"/>
              </a:spcBef>
              <a:spcAft>
                <a:spcPts val="0"/>
              </a:spcAft>
            </a:pPr>
            <a:r>
              <a:rPr sz="960" b="0" i="0">
                <a:solidFill>
                  <a:srgbClr val="52514E"/>
                </a:solidFill>
                <a:latin typeface="Segoe UI"/>
              </a:rPr>
              <a:t>A Fisher exact test for every class x position cell, with Benjamini-Hochberg correction applied across the whole matrix. Ratios use Laplace smoothing so an empty cell cannot produce an infinite value.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Four cells survive out of 144. At position 2: Special enriched (+1.9) and Hydrophobic depleted (-1.6). At position 3: Acidic enriched (+1.7). At position 7: Basic enriched (+1.2). Everything else is beige.</a:t>
            </a:r>
          </a:p>
          <a:p>
            <a:pPr algn="l">
              <a:spcBef>
                <a:spcPts val="900"/>
              </a:spcBef>
              <a:spcAft>
                <a:spcPts val="200"/>
              </a:spcAft>
            </a:pPr>
            <a:r>
              <a:rPr sz="850" b="1" i="0">
                <a:solidFill>
                  <a:srgbClr val="2A78D6"/>
                </a:solidFill>
                <a:latin typeface="Segoe UI"/>
              </a:rPr>
              <a:t>WHY THE MASKING</a:t>
            </a:r>
          </a:p>
          <a:p>
            <a:pPr algn="l">
              <a:spcBef>
                <a:spcPts val="0"/>
              </a:spcBef>
              <a:spcAft>
                <a:spcPts val="0"/>
              </a:spcAft>
            </a:pPr>
            <a:r>
              <a:rPr sz="960" b="0" i="0">
                <a:solidFill>
                  <a:srgbClr val="52514E"/>
                </a:solidFill>
                <a:latin typeface="Segoe UI"/>
              </a:rPr>
              <a:t>With 54 substrates, an unmasked version of this heatmap shows vivid red and blue cells scattered to position 24 that are pure sampling noise. Masking is what keeps this panel honest.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4D</a:t>
            </a:r>
            <a:r>
              <a:rPr sz="1800" b="1">
                <a:solidFill>
                  <a:srgbClr val="0B0B0B"/>
                </a:solidFill>
                <a:latin typeface="Segoe UI"/>
              </a:rPr>
              <a:t>   ·   Whole-peptide composition is unchanged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D.png"/>
          <p:cNvPicPr>
            <a:picLocks noChangeAspect="1"/>
          </p:cNvPicPr>
          <p:nvPr/>
        </p:nvPicPr>
        <p:blipFill>
          <a:blip r:embed="rId2"/>
          <a:stretch>
            <a:fillRect/>
          </a:stretch>
        </p:blipFill>
        <p:spPr>
          <a:xfrm>
            <a:off x="457200" y="1161737"/>
            <a:ext cx="7086600" cy="5311765"/>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Class composition averaged over all 24 positions of every peptide. Coloured bars are the 54 substrates (coloured by class); grey bars are the library.</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two are nearly identical: Acidic 10.1 vs 10.2, Basic 14.7 vs 12.2, Polar 22.5 vs 21.6, Hydrophobic 31.9 vs 35.8, Aromatic 6.2 vs 6.8, Special 14.6 vs 13.3.</a:t>
            </a:r>
          </a:p>
          <a:p>
            <a:pPr algn="l">
              <a:spcBef>
                <a:spcPts val="900"/>
              </a:spcBef>
              <a:spcAft>
                <a:spcPts val="200"/>
              </a:spcAft>
            </a:pPr>
            <a:r>
              <a:rPr sz="900" b="1" i="0">
                <a:solidFill>
                  <a:srgbClr val="2A78D6"/>
                </a:solidFill>
                <a:latin typeface="Segoe UI"/>
              </a:rPr>
              <a:t>WHY THIS IS THE CONTROL</a:t>
            </a:r>
          </a:p>
          <a:p>
            <a:pPr algn="l">
              <a:spcBef>
                <a:spcPts val="0"/>
              </a:spcBef>
              <a:spcAft>
                <a:spcPts val="0"/>
              </a:spcAft>
            </a:pPr>
            <a:r>
              <a:rPr sz="1019" b="0" i="0">
                <a:solidFill>
                  <a:srgbClr val="52514E"/>
                </a:solidFill>
                <a:latin typeface="Segoe UI"/>
              </a:rPr>
              <a:t>It rules out a bulk-composition explanation. If substrates were simply unusually acidic or unusually Pro/Gly-rich proteins overall, that would show here. It does not - the signal is strictly positional, confined to residues 2 and 3.</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Hydrophobic difference (31.9 vs 35.8) is the largest gap and goes in the direction of substrates being slightly less hydrophobic. With n = 54 it is not individually significant and no single position drives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Position-by-residue heatmaps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full 24 x 20 picture. Panel A is raw substrate frequency; panel B is enrichment over the library with non-significant cells masked, which reduces the whole dataset to four surviving cells.</a:t>
            </a:r>
          </a:p>
        </p:txBody>
      </p:sp>
      <p:pic>
        <p:nvPicPr>
          <p:cNvPr id="5" name="Picture 4" descr="Figure5_position_residue_heatmaps.png"/>
          <p:cNvPicPr>
            <a:picLocks noChangeAspect="1"/>
          </p:cNvPicPr>
          <p:nvPr/>
        </p:nvPicPr>
        <p:blipFill>
          <a:blip r:embed="rId2"/>
          <a:stretch>
            <a:fillRect/>
          </a:stretch>
        </p:blipFill>
        <p:spPr>
          <a:xfrm>
            <a:off x="2551615" y="1993392"/>
            <a:ext cx="708846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5A</a:t>
            </a:r>
            <a:r>
              <a:rPr sz="1800" b="1">
                <a:solidFill>
                  <a:srgbClr val="0B0B0B"/>
                </a:solidFill>
                <a:latin typeface="Segoe UI"/>
              </a:rPr>
              <a:t>   ·   Residue frequency in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A.png"/>
          <p:cNvPicPr>
            <a:picLocks noChangeAspect="1"/>
          </p:cNvPicPr>
          <p:nvPr/>
        </p:nvPicPr>
        <p:blipFill>
          <a:blip r:embed="rId2"/>
          <a:stretch>
            <a:fillRect/>
          </a:stretch>
        </p:blipFill>
        <p:spPr>
          <a:xfrm>
            <a:off x="457200" y="1097280"/>
            <a:ext cx="6188044"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24 x 20 heatmap: the percentage of substrates carrying each amino acid at each position. Rows are grouped by chemical class with horizontal rules between classes and row labels coloured to match. The black box outlines positions 2-3.</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Inside the box: Gly 26% and Pro 22% at position 2; Asp 22% and Glu 15% at position 3. The rest of the map is a pale, even wash, which is what an unconstrained sequence looks like.</a:t>
            </a:r>
          </a:p>
          <a:p>
            <a:pPr algn="l">
              <a:spcBef>
                <a:spcPts val="900"/>
              </a:spcBef>
              <a:spcAft>
                <a:spcPts val="200"/>
              </a:spcAft>
            </a:pPr>
            <a:r>
              <a:rPr sz="900" b="1" i="0">
                <a:solidFill>
                  <a:srgbClr val="2A78D6"/>
                </a:solidFill>
                <a:latin typeface="Segoe UI"/>
              </a:rPr>
              <a:t>READING THE SCALE</a:t>
            </a:r>
          </a:p>
          <a:p>
            <a:pPr algn="l">
              <a:spcBef>
                <a:spcPts val="0"/>
              </a:spcBef>
              <a:spcAft>
                <a:spcPts val="0"/>
              </a:spcAft>
            </a:pPr>
            <a:r>
              <a:rPr sz="1019" b="0" i="0">
                <a:solidFill>
                  <a:srgbClr val="52514E"/>
                </a:solidFill>
                <a:latin typeface="Segoe UI"/>
              </a:rPr>
              <a:t>The colour ceiling is set at 28% so the motif cells are distinguishable. Met at position 1 is 100% and therefore saturates - it is labelled directly rather than left to the colour scale.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are raw frequencies with no background correction. A residue can look dark simply because it is common in human proteins. Panel B is the version that corrects for that.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5B</a:t>
            </a:r>
            <a:r>
              <a:rPr sz="1800" b="1">
                <a:solidFill>
                  <a:srgbClr val="0B0B0B"/>
                </a:solidFill>
                <a:latin typeface="Segoe UI"/>
              </a:rPr>
              <a:t>   ·   Enrichment over library background,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B.png"/>
          <p:cNvPicPr>
            <a:picLocks noChangeAspect="1"/>
          </p:cNvPicPr>
          <p:nvPr/>
        </p:nvPicPr>
        <p:blipFill>
          <a:blip r:embed="rId2"/>
          <a:stretch>
            <a:fillRect/>
          </a:stretch>
        </p:blipFill>
        <p:spPr>
          <a:xfrm>
            <a:off x="457200" y="1097280"/>
            <a:ext cx="6212042"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24 x 20 grid, now showing log2(substrate / library) with every cell that fails q &lt; 0.05 left beige. Red = enriched, blue = depleted.</a:t>
            </a:r>
          </a:p>
          <a:p>
            <a:pPr algn="l">
              <a:spcBef>
                <a:spcPts val="900"/>
              </a:spcBef>
              <a:spcAft>
                <a:spcPts val="200"/>
              </a:spcAft>
            </a:pPr>
            <a:r>
              <a:rPr sz="900" b="1" i="0">
                <a:solidFill>
                  <a:srgbClr val="2A78D6"/>
                </a:solidFill>
                <a:latin typeface="Segoe UI"/>
              </a:rPr>
              <a:t>HOW IT WAS COMPUTED</a:t>
            </a:r>
          </a:p>
          <a:p>
            <a:pPr algn="l">
              <a:spcBef>
                <a:spcPts val="0"/>
              </a:spcBef>
              <a:spcAft>
                <a:spcPts val="0"/>
              </a:spcAft>
            </a:pPr>
            <a:r>
              <a:rPr sz="1019" b="0" i="0">
                <a:solidFill>
                  <a:srgbClr val="52514E"/>
                </a:solidFill>
                <a:latin typeface="Segoe UI"/>
              </a:rPr>
              <a:t>All 480 position x residue cells tested by Fisher exact, with Benjamini-Hochberg correction across the entire matrix. The full table is sheet 12 of the workbook.</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Four cells survive out of 480. Asp at position 3 (+2.4, q = 0.002), Pro at position 2 (+2.2, q = 0.004), Gly at position 2 (+1.9, q = 0.006), and Arg at position 7 (+1.7, q = 0.042). The entire rest of the peptide is indistinguishable from background.</a:t>
            </a:r>
          </a:p>
          <a:p>
            <a:pPr algn="l">
              <a:spcBef>
                <a:spcPts val="900"/>
              </a:spcBef>
              <a:spcAft>
                <a:spcPts val="200"/>
              </a:spcAft>
            </a:pPr>
            <a:r>
              <a:rPr sz="900" b="1" i="0">
                <a:solidFill>
                  <a:srgbClr val="2A78D6"/>
                </a:solidFill>
                <a:latin typeface="Segoe UI"/>
              </a:rPr>
              <a:t>THE HONEST CAVEAT</a:t>
            </a:r>
          </a:p>
          <a:p>
            <a:pPr algn="l">
              <a:spcBef>
                <a:spcPts val="0"/>
              </a:spcBef>
              <a:spcAft>
                <a:spcPts val="0"/>
              </a:spcAft>
            </a:pPr>
            <a:r>
              <a:rPr sz="1019" b="0" i="0">
                <a:solidFill>
                  <a:srgbClr val="52514E"/>
                </a:solidFill>
                <a:latin typeface="Segoe UI"/>
              </a:rPr>
              <a:t>Arg at position 7 is real but weak - 22% of substrates versus 7% of the library, at the edge of significance and far below Bonferroni. It is reported rather than hidden, but it should be described as a borderline observation, not a second motif.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Baseline stability: peptides above and below PSI 2.6</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Splits the library by how stable each peptide is BEFORE UBR3 is removed. A degron substrate should start unstable and gain stability when its E3 ligase is lost - which is what the substrates do. Also exposes the assay's ceiling effect.</a:t>
            </a:r>
          </a:p>
        </p:txBody>
      </p:sp>
      <p:pic>
        <p:nvPicPr>
          <p:cNvPr id="5" name="Picture 4" descr="Figure6_PSI_baseline_stability.png"/>
          <p:cNvPicPr>
            <a:picLocks noChangeAspect="1"/>
          </p:cNvPicPr>
          <p:nvPr/>
        </p:nvPicPr>
        <p:blipFill>
          <a:blip r:embed="rId2"/>
          <a:stretch>
            <a:fillRect/>
          </a:stretch>
        </p:blipFill>
        <p:spPr>
          <a:xfrm>
            <a:off x="2598342" y="1993392"/>
            <a:ext cx="6995010"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6A</a:t>
            </a:r>
            <a:r>
              <a:rPr sz="1800" b="1">
                <a:solidFill>
                  <a:srgbClr val="0B0B0B"/>
                </a:solidFill>
                <a:latin typeface="Segoe UI"/>
              </a:rPr>
              <a:t>   ·   49% of the library starts below PSI 2.6</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A.png"/>
          <p:cNvPicPr>
            <a:picLocks noChangeAspect="1"/>
          </p:cNvPicPr>
          <p:nvPr/>
        </p:nvPicPr>
        <p:blipFill>
          <a:blip r:embed="rId2"/>
          <a:stretch>
            <a:fillRect/>
          </a:stretch>
        </p:blipFill>
        <p:spPr>
          <a:xfrm>
            <a:off x="457200" y="1364108"/>
            <a:ext cx="7086600" cy="4907023"/>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histogram of control PSI across the library, coloured by stratum: purple below the cut, green above. Orange ticks below the axis mark where each of the 54 substrates falls.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distribution is clearly multimodal, with peaks near 1.5, 2.25 and 3.5. The cut at 2.6 splits it almost evenly (49% / 51%). 74% of the substrates sit in the unstable half.</a:t>
            </a:r>
          </a:p>
          <a:p>
            <a:pPr algn="l">
              <a:spcBef>
                <a:spcPts val="900"/>
              </a:spcBef>
              <a:spcAft>
                <a:spcPts val="200"/>
              </a:spcAft>
            </a:pPr>
            <a:r>
              <a:rPr sz="900" b="1" i="0">
                <a:solidFill>
                  <a:srgbClr val="2A78D6"/>
                </a:solidFill>
                <a:latin typeface="Segoe UI"/>
              </a:rPr>
              <a:t>WHY CONTROL PSI AND NOT ΔPSI</a:t>
            </a:r>
          </a:p>
          <a:p>
            <a:pPr algn="l">
              <a:spcBef>
                <a:spcPts val="0"/>
              </a:spcBef>
              <a:spcAft>
                <a:spcPts val="0"/>
              </a:spcAft>
            </a:pPr>
            <a:r>
              <a:rPr sz="1019" b="0" i="0">
                <a:solidFill>
                  <a:srgbClr val="52514E"/>
                </a:solidFill>
                <a:latin typeface="Segoe UI"/>
              </a:rPr>
              <a:t>Control PSI is measured before UBR3 is touched, so it describes the peptide's intrinsic stability. ΔPSI is the variable the substrates were selected on, so stratifying on it would be circular.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substrate ticks are not uniformly spread through the unstable half; they concentrate between roughly 2.0 and 2.9. Very unstable peptides (PSI &lt; 1.5) are also poor substrates, presumably because they are degraded by other routes.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6B</a:t>
            </a:r>
            <a:r>
              <a:rPr sz="1800" b="1">
                <a:solidFill>
                  <a:srgbClr val="0B0B0B"/>
                </a:solidFill>
                <a:latin typeface="Segoe UI"/>
              </a:rPr>
              <a:t>   ·   31 of the 40 substrates below the line cross it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B.png"/>
          <p:cNvPicPr>
            <a:picLocks noChangeAspect="1"/>
          </p:cNvPicPr>
          <p:nvPr/>
        </p:nvPicPr>
        <p:blipFill>
          <a:blip r:embed="rId2"/>
          <a:stretch>
            <a:fillRect/>
          </a:stretch>
        </p:blipFill>
        <p:spPr>
          <a:xfrm>
            <a:off x="457200" y="1097280"/>
            <a:ext cx="660141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Control PSI on the x-axis against UBR3-KO PSI on the y-axis for all 16,514 peptides. Pale dots are the library; orange dots are the 54 substrates. The dotted diagonal is "no change"; the dashed lines mark PSI 2.6. The shaded upper-left quadrant is where a peptide starts unstable and ends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Substrates sit well above the diagonal - they gain stability. 31 of the 40 substrates that start below PSI 2.6 rise above it in UBR3 KO, versus a library background of 8.9%.</a:t>
            </a:r>
          </a:p>
          <a:p>
            <a:pPr algn="l">
              <a:spcBef>
                <a:spcPts val="900"/>
              </a:spcBef>
              <a:spcAft>
                <a:spcPts val="200"/>
              </a:spcAft>
            </a:pPr>
            <a:r>
              <a:rPr sz="900" b="1" i="0">
                <a:solidFill>
                  <a:srgbClr val="2A78D6"/>
                </a:solidFill>
                <a:latin typeface="Segoe UI"/>
              </a:rPr>
              <a:t>WHY THE DIAGONAL MATTERS</a:t>
            </a:r>
          </a:p>
          <a:p>
            <a:pPr algn="l">
              <a:spcBef>
                <a:spcPts val="0"/>
              </a:spcBef>
              <a:spcAft>
                <a:spcPts val="0"/>
              </a:spcAft>
            </a:pPr>
            <a:r>
              <a:rPr sz="1019" b="0" i="0">
                <a:solidFill>
                  <a:srgbClr val="52514E"/>
                </a:solidFill>
                <a:latin typeface="Segoe UI"/>
              </a:rPr>
              <a:t>Distance above the diagonal is ΔPSI. Plotting the two PSI values instead of ΔPSI alone shows both how much a peptide moved and where it started, which is what the stratified analysis depends 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pale cloud is thickest along the diagonal at both extremes because peptides pinned at PSI 1 or PSI 4 cannot move. That is the ceiling effect quantified in panel 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6C</a:t>
            </a:r>
            <a:r>
              <a:rPr sz="1800" b="1">
                <a:solidFill>
                  <a:srgbClr val="0B0B0B"/>
                </a:solidFill>
                <a:latin typeface="Segoe UI"/>
              </a:rPr>
              <a:t>   ·   Stabilisation peaks near PSI 2.75 and reverses above 3.5</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C.png"/>
          <p:cNvPicPr>
            <a:picLocks noChangeAspect="1"/>
          </p:cNvPicPr>
          <p:nvPr/>
        </p:nvPicPr>
        <p:blipFill>
          <a:blip r:embed="rId2"/>
          <a:stretch>
            <a:fillRect/>
          </a:stretch>
        </p:blipFill>
        <p:spPr>
          <a:xfrm>
            <a:off x="457200" y="1344713"/>
            <a:ext cx="7086600" cy="4945814"/>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Mean ΔPSI with standard-error bars, in 0.5-wide bins of control PSI. Bar colour follows the stratum of the bin midpoint; the dashed line marks the actual cut at 2.6. Bin sizes are printed along the axis.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clear inverted-U. Mean ΔPSI rises from +0.080 in the 1-1.5 bin to a maximum of +0.150 in the 2.5-3.0 bin, then falls to +0.085 and finally turns NEGATIVE at -0.067 in the 3.5-4.0 bin.</a:t>
            </a:r>
          </a:p>
          <a:p>
            <a:pPr algn="l">
              <a:spcBef>
                <a:spcPts val="900"/>
              </a:spcBef>
              <a:spcAft>
                <a:spcPts val="200"/>
              </a:spcAft>
            </a:pPr>
            <a:r>
              <a:rPr sz="900" b="1" i="0">
                <a:solidFill>
                  <a:srgbClr val="2A78D6"/>
                </a:solidFill>
                <a:latin typeface="Segoe UI"/>
              </a:rPr>
              <a:t>WHY IT MATTERS</a:t>
            </a:r>
          </a:p>
          <a:p>
            <a:pPr algn="l">
              <a:spcBef>
                <a:spcPts val="0"/>
              </a:spcBef>
              <a:spcAft>
                <a:spcPts val="0"/>
              </a:spcAft>
            </a:pPr>
            <a:r>
              <a:rPr sz="1019" b="0" i="0">
                <a:solidFill>
                  <a:srgbClr val="52514E"/>
                </a:solidFill>
                <a:latin typeface="Segoe UI"/>
              </a:rPr>
              <a:t>This is an assay ceiling, not biology. A peptide already at PSI 3.9 has almost no room to gain, so stabilisation becomes undetectable and measurement noise dominates. Any claim about substrates being concentrated at low PSI has to be read against this constraint.</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Error bars are SEM across thousands of peptides and are therefore tiny; they show the mean is precisely estimated, not that individual peptides behave consistently.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6D</a:t>
            </a:r>
            <a:r>
              <a:rPr sz="1800" b="1">
                <a:solidFill>
                  <a:srgbClr val="0B0B0B"/>
                </a:solidFill>
                <a:latin typeface="Segoe UI"/>
              </a:rPr>
              <a:t>   ·   Substrates are 3x more common below the line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D.png"/>
          <p:cNvPicPr>
            <a:picLocks noChangeAspect="1"/>
          </p:cNvPicPr>
          <p:nvPr/>
        </p:nvPicPr>
        <p:blipFill>
          <a:blip r:embed="rId2"/>
          <a:stretch>
            <a:fillRect/>
          </a:stretch>
        </p:blipFill>
        <p:spPr>
          <a:xfrm>
            <a:off x="457200" y="1097280"/>
            <a:ext cx="675780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percentage of peptides in each baseline stratum that are UBR3 substrates, with Wilson 95% confidence intervals and counts printed below each bar.</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0.493% of unstable peptides (40 of 8,112) are substrates versus 0.167% of stable ones (14 of 8,402) - a 3.0-fold difference, Fisher OR 3.0, p = 3.0 x 10^-4.</a:t>
            </a:r>
          </a:p>
          <a:p>
            <a:pPr algn="l">
              <a:spcBef>
                <a:spcPts val="900"/>
              </a:spcBef>
              <a:spcAft>
                <a:spcPts val="200"/>
              </a:spcAft>
            </a:pPr>
            <a:r>
              <a:rPr sz="900" b="1" i="0">
                <a:solidFill>
                  <a:srgbClr val="2A78D6"/>
                </a:solidFill>
                <a:latin typeface="Segoe UI"/>
              </a:rPr>
              <a:t>THE CAVEAT THAT MUST TRAVEL WITH THIS PANEL</a:t>
            </a:r>
          </a:p>
          <a:p>
            <a:pPr algn="l">
              <a:spcBef>
                <a:spcPts val="0"/>
              </a:spcBef>
              <a:spcAft>
                <a:spcPts val="0"/>
              </a:spcAft>
            </a:pPr>
            <a:r>
              <a:rPr sz="1019" b="0" i="0">
                <a:solidFill>
                  <a:srgbClr val="52514E"/>
                </a:solidFill>
                <a:latin typeface="Segoe UI"/>
              </a:rPr>
              <a:t>This is the one result in the whole package that is genuinely sensitive to where the cut is placed: at PSI 3 the same comparison gives 16-fold. The reason is the ceiling effect in panel C - a higher cut mechanically herds substrates into the low stratum. The 3-fold value at the data-driven cut is the more honest number.</a:t>
            </a:r>
          </a:p>
          <a:p>
            <a:pPr algn="l">
              <a:spcBef>
                <a:spcPts val="900"/>
              </a:spcBef>
              <a:spcAft>
                <a:spcPts val="200"/>
              </a:spcAft>
            </a:pPr>
            <a:r>
              <a:rPr sz="900" b="1" i="0">
                <a:solidFill>
                  <a:srgbClr val="2A78D6"/>
                </a:solidFill>
                <a:latin typeface="Segoe UI"/>
              </a:rPr>
              <a:t>WHAT IS NOT CUTOFF-SENSITIVE</a:t>
            </a:r>
          </a:p>
          <a:p>
            <a:pPr algn="l">
              <a:spcBef>
                <a:spcPts val="0"/>
              </a:spcBef>
              <a:spcAft>
                <a:spcPts val="0"/>
              </a:spcAft>
            </a:pPr>
            <a:r>
              <a:rPr sz="1019" b="0" i="0">
                <a:solidFill>
                  <a:srgbClr val="52514E"/>
                </a:solidFill>
                <a:latin typeface="Segoe UI"/>
              </a:rPr>
              <a:t>The motif results are stable across every cut from 2.0 to 3.4 (workbook sheet 18). Only this baseline-stability contrast moves.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Motif-bearing peptides classified by stability and substrate status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Crosses the [P/G]-[E/D] motif with the baseline stability call to give a clean four-cell classification, and annotates the 16 substrates within it. Answers directly: how many motif-bearing peptides are stable, how many unstable, and which of each are UBR3 substrates.</a:t>
            </a:r>
          </a:p>
        </p:txBody>
      </p:sp>
      <p:pic>
        <p:nvPicPr>
          <p:cNvPr id="5" name="Picture 4" descr="Figure9_stability_x_substrate_classification.png"/>
          <p:cNvPicPr>
            <a:picLocks noChangeAspect="1"/>
          </p:cNvPicPr>
          <p:nvPr/>
        </p:nvPicPr>
        <p:blipFill>
          <a:blip r:embed="rId2"/>
          <a:stretch>
            <a:fillRect/>
          </a:stretch>
        </p:blipFill>
        <p:spPr>
          <a:xfrm>
            <a:off x="1054884" y="1993392"/>
            <a:ext cx="10081926"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9A</a:t>
            </a:r>
            <a:r>
              <a:rPr sz="1800" b="1">
                <a:solidFill>
                  <a:srgbClr val="0B0B0B"/>
                </a:solidFill>
                <a:latin typeface="Segoe UI"/>
              </a:rPr>
              <a:t>   ·   The 179 motif-bearing peptides, classified two ways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A.png"/>
          <p:cNvPicPr>
            <a:picLocks noChangeAspect="1"/>
          </p:cNvPicPr>
          <p:nvPr/>
        </p:nvPicPr>
        <p:blipFill>
          <a:blip r:embed="rId2"/>
          <a:stretch>
            <a:fillRect/>
          </a:stretch>
        </p:blipFill>
        <p:spPr>
          <a:xfrm>
            <a:off x="457200" y="1097280"/>
            <a:ext cx="706443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mosaic of the 179 [P/G]-[E/D] peptides. Column WIDTH is the share of peptides in that baseline-stability class; block HEIGHT within a column is the share that are UBR3 substrates (orange) versus not (grey). Every number is an actual peptide count.</a:t>
            </a:r>
          </a:p>
          <a:p>
            <a:pPr algn="l">
              <a:spcBef>
                <a:spcPts val="900"/>
              </a:spcBef>
              <a:spcAft>
                <a:spcPts val="200"/>
              </a:spcAft>
            </a:pPr>
            <a:r>
              <a:rPr sz="900" b="1" i="0">
                <a:solidFill>
                  <a:srgbClr val="2A78D6"/>
                </a:solidFill>
                <a:latin typeface="Segoe UI"/>
              </a:rPr>
              <a:t>THE FOUR CELLS</a:t>
            </a:r>
          </a:p>
          <a:p>
            <a:pPr algn="l">
              <a:spcBef>
                <a:spcPts val="0"/>
              </a:spcBef>
              <a:spcAft>
                <a:spcPts val="0"/>
              </a:spcAft>
            </a:pPr>
            <a:r>
              <a:rPr sz="1019" b="0" i="0">
                <a:solidFill>
                  <a:srgbClr val="52514E"/>
                </a:solidFill>
                <a:latin typeface="Segoe UI"/>
              </a:rPr>
              <a:t>Unstable and a substrate: 11. Unstable and not: 71. Stable and a substrate: 5. Stable and not: 92. Totals: 82 unstable, 97 stable, 16 substrates, 163 non-substrates.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motif-bearing peptides split almost evenly between the two stability classes - 82 versus 97 - so carrying the motif does not by itself make a peptide unstable. The substrate share is 2.6x higher in the unstable column (13.4% vs 5.2%).</a:t>
            </a:r>
          </a:p>
          <a:p>
            <a:pPr algn="l">
              <a:spcBef>
                <a:spcPts val="900"/>
              </a:spcBef>
              <a:spcAft>
                <a:spcPts val="200"/>
              </a:spcAft>
            </a:pPr>
            <a:r>
              <a:rPr sz="900" b="1" i="0">
                <a:solidFill>
                  <a:srgbClr val="2A78D6"/>
                </a:solidFill>
                <a:latin typeface="Segoe UI"/>
              </a:rPr>
              <a:t>DO NOT OVER-READ THE 2.6X</a:t>
            </a:r>
          </a:p>
          <a:p>
            <a:pPr algn="l">
              <a:spcBef>
                <a:spcPts val="0"/>
              </a:spcBef>
              <a:spcAft>
                <a:spcPts val="0"/>
              </a:spcAft>
            </a:pPr>
            <a:r>
              <a:rPr sz="1019" b="0" i="0">
                <a:solidFill>
                  <a:srgbClr val="52514E"/>
                </a:solidFill>
                <a:latin typeface="Segoe UI"/>
              </a:rPr>
              <a:t>Within these 179 peptides that difference is NOT statistically significant: Fisher OR 2.85, p = 0.067, because it rests on 11 substrates versus 5. Library-wide the same comparison IS significant (OR 2.97, p = 3 x 10^-4). Report the direction, not a significant effect within the motif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9B</a:t>
            </a:r>
            <a:r>
              <a:rPr sz="1800" b="1">
                <a:solidFill>
                  <a:srgbClr val="0B0B0B"/>
                </a:solidFill>
                <a:latin typeface="Segoe UI"/>
              </a:rPr>
              <a:t>   ·   Substrate rate in each stability x motif cell</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B.png"/>
          <p:cNvPicPr>
            <a:picLocks noChangeAspect="1"/>
          </p:cNvPicPr>
          <p:nvPr/>
        </p:nvPicPr>
        <p:blipFill>
          <a:blip r:embed="rId2"/>
          <a:stretch>
            <a:fillRect/>
          </a:stretch>
        </p:blipFill>
        <p:spPr>
          <a:xfrm>
            <a:off x="457200" y="1388794"/>
            <a:ext cx="7086600" cy="485765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classification extended to all three motif groups. Each pair of bars is one motif group split by baseline stability; bar height is the percentage of peptides in that cell that are UBR3 substrates. Counts beneath each bar are substrates / peptides in the cell.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[P/G]-[E/D]: 13.41% (11/82) unstable, 5.15% (5/97) stable. [P/G]-other: 0.71% (9/1,261) and 0.15% (1/660). non-P/G: 0.30% (20/6,769) and 0.10% (8/7,645).</a:t>
            </a:r>
          </a:p>
          <a:p>
            <a:pPr algn="l">
              <a:spcBef>
                <a:spcPts val="900"/>
              </a:spcBef>
              <a:spcAft>
                <a:spcPts val="200"/>
              </a:spcAft>
            </a:pPr>
            <a:r>
              <a:rPr sz="900" b="1" i="0">
                <a:solidFill>
                  <a:srgbClr val="2A78D6"/>
                </a:solidFill>
                <a:latin typeface="Segoe UI"/>
              </a:rPr>
              <a:t>THE TWO EFFECTS ARE SEPARABLE</a:t>
            </a:r>
          </a:p>
          <a:p>
            <a:pPr algn="l">
              <a:spcBef>
                <a:spcPts val="0"/>
              </a:spcBef>
              <a:spcAft>
                <a:spcPts val="0"/>
              </a:spcAft>
            </a:pPr>
            <a:r>
              <a:rPr sz="1019" b="0" i="0">
                <a:solidFill>
                  <a:srgbClr val="52514E"/>
                </a:solidFill>
                <a:latin typeface="Segoe UI"/>
              </a:rPr>
              <a:t>Reading ACROSS groups, the motif multiplies the substrate rate by roughly 45-50x within either stability class - that is the large, highly significant effect. Reading WITHIN a pair, being unstable multiplies it by about 2.5-3x - a real but much smaller effect.</a:t>
            </a:r>
          </a:p>
          <a:p>
            <a:pPr algn="l">
              <a:spcBef>
                <a:spcPts val="900"/>
              </a:spcBef>
              <a:spcAft>
                <a:spcPts val="200"/>
              </a:spcAft>
            </a:pPr>
            <a:r>
              <a:rPr sz="900" b="1" i="0">
                <a:solidFill>
                  <a:srgbClr val="2A78D6"/>
                </a:solidFill>
                <a:latin typeface="Segoe UI"/>
              </a:rPr>
              <a:t>WHICH COMPARISONS ARE POWERED</a:t>
            </a:r>
          </a:p>
          <a:p>
            <a:pPr algn="l">
              <a:spcBef>
                <a:spcPts val="0"/>
              </a:spcBef>
              <a:spcAft>
                <a:spcPts val="0"/>
              </a:spcAft>
            </a:pPr>
            <a:r>
              <a:rPr sz="1019" b="0" i="0">
                <a:solidFill>
                  <a:srgbClr val="52514E"/>
                </a:solidFill>
                <a:latin typeface="Segoe UI"/>
              </a:rPr>
              <a:t>The motif comparison is significant in both strata (p = 2.5 x 10^-14 unstable, p = 3.3 x 10^-7 stable). The stability comparison is significant library-wide (OR 2.97, p = 3 x 10^-4) but NOT within any single motif group - within [P/G]-[E/D] it is OR 2.85, p = 0.067. Treat the within-pair differences as directional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9C</a:t>
            </a:r>
            <a:r>
              <a:rPr sz="1800" b="1">
                <a:solidFill>
                  <a:srgbClr val="0B0B0B"/>
                </a:solidFill>
                <a:latin typeface="Segoe UI"/>
              </a:rPr>
              <a:t>   ·   Every motif-bearing substrate gains stability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C.png"/>
          <p:cNvPicPr>
            <a:picLocks noChangeAspect="1"/>
          </p:cNvPicPr>
          <p:nvPr/>
        </p:nvPicPr>
        <p:blipFill>
          <a:blip r:embed="rId2"/>
          <a:stretch>
            <a:fillRect/>
          </a:stretch>
        </p:blipFill>
        <p:spPr>
          <a:xfrm>
            <a:off x="457200" y="1097280"/>
            <a:ext cx="6776917"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One arrow per motif-bearing substrate, running from its control PSI (dot) to its UBR3-KO PSI (arrowhead). Genes are sorted by starting PSI. Purple = starts unstable (below the dashed line at PSI 2.6), green = starts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All 16 arrows point right - every motif-bearing substrate gains stability when UBR3 is lost, with no exceptions. Nine of the 11 purple arrows cross the dashed line; the two that do not (ERMAP, UVRAG) start so low that even a substantial gain leaves them below it.</a:t>
            </a:r>
          </a:p>
          <a:p>
            <a:pPr algn="l">
              <a:spcBef>
                <a:spcPts val="900"/>
              </a:spcBef>
              <a:spcAft>
                <a:spcPts val="200"/>
              </a:spcAft>
            </a:pPr>
            <a:r>
              <a:rPr sz="900" b="1" i="0">
                <a:solidFill>
                  <a:srgbClr val="2A78D6"/>
                </a:solidFill>
                <a:latin typeface="Segoe UI"/>
              </a:rPr>
              <a:t>THE FIVE GREEN ONES</a:t>
            </a:r>
          </a:p>
          <a:p>
            <a:pPr algn="l">
              <a:spcBef>
                <a:spcPts val="0"/>
              </a:spcBef>
              <a:spcAft>
                <a:spcPts val="0"/>
              </a:spcAft>
            </a:pPr>
            <a:r>
              <a:rPr sz="1019" b="0" i="0">
                <a:solidFill>
                  <a:srgbClr val="52514E"/>
                </a:solidFill>
                <a:latin typeface="Segoe UI"/>
              </a:rPr>
              <a:t>MYLK, LPIN1, ATF7, THEG and SLC7A9 start ABOVE the line, so they are already relatively stable proteins - yet they still gain 0.57 to 0.93 PSI. They are genuinely UBR3-regulated; they simply had a higher starting point.</a:t>
            </a:r>
          </a:p>
          <a:p>
            <a:pPr algn="l">
              <a:spcBef>
                <a:spcPts val="900"/>
              </a:spcBef>
              <a:spcAft>
                <a:spcPts val="200"/>
              </a:spcAft>
            </a:pPr>
            <a:r>
              <a:rPr sz="900" b="1" i="0">
                <a:solidFill>
                  <a:srgbClr val="2A78D6"/>
                </a:solidFill>
                <a:latin typeface="Segoe UI"/>
              </a:rPr>
              <a:t>WHY THIS PANEL MATTERS</a:t>
            </a:r>
          </a:p>
          <a:p>
            <a:pPr algn="l">
              <a:spcBef>
                <a:spcPts val="0"/>
              </a:spcBef>
              <a:spcAft>
                <a:spcPts val="0"/>
              </a:spcAft>
            </a:pPr>
            <a:r>
              <a:rPr sz="1019" b="0" i="0">
                <a:solidFill>
                  <a:srgbClr val="52514E"/>
                </a:solidFill>
                <a:latin typeface="Segoe UI"/>
              </a:rPr>
              <a:t>It shows the stability classification does not sort substrates from non-substrates. It sorts substrates by where they begin. UBR3 dependence is present in both classes.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9D</a:t>
            </a:r>
            <a:r>
              <a:rPr sz="1800" b="1">
                <a:solidFill>
                  <a:srgbClr val="0B0B0B"/>
                </a:solidFill>
                <a:latin typeface="Segoe UI"/>
              </a:rPr>
              <a:t>   ·   Where the 179 motif-bearing peptides end up</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D.png"/>
          <p:cNvPicPr>
            <a:picLocks noChangeAspect="1"/>
          </p:cNvPicPr>
          <p:nvPr/>
        </p:nvPicPr>
        <p:blipFill>
          <a:blip r:embed="rId2"/>
          <a:stretch>
            <a:fillRect/>
          </a:stretch>
        </p:blipFill>
        <p:spPr>
          <a:xfrm>
            <a:off x="457200" y="1485425"/>
            <a:ext cx="7086600" cy="466439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classification as a simple count cascade. The top grey bar is all 179 motif-bearing peptides; beneath it the split into 82 unstable and 97 stable, each followed by the orange count of UBR3 substrates within that class.</a:t>
            </a:r>
          </a:p>
          <a:p>
            <a:pPr algn="l">
              <a:spcBef>
                <a:spcPts val="900"/>
              </a:spcBef>
              <a:spcAft>
                <a:spcPts val="200"/>
              </a:spcAft>
            </a:pPr>
            <a:r>
              <a:rPr sz="900" b="1" i="0">
                <a:solidFill>
                  <a:srgbClr val="2A78D6"/>
                </a:solidFill>
                <a:latin typeface="Segoe UI"/>
              </a:rPr>
              <a:t>THE NUMBERS TO QUOTE</a:t>
            </a:r>
          </a:p>
          <a:p>
            <a:pPr algn="l">
              <a:spcBef>
                <a:spcPts val="0"/>
              </a:spcBef>
              <a:spcAft>
                <a:spcPts val="0"/>
              </a:spcAft>
            </a:pPr>
            <a:r>
              <a:rPr sz="1019" b="0" i="0">
                <a:solidFill>
                  <a:srgbClr val="52514E"/>
                </a:solidFill>
                <a:latin typeface="Segoe UI"/>
              </a:rPr>
              <a:t>179 peptides carry [P/G]-[E/D]. 82 are unstable at baseline, of which 11 are UBR3 substrates. 97 are stable at baseline, of which 5 are substrates. 16 substrates in total, 163 non-substrates.</a:t>
            </a:r>
          </a:p>
          <a:p>
            <a:pPr algn="l">
              <a:spcBef>
                <a:spcPts val="900"/>
              </a:spcBef>
              <a:spcAft>
                <a:spcPts val="200"/>
              </a:spcAft>
            </a:pPr>
            <a:r>
              <a:rPr sz="900" b="1" i="0">
                <a:solidFill>
                  <a:srgbClr val="2A78D6"/>
                </a:solidFill>
                <a:latin typeface="Segoe UI"/>
              </a:rPr>
              <a:t>HOW TO READ IT IN THE MANUSCRIPT</a:t>
            </a:r>
          </a:p>
          <a:p>
            <a:pPr algn="l">
              <a:spcBef>
                <a:spcPts val="0"/>
              </a:spcBef>
              <a:spcAft>
                <a:spcPts val="0"/>
              </a:spcAft>
            </a:pPr>
            <a:r>
              <a:rPr sz="1019" b="0" i="0">
                <a:solidFill>
                  <a:srgbClr val="52514E"/>
                </a:solidFill>
                <a:latin typeface="Segoe UI"/>
              </a:rPr>
              <a:t>Roughly two thirds of the motif-bearing substrates (11 of 16) come from the unstable half of the library, but the stable half still contributes 5. Restricting attention to low-PSI peptides would therefore have missed nearly a third of them.</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two stability bars are siblings that sum to 179; each orange bar is a subset of the stability bar directly above it, not of the bar before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Positions 4-24: substrates vs non-substrates, both motif-bearing</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comparison that controls for the motif. Every other analysis contrasts the 54 substrates with the whole library, so positions 2-3 dominate. Here both groups carry M-[P/G]-[E/D], making positions 1-3 identical by construction, so anything that separates them must lie downstream. 16 substrates vs 163 non-substrates.</a:t>
            </a:r>
          </a:p>
        </p:txBody>
      </p:sp>
      <p:pic>
        <p:nvPicPr>
          <p:cNvPr id="5" name="Picture 4" descr="Figure10_downstream_of_motif.png"/>
          <p:cNvPicPr>
            <a:picLocks noChangeAspect="1"/>
          </p:cNvPicPr>
          <p:nvPr/>
        </p:nvPicPr>
        <p:blipFill>
          <a:blip r:embed="rId2"/>
          <a:stretch>
            <a:fillRect/>
          </a:stretch>
        </p:blipFill>
        <p:spPr>
          <a:xfrm>
            <a:off x="2640409" y="1993392"/>
            <a:ext cx="6910877"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10A</a:t>
            </a:r>
            <a:r>
              <a:rPr sz="1800" b="1">
                <a:solidFill>
                  <a:srgbClr val="0B0B0B"/>
                </a:solidFill>
                <a:latin typeface="Segoe UI"/>
              </a:rPr>
              <a:t>   ·   Chemical class by position, downstream of the motif</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A.png"/>
          <p:cNvPicPr>
            <a:picLocks noChangeAspect="1"/>
          </p:cNvPicPr>
          <p:nvPr/>
        </p:nvPicPr>
        <p:blipFill>
          <a:blip r:embed="rId2"/>
          <a:stretch>
            <a:fillRect/>
          </a:stretch>
        </p:blipFill>
        <p:spPr>
          <a:xfrm>
            <a:off x="1990494" y="1078992"/>
            <a:ext cx="8210707"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non-substrate) for each of the six chemical classes at each position from 4 to 24. Red = over-represented in the 16 motif-bearing substrates, blue = over-represented in the 163 motif-bearing non-substrates. A boxed cell with an asterisk passed FDR at q &lt; 0.05.</a:t>
            </a:r>
          </a:p>
          <a:p>
            <a:pPr algn="l">
              <a:spcBef>
                <a:spcPts val="900"/>
              </a:spcBef>
              <a:spcAft>
                <a:spcPts val="200"/>
              </a:spcAft>
            </a:pPr>
            <a:r>
              <a:rPr sz="850" b="1" i="0">
                <a:solidFill>
                  <a:srgbClr val="2A78D6"/>
                </a:solidFill>
                <a:latin typeface="Segoe UI"/>
              </a:rPr>
              <a:t>WHY THIS COMPARISON AND NOT THE EARLIER ONES</a:t>
            </a:r>
          </a:p>
          <a:p>
            <a:pPr algn="l">
              <a:spcBef>
                <a:spcPts val="0"/>
              </a:spcBef>
              <a:spcAft>
                <a:spcPts val="0"/>
              </a:spcAft>
            </a:pPr>
            <a:r>
              <a:rPr sz="960" b="0" i="0">
                <a:solidFill>
                  <a:srgbClr val="52514E"/>
                </a:solidFill>
                <a:latin typeface="Segoe UI"/>
              </a:rPr>
              <a:t>Every other figure compares substrates against the whole library, where positions 2 and 3 carry almost all the signal and swamp everything else. Here BOTH groups carry M-[P/G]-[E/D], so positions 1-3 are identical between them and cannot contribute. Any difference that appears is genuinely downstream.</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One cell of 126 survives correction: Basic at position 5, present in 50% of substrates (8/16) versus 9.8% of non-substrates (16/163), q = 0.026. Basic also trends up at positions 7, 8 and 14 without reaching significance individually - a coherent direction rather than scattered noise.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16 substrates, one peptide moves a cell by 6.25%, so individual cells are volatile. Read the repeated Basic signal across nearby positions, not any one square. Panel C tests that aggregate properly.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10B</a:t>
            </a:r>
            <a:r>
              <a:rPr sz="1800" b="1">
                <a:solidFill>
                  <a:srgbClr val="0B0B0B"/>
                </a:solidFill>
                <a:latin typeface="Segoe UI"/>
              </a:rPr>
              <a:t>   ·   No individual residue distinguishes them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B.png"/>
          <p:cNvPicPr>
            <a:picLocks noChangeAspect="1"/>
          </p:cNvPicPr>
          <p:nvPr/>
        </p:nvPicPr>
        <p:blipFill>
          <a:blip r:embed="rId2"/>
          <a:stretch>
            <a:fillRect/>
          </a:stretch>
        </p:blipFill>
        <p:spPr>
          <a:xfrm>
            <a:off x="457200" y="1237724"/>
            <a:ext cx="7086600" cy="515979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volcano over all 420 position x residue cells in the window: x is log2(substrate / non-substrate), y is -log10 of the Fisher exact p value. The dotted line is nominal p = 0.05. The four smallest p values are labelled by residue and position.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Nothing survives FDR - not one of the 420 cells. Only 11 reach even nominal p &lt; 0.05, which is FEWER than the ~21 you would expect by chance alone at that threshold. The strongest single cell is Arg at position 7 (37.5% vs 4.9%, p = 0.0004, q = 0.16).</a:t>
            </a:r>
          </a:p>
          <a:p>
            <a:pPr algn="l">
              <a:spcBef>
                <a:spcPts val="900"/>
              </a:spcBef>
              <a:spcAft>
                <a:spcPts val="200"/>
              </a:spcAft>
            </a:pPr>
            <a:r>
              <a:rPr sz="900" b="1" i="0">
                <a:solidFill>
                  <a:srgbClr val="2A78D6"/>
                </a:solidFill>
                <a:latin typeface="Segoe UI"/>
              </a:rPr>
              <a:t>THE CORRECT INTERPRETATION</a:t>
            </a:r>
          </a:p>
          <a:p>
            <a:pPr algn="l">
              <a:spcBef>
                <a:spcPts val="0"/>
              </a:spcBef>
              <a:spcAft>
                <a:spcPts val="0"/>
              </a:spcAft>
            </a:pPr>
            <a:r>
              <a:rPr sz="1019" b="0" i="0">
                <a:solidFill>
                  <a:srgbClr val="52514E"/>
                </a:solidFill>
                <a:latin typeface="Segoe UI"/>
              </a:rPr>
              <a:t>At the resolution of "which residue sits at which position", motif-bearing substrates and motif-bearing non-substrates are indistinguishable. There is no second sequence motif downstream waiting to be found - at least not one this dataset can detect with 16 substrates.</a:t>
            </a:r>
          </a:p>
          <a:p>
            <a:pPr algn="l">
              <a:spcBef>
                <a:spcPts val="900"/>
              </a:spcBef>
              <a:spcAft>
                <a:spcPts val="200"/>
              </a:spcAft>
            </a:pPr>
            <a:r>
              <a:rPr sz="900" b="1" i="0">
                <a:solidFill>
                  <a:srgbClr val="2A78D6"/>
                </a:solidFill>
                <a:latin typeface="Segoe UI"/>
              </a:rPr>
              <a:t>WHY THE ASYMMETRY</a:t>
            </a:r>
          </a:p>
          <a:p>
            <a:pPr algn="l">
              <a:spcBef>
                <a:spcPts val="0"/>
              </a:spcBef>
              <a:spcAft>
                <a:spcPts val="0"/>
              </a:spcAft>
            </a:pPr>
            <a:r>
              <a:rPr sz="1019" b="0" i="0">
                <a:solidFill>
                  <a:srgbClr val="52514E"/>
                </a:solidFill>
                <a:latin typeface="Segoe UI"/>
              </a:rPr>
              <a:t>Almost all points sit right of zero because a residue absent from all 16 substrates gives a bounded negative log ratio, while one enriched in a few gives a large positive one. That is a small-sample artefact of the axis, not a biological signal.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10C</a:t>
            </a:r>
            <a:r>
              <a:rPr sz="1800" b="1">
                <a:solidFill>
                  <a:srgbClr val="0B0B0B"/>
                </a:solidFill>
                <a:latin typeface="Segoe UI"/>
              </a:rPr>
              <a:t>   ·   Only basic residues differ, and only in aggregate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C.png"/>
          <p:cNvPicPr>
            <a:picLocks noChangeAspect="1"/>
          </p:cNvPicPr>
          <p:nvPr/>
        </p:nvPicPr>
        <p:blipFill>
          <a:blip r:embed="rId2"/>
          <a:stretch>
            <a:fillRect/>
          </a:stretch>
        </p:blipFill>
        <p:spPr>
          <a:xfrm>
            <a:off x="457200" y="1305684"/>
            <a:ext cx="7086600" cy="502387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For each chemical class, the mean number of residues of that class per peptide summed across all 21 downstream positions. Orange = the 16 substrates, grey = the 163 non-substrates. Error bars are SEM; the p value above each pair is Mann-Whitney on the per-peptide counts.</a:t>
            </a:r>
          </a:p>
          <a:p>
            <a:pPr algn="l">
              <a:spcBef>
                <a:spcPts val="900"/>
              </a:spcBef>
              <a:spcAft>
                <a:spcPts val="200"/>
              </a:spcAft>
            </a:pPr>
            <a:r>
              <a:rPr sz="900" b="1" i="0">
                <a:solidFill>
                  <a:srgbClr val="2A78D6"/>
                </a:solidFill>
                <a:latin typeface="Segoe UI"/>
              </a:rPr>
              <a:t>WHY AGGREGATE RATHER THAN PER POSITION</a:t>
            </a:r>
          </a:p>
          <a:p>
            <a:pPr algn="l">
              <a:spcBef>
                <a:spcPts val="0"/>
              </a:spcBef>
              <a:spcAft>
                <a:spcPts val="0"/>
              </a:spcAft>
            </a:pPr>
            <a:r>
              <a:rPr sz="1019" b="0" i="0">
                <a:solidFill>
                  <a:srgbClr val="52514E"/>
                </a:solidFill>
                <a:latin typeface="Segoe UI"/>
              </a:rPr>
              <a:t>Summing over 21 positions turns 21 underpowered tests into one well-powered one. If substrates carry more basic residues but at no fixed position, this is the only test that can see it - and panel B shows that is exactly the situation.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Basic residues: 4.19 per substrate versus 2.91 per non-substrate, p = 0.014. Every other class is flat: Acidic p = 0.12, Polar p = 0.11, Aromatic p = 0.14, Hydrophobic p = 0.33, Special p = 0.80.</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six tests are not FDR-corrected against each other; at q &lt; 0.05 across six, Basic would sit right at the boundary. The net-charge test in panel D is the stronger and more interpretable version of the same observation.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10D</a:t>
            </a:r>
            <a:r>
              <a:rPr sz="1800" b="1">
                <a:solidFill>
                  <a:srgbClr val="0B0B0B"/>
                </a:solidFill>
                <a:latin typeface="Segoe UI"/>
              </a:rPr>
              <a:t>   ·   Substrates carry a net positive charge downstream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D.png"/>
          <p:cNvPicPr>
            <a:picLocks noChangeAspect="1"/>
          </p:cNvPicPr>
          <p:nvPr/>
        </p:nvPicPr>
        <p:blipFill>
          <a:blip r:embed="rId2"/>
          <a:stretch>
            <a:fillRect/>
          </a:stretch>
        </p:blipFill>
        <p:spPr>
          <a:xfrm>
            <a:off x="457200" y="1097280"/>
            <a:ext cx="6805048"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Net charge summed over positions 4-24 for every peptide (Lys and Arg +1, Asp and Glu -1, His +0.1), substrates versus non-substrates. Boxes are median and quartiles; every individual peptide is overlaid as a dot.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Motif-bearing substrates average a net charge of +2.16 across the window; motif-bearing non-substrates average -0.22. Mann-Whitney p = 0.0021. This is the single strongest downstream difference in the whole comparison.</a:t>
            </a:r>
          </a:p>
          <a:p>
            <a:pPr algn="l">
              <a:spcBef>
                <a:spcPts val="900"/>
              </a:spcBef>
              <a:spcAft>
                <a:spcPts val="200"/>
              </a:spcAft>
            </a:pPr>
            <a:r>
              <a:rPr sz="900" b="1" i="0">
                <a:solidFill>
                  <a:srgbClr val="2A78D6"/>
                </a:solidFill>
                <a:latin typeface="Segoe UI"/>
              </a:rPr>
              <a:t>WHY IT IS THE BETTER STATISTIC</a:t>
            </a:r>
          </a:p>
          <a:p>
            <a:pPr algn="l">
              <a:spcBef>
                <a:spcPts val="0"/>
              </a:spcBef>
              <a:spcAft>
                <a:spcPts val="0"/>
              </a:spcAft>
            </a:pPr>
            <a:r>
              <a:rPr sz="1019" b="0" i="0">
                <a:solidFill>
                  <a:srgbClr val="52514E"/>
                </a:solidFill>
                <a:latin typeface="Segoe UI"/>
              </a:rPr>
              <a:t>It combines the basic enrichment and the acidic depletion - which individually reach p = 0.014 and p = 0.12 - into one physically meaningful quantity, and it needs no position-by-position testing at all.</a:t>
            </a:r>
          </a:p>
          <a:p>
            <a:pPr algn="l">
              <a:spcBef>
                <a:spcPts val="900"/>
              </a:spcBef>
              <a:spcAft>
                <a:spcPts val="200"/>
              </a:spcAft>
            </a:pPr>
            <a:r>
              <a:rPr sz="900" b="1" i="0">
                <a:solidFill>
                  <a:srgbClr val="2A78D6"/>
                </a:solidFill>
                <a:latin typeface="Segoe UI"/>
              </a:rPr>
              <a:t>HOW TO READ IT BIOLOGICALLY, AND CAREFULLY</a:t>
            </a:r>
          </a:p>
          <a:p>
            <a:pPr algn="l">
              <a:spcBef>
                <a:spcPts val="0"/>
              </a:spcBef>
              <a:spcAft>
                <a:spcPts val="0"/>
              </a:spcAft>
            </a:pPr>
            <a:r>
              <a:rPr sz="1019" b="0" i="0">
                <a:solidFill>
                  <a:srgbClr val="52514E"/>
                </a:solidFill>
                <a:latin typeface="Segoe UI"/>
              </a:rPr>
              <a:t>It is consistent with a positively charged region downstream of the degron contributing to recognition, which would fit a ligase engaging an acidic surface. But it rests on 16 peptides, the distributions overlap heavily, and it is an observational correlation in a reporter assay. It should be presented as a hypothesis worth testing, not an established requirement.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Class composition of the Pro/Gly substrates against the library</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stacked-composition view applied to the 26 substrates carrying Pro or Gly at position 2. Panel B supplies the P/G-matched background and C the whole library, so the position-2 selection can be separated from anything the substrates do differently.</a:t>
            </a:r>
          </a:p>
        </p:txBody>
      </p:sp>
      <p:pic>
        <p:nvPicPr>
          <p:cNvPr id="5" name="Picture 4" descr="Figure11_PG_substrates_vs_library.png"/>
          <p:cNvPicPr>
            <a:picLocks noChangeAspect="1"/>
          </p:cNvPicPr>
          <p:nvPr/>
        </p:nvPicPr>
        <p:blipFill>
          <a:blip r:embed="rId2"/>
          <a:stretch>
            <a:fillRect/>
          </a:stretch>
        </p:blipFill>
        <p:spPr>
          <a:xfrm>
            <a:off x="3906630" y="1993392"/>
            <a:ext cx="437843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11A</a:t>
            </a:r>
            <a:r>
              <a:rPr sz="1800" b="1">
                <a:solidFill>
                  <a:srgbClr val="0B0B0B"/>
                </a:solidFill>
                <a:latin typeface="Segoe UI"/>
              </a:rPr>
              <a:t>   ·   Class composition per position - the 26 Pro/Gly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the 26 P/G substrates whose residue at that position belongs to each chemical class.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(the invariant initiator Met) and position 2 entirely Special, because Pro/Gly at position 2 is the selection criterion - 14 Gly and 12 Pro. Position 3 is 42% Acidic. From position 4 the bars become an ordinary mixture.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THE RIGHT WAY TO READ IT</a:t>
            </a:r>
          </a:p>
          <a:p>
            <a:pPr algn="l">
              <a:spcBef>
                <a:spcPts val="0"/>
              </a:spcBef>
              <a:spcAft>
                <a:spcPts val="0"/>
              </a:spcAft>
            </a:pPr>
            <a:r>
              <a:rPr sz="960" b="0" i="0">
                <a:solidFill>
                  <a:srgbClr val="52514E"/>
                </a:solidFill>
                <a:latin typeface="Segoe UI"/>
              </a:rPr>
              <a:t>Positions 1 and 2 are constrained by definition and carry no information. The only place these substrates can reveal something is position 3 onward - compare against panel B, which has the identical position-2 constraint.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26 peptides one substrate is 3.8% of a bar, so bar-to-bar wobble after position 3 is sampling noise. Panel D applies the significance test.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11B</a:t>
            </a:r>
            <a:r>
              <a:rPr sz="1800" b="1">
                <a:solidFill>
                  <a:srgbClr val="0B0B0B"/>
                </a:solidFill>
                <a:latin typeface="Segoe UI"/>
              </a:rPr>
              <a:t>   ·   Class composition per position - the 2,100 P/G library peptides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calculation over every library peptide carrying Pro or Gly at position 2, regardless of UBR3 dependence. This is the motif-matched background.</a:t>
            </a:r>
          </a:p>
          <a:p>
            <a:pPr algn="l">
              <a:spcBef>
                <a:spcPts val="900"/>
              </a:spcBef>
              <a:spcAft>
                <a:spcPts val="200"/>
              </a:spcAft>
            </a:pPr>
            <a:r>
              <a:rPr sz="850" b="1" i="0">
                <a:solidFill>
                  <a:srgbClr val="2A78D6"/>
                </a:solidFill>
                <a:latin typeface="Segoe UI"/>
              </a:rPr>
              <a:t>WHY THIS IS THE RIGHT BACKGROUND</a:t>
            </a:r>
          </a:p>
          <a:p>
            <a:pPr algn="l">
              <a:spcBef>
                <a:spcPts val="0"/>
              </a:spcBef>
              <a:spcAft>
                <a:spcPts val="0"/>
              </a:spcAft>
            </a:pPr>
            <a:r>
              <a:rPr sz="960" b="0" i="0">
                <a:solidFill>
                  <a:srgbClr val="52514E"/>
                </a:solidFill>
                <a:latin typeface="Segoe UI"/>
              </a:rPr>
              <a:t>Comparing P/G substrates against the WHOLE library confounds two things: that they were selected for Pro/Gly, and whatever else makes them substrates. Holding position 2 fixed on both sides removes the first and leaves only the second.</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Positions 1 and 2 are constrained exactly as in panel A. From position 3 onward the composition is flat and typical - roughly 36% Hydrophobic, 22% Polar, 13% Special, 12% Basic, 10% Acidic, 7% Aromatic.</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Position 3 already carries a small Acidic bump here relative to the whole library, so even the matched background is not perfectly neutral at that position.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11C</a:t>
            </a:r>
            <a:r>
              <a:rPr sz="1800" b="1">
                <a:solidFill>
                  <a:srgbClr val="0B0B0B"/>
                </a:solidFill>
                <a:latin typeface="Segoe UI"/>
              </a:rPr>
              <a:t>   ·   Class composition per position - the whole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C.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All 16,514 library peptides, the global background. Included so the figure is self-contained and the effect of the position-2 selection is visible directly.</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Met. Position 2 is unconstrained here and looks like ordinary protein sequence, which is precisely the difference from panels A and B. Everything from position 3 onward is flat.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COMPARING A WITH C WOULD TELL YOU</a:t>
            </a:r>
          </a:p>
          <a:p>
            <a:pPr algn="l">
              <a:spcBef>
                <a:spcPts val="0"/>
              </a:spcBef>
              <a:spcAft>
                <a:spcPts val="0"/>
              </a:spcAft>
            </a:pPr>
            <a:r>
              <a:rPr sz="960" b="0" i="0">
                <a:solidFill>
                  <a:srgbClr val="52514E"/>
                </a:solidFill>
                <a:latin typeface="Segoe UI"/>
              </a:rPr>
              <a:t>It would show a huge Special signal at position 2 - but that is the selection criterion restated, not a finding. That is why panel D compares A with B instead.</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treat this panel as a fixed reference rather than an estimate.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11D</a:t>
            </a:r>
            <a:r>
              <a:rPr sz="1800" b="1">
                <a:solidFill>
                  <a:srgbClr val="0B0B0B"/>
                </a:solidFill>
                <a:latin typeface="Segoe UI"/>
              </a:rPr>
              <a:t>   ·   P/G substrates vs the P/G-matched library,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D.png"/>
          <p:cNvPicPr>
            <a:picLocks noChangeAspect="1"/>
          </p:cNvPicPr>
          <p:nvPr/>
        </p:nvPicPr>
        <p:blipFill>
          <a:blip r:embed="rId2"/>
          <a:stretch>
            <a:fillRect/>
          </a:stretch>
        </p:blipFill>
        <p:spPr>
          <a:xfrm>
            <a:off x="1933355" y="1078992"/>
            <a:ext cx="8324985"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log2(P/G substrates / P/G library) for every class at every position, with cells failing q &lt; 0.05 left beige. Fisher exact per cell, Benjamini-Hochberg across all 144.</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Exactly one cell survives: Acidic at position 3, log2 = +2.8. Once the position-2 selection is held constant on both sides, the acidic residue at position 3 is the ONLY single-position compositional feature separating the substrates from their own background.</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THIS MATTERS</a:t>
            </a:r>
          </a:p>
          <a:p>
            <a:pPr algn="l">
              <a:spcBef>
                <a:spcPts val="0"/>
              </a:spcBef>
              <a:spcAft>
                <a:spcPts val="0"/>
              </a:spcAft>
            </a:pPr>
            <a:r>
              <a:rPr sz="960" b="0" i="0">
                <a:solidFill>
                  <a:srgbClr val="52514E"/>
                </a:solidFill>
                <a:latin typeface="Segoe UI"/>
              </a:rPr>
              <a:t>It is the cleanest statement of the central result. Pro/Gly alone is not what makes a peptide a UBR3 substrate; among peptides that all carry Pro/Gly, only the acidic residue at position 3 distinguishes the ones that are.</a:t>
            </a:r>
          </a:p>
          <a:p>
            <a:pPr algn="l">
              <a:spcBef>
                <a:spcPts val="900"/>
              </a:spcBef>
              <a:spcAft>
                <a:spcPts val="200"/>
              </a:spcAft>
            </a:pPr>
            <a:r>
              <a:rPr sz="850" b="1" i="0">
                <a:solidFill>
                  <a:srgbClr val="2A78D6"/>
                </a:solidFill>
                <a:latin typeface="Segoe UI"/>
              </a:rPr>
              <a:t>THE LIMIT OF THE METHOD</a:t>
            </a:r>
          </a:p>
          <a:p>
            <a:pPr algn="l">
              <a:spcBef>
                <a:spcPts val="0"/>
              </a:spcBef>
              <a:spcAft>
                <a:spcPts val="0"/>
              </a:spcAft>
            </a:pPr>
            <a:r>
              <a:rPr sz="960" b="0" i="0">
                <a:solidFill>
                  <a:srgbClr val="52514E"/>
                </a:solidFill>
                <a:latin typeface="Segoe UI"/>
              </a:rPr>
              <a:t>This tests composition one position at a time. It cannot see a property distributed across many positions - and there is one: the downstream net-charge difference in the 10 series, which this panel is blind to by construction.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Pro/Gly substrates versus Pro/Gly non-substrates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cleanest motif-controlled comparison in the package. Both groups carry Pro or Gly at position 2, and unlike the 11 series the two groups are mutually exclusive - the background does not contain the substrates. 26 against 2,074.</a:t>
            </a:r>
          </a:p>
        </p:txBody>
      </p:sp>
      <p:pic>
        <p:nvPicPr>
          <p:cNvPr id="5" name="Picture 4" descr="Figure12_PG_substrates_vs_nonsubstrates.png"/>
          <p:cNvPicPr>
            <a:picLocks noChangeAspect="1"/>
          </p:cNvPicPr>
          <p:nvPr/>
        </p:nvPicPr>
        <p:blipFill>
          <a:blip r:embed="rId2"/>
          <a:stretch>
            <a:fillRect/>
          </a:stretch>
        </p:blipFill>
        <p:spPr>
          <a:xfrm>
            <a:off x="4445605" y="1993392"/>
            <a:ext cx="3300484"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12A</a:t>
            </a:r>
            <a:r>
              <a:rPr sz="1800" b="1">
                <a:solidFill>
                  <a:srgbClr val="0B0B0B"/>
                </a:solidFill>
                <a:latin typeface="Segoe UI"/>
              </a:rPr>
              <a:t>   ·   Class composition per position - the 26 P/G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the 26 P/G UBR3 substrates whose residue at that position falls in each chemical class.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all Hydrophobic (initiator Met), position 2 all Special (Pro or Gly, the selection criterion), and position 3 is 62% Acidic. From position 4 the bars become an ordinary mixture.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COMPARE WITH PANEL B</a:t>
            </a:r>
          </a:p>
          <a:p>
            <a:pPr algn="l">
              <a:spcBef>
                <a:spcPts val="0"/>
              </a:spcBef>
              <a:spcAft>
                <a:spcPts val="0"/>
              </a:spcAft>
            </a:pPr>
            <a:r>
              <a:rPr sz="960" b="0" i="0">
                <a:solidFill>
                  <a:srgbClr val="52514E"/>
                </a:solidFill>
                <a:latin typeface="Segoe UI"/>
              </a:rPr>
              <a:t>Panel B is the identical calculation on the 2,074 P/G peptides that are NOT substrates. Because both groups are constrained at position 2, any difference between the two panels is about UBR3 dependence, not about Pro/Gly.</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One substrate is 3.8% of a bar. Treat position-by-position wobble after position 3 as noise; panels C and D apply the tests.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12B</a:t>
            </a:r>
            <a:r>
              <a:rPr sz="1800" b="1">
                <a:solidFill>
                  <a:srgbClr val="0B0B0B"/>
                </a:solidFill>
                <a:latin typeface="Segoe UI"/>
              </a:rPr>
              <a:t>   ·   Class composition per position - the 2,074 P/G non-substrates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Every library peptide with Pro or Gly at position 2 that is NOT a UBR3 substrate - the matched comparison group for panel A.</a:t>
            </a:r>
          </a:p>
          <a:p>
            <a:pPr algn="l">
              <a:spcBef>
                <a:spcPts val="900"/>
              </a:spcBef>
              <a:spcAft>
                <a:spcPts val="200"/>
              </a:spcAft>
            </a:pPr>
            <a:r>
              <a:rPr sz="850" b="1" i="0">
                <a:solidFill>
                  <a:srgbClr val="2A78D6"/>
                </a:solidFill>
                <a:latin typeface="Segoe UI"/>
              </a:rPr>
              <a:t>WHY THIS DIFFERS FROM THE 11 SERIES</a:t>
            </a:r>
          </a:p>
          <a:p>
            <a:pPr algn="l">
              <a:spcBef>
                <a:spcPts val="0"/>
              </a:spcBef>
              <a:spcAft>
                <a:spcPts val="0"/>
              </a:spcAft>
            </a:pPr>
            <a:r>
              <a:rPr sz="960" b="0" i="0">
                <a:solidFill>
                  <a:srgbClr val="52514E"/>
                </a:solidFill>
                <a:latin typeface="Segoe UI"/>
              </a:rPr>
              <a:t>There the background was all 2,100 P/G library peptides, which INCLUDES the 26 substrates. Here the two groups are mutually exclusive, which is the cleaner contrast and slightly sharpens every estimate.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Positions 1 and 2 are constrained exactly as in panel A. Position 3 is only 8% Acidic - against 62% in the substrates. Everything from position 4 onward is flat and typical.</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2,074 this panel is precisely estimated, so essentially all of the visible difference between A and B comes from sampling error in A, not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12C</a:t>
            </a:r>
            <a:r>
              <a:rPr sz="1800" b="1">
                <a:solidFill>
                  <a:srgbClr val="0B0B0B"/>
                </a:solidFill>
                <a:latin typeface="Segoe UI"/>
              </a:rPr>
              <a:t>   ·   Class enrichment, substrates vs non-substrates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C.png"/>
          <p:cNvPicPr>
            <a:picLocks noChangeAspect="1"/>
          </p:cNvPicPr>
          <p:nvPr/>
        </p:nvPicPr>
        <p:blipFill>
          <a:blip r:embed="rId2"/>
          <a:stretch>
            <a:fillRect/>
          </a:stretch>
        </p:blipFill>
        <p:spPr>
          <a:xfrm>
            <a:off x="1465623" y="1078992"/>
            <a:ext cx="9260448"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log2(substrate / non-substrate) for each chemical class at each position, with cells failing q &lt; 0.05 left beige. Fisher exact per cell, Benjamini-Hochberg across all 144.</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One cell survives out of 144: Acidic at position 3, log2 = +2.9, q = 1.5 x 10^-9. Not one of the other 143 cells reaches significance.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THE CLAIM THIS SUPPORTS</a:t>
            </a:r>
          </a:p>
          <a:p>
            <a:pPr algn="l">
              <a:spcBef>
                <a:spcPts val="0"/>
              </a:spcBef>
              <a:spcAft>
                <a:spcPts val="0"/>
              </a:spcAft>
            </a:pPr>
            <a:r>
              <a:rPr sz="960" b="0" i="0">
                <a:solidFill>
                  <a:srgbClr val="52514E"/>
                </a:solidFill>
                <a:latin typeface="Segoe UI"/>
              </a:rPr>
              <a:t>Among peptides that all carry Pro/Gly at position 2, the acidic residue at position 3 is the only chemical-class feature that separates UBR3 substrates from non-substrates. It is the sharpest single statement of the motif result.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This tests one position at a time and is blind to properties spread across many positions. Panel E supplies that view and does find one.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12D</a:t>
            </a:r>
            <a:r>
              <a:rPr sz="1800" b="1">
                <a:solidFill>
                  <a:srgbClr val="0B0B0B"/>
                </a:solidFill>
                <a:latin typeface="Segoe UI"/>
              </a:rPr>
              <a:t>   ·   Residue enrichment, substrates vs non-substrates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D.png"/>
          <p:cNvPicPr>
            <a:picLocks noChangeAspect="1"/>
          </p:cNvPicPr>
          <p:nvPr/>
        </p:nvPicPr>
        <p:blipFill>
          <a:blip r:embed="rId2"/>
          <a:stretch>
            <a:fillRect/>
          </a:stretch>
        </p:blipFill>
        <p:spPr>
          <a:xfrm>
            <a:off x="457200" y="1458959"/>
            <a:ext cx="7086600" cy="471732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comparison at the level of individual amino acids: all 480 position x residue cells, FDR-corrected across the whole matrix, non-significant cells left beige. Rows are grouped by chemical class.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Three cells survive. Asp at position 3 (log2 +3.5, q = 5 x 10^-5), Glu at position 3 (+2.6, q = 0.034), and Arg at position 7 (+2.1, q = 0.034).</a:t>
            </a:r>
          </a:p>
          <a:p>
            <a:pPr algn="l">
              <a:spcBef>
                <a:spcPts val="900"/>
              </a:spcBef>
              <a:spcAft>
                <a:spcPts val="200"/>
              </a:spcAft>
            </a:pPr>
            <a:r>
              <a:rPr sz="900" b="1" i="0">
                <a:solidFill>
                  <a:srgbClr val="2A78D6"/>
                </a:solidFill>
                <a:latin typeface="Segoe UI"/>
              </a:rPr>
              <a:t>THE ARG-7 SIGNAL, FINALLY ON SOLID GROUND</a:t>
            </a:r>
          </a:p>
          <a:p>
            <a:pPr algn="l">
              <a:spcBef>
                <a:spcPts val="0"/>
              </a:spcBef>
              <a:spcAft>
                <a:spcPts val="0"/>
              </a:spcAft>
            </a:pPr>
            <a:r>
              <a:rPr sz="1019" b="0" i="0">
                <a:solidFill>
                  <a:srgbClr val="52514E"/>
                </a:solidFill>
                <a:latin typeface="Segoe UI"/>
              </a:rPr>
              <a:t>Arg at position 7 appeared earlier as a borderline hit against the whole library and then failed FDR inside the 179 motif-bearing peptides. In this better-powered, motif-matched comparison it survives correction. It is still one cell out of 480 and needs experimental follow-up, but it is no longer dismissible as noise.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Asp and Glu at position 3 are partly the definition of the [P/G]-[E/D] motif, so their appearance here confirms the motif rather than adding to it. Arg-7 is the genuinely new observation.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12E</a:t>
            </a:r>
            <a:r>
              <a:rPr sz="1800" b="1">
                <a:solidFill>
                  <a:srgbClr val="0B0B0B"/>
                </a:solidFill>
                <a:latin typeface="Segoe UI"/>
              </a:rPr>
              <a:t>   ·   Downstream aggregate: only basic residues differ</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E.png"/>
          <p:cNvPicPr>
            <a:picLocks noChangeAspect="1"/>
          </p:cNvPicPr>
          <p:nvPr/>
        </p:nvPicPr>
        <p:blipFill>
          <a:blip r:embed="rId2"/>
          <a:stretch>
            <a:fillRect/>
          </a:stretch>
        </p:blipFill>
        <p:spPr>
          <a:xfrm>
            <a:off x="457200" y="1416555"/>
            <a:ext cx="7086600" cy="4802129"/>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Mean number of residues of each chemical class per peptide, summed over positions 4-24 only. Orange = the 26 substrates, grey = the 2,074 non-substrates, error bars are SEM, p from Mann-Whitney on per-peptide counts.</a:t>
            </a:r>
          </a:p>
          <a:p>
            <a:pPr algn="l">
              <a:spcBef>
                <a:spcPts val="900"/>
              </a:spcBef>
              <a:spcAft>
                <a:spcPts val="200"/>
              </a:spcAft>
            </a:pPr>
            <a:r>
              <a:rPr sz="900" b="1" i="0">
                <a:solidFill>
                  <a:srgbClr val="2A78D6"/>
                </a:solidFill>
                <a:latin typeface="Segoe UI"/>
              </a:rPr>
              <a:t>WHY AGGREGATE</a:t>
            </a:r>
          </a:p>
          <a:p>
            <a:pPr algn="l">
              <a:spcBef>
                <a:spcPts val="0"/>
              </a:spcBef>
              <a:spcAft>
                <a:spcPts val="0"/>
              </a:spcAft>
            </a:pPr>
            <a:r>
              <a:rPr sz="1019" b="0" i="0">
                <a:solidFill>
                  <a:srgbClr val="52514E"/>
                </a:solidFill>
                <a:latin typeface="Segoe UI"/>
              </a:rPr>
              <a:t>A property spread thinly across 21 positions never concentrates enough in any single cell to survive 480 tests - panel D is blind to it by construction. Summing first converts 21 underpowered tests into one well-powered one.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Basic residues: 3.92 per substrate versus 2.80 per non-substrate, p = 0.002. Net charge over the same window: +1.73 versus +0.36, p = 0.0075. Hydrophobic trends down (5.85 vs 6.92, p = 0.072); Acidic, Polar, Aromatic and Special are flat.</a:t>
            </a:r>
          </a:p>
          <a:p>
            <a:pPr algn="l">
              <a:spcBef>
                <a:spcPts val="900"/>
              </a:spcBef>
              <a:spcAft>
                <a:spcPts val="200"/>
              </a:spcAft>
            </a:pPr>
            <a:r>
              <a:rPr sz="900" b="1" i="0">
                <a:solidFill>
                  <a:srgbClr val="2A78D6"/>
                </a:solidFill>
                <a:latin typeface="Segoe UI"/>
              </a:rPr>
              <a:t>HOW TO READ IT</a:t>
            </a:r>
          </a:p>
          <a:p>
            <a:pPr algn="l">
              <a:spcBef>
                <a:spcPts val="0"/>
              </a:spcBef>
              <a:spcAft>
                <a:spcPts val="0"/>
              </a:spcAft>
            </a:pPr>
            <a:r>
              <a:rPr sz="1019" b="0" i="0">
                <a:solidFill>
                  <a:srgbClr val="52514E"/>
                </a:solidFill>
                <a:latin typeface="Segoe UI"/>
              </a:rPr>
              <a:t>Two separable features. A hard positional requirement at position 3 (panels C and D), and a soft distributed preference for positive charge downstream. The second is a hypothesis worth testing by charge-swap mutants, not an established requirement.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Summary of conclusions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THE REVIEWER ASKED FOR</a:t>
            </a:r>
          </a:p>
          <a:p>
            <a:pPr algn="l">
              <a:spcBef>
                <a:spcPts val="0"/>
              </a:spcBef>
              <a:spcAft>
                <a:spcPts val="0"/>
              </a:spcAft>
            </a:pPr>
            <a:r>
              <a:rPr sz="1040" b="0" i="0">
                <a:solidFill>
                  <a:srgbClr val="52514E"/>
                </a:solidFill>
                <a:latin typeface="Segoe UI"/>
              </a:rPr>
              <a:t>A clean table of the candidate UBR3 substrates with functional annotation, presented alongside the peptides that carry the [P/G]-[E/D] feature but show no stabilisation - and evidence that only a subset of Pro-/Gly-initiated peptides is UBR3-regulated.</a:t>
            </a:r>
          </a:p>
          <a:p>
            <a:pPr algn="l">
              <a:spcBef>
                <a:spcPts val="900"/>
              </a:spcBef>
              <a:spcAft>
                <a:spcPts val="200"/>
              </a:spcAft>
            </a:pPr>
            <a:r>
              <a:rPr sz="950" b="1" i="0">
                <a:solidFill>
                  <a:srgbClr val="2A78D6"/>
                </a:solidFill>
                <a:latin typeface="Segoe UI"/>
              </a:rPr>
              <a:t>THE ANSWER, IN ONE LINE</a:t>
            </a:r>
          </a:p>
          <a:p>
            <a:pPr algn="l">
              <a:spcBef>
                <a:spcPts val="0"/>
              </a:spcBef>
              <a:spcAft>
                <a:spcPts val="0"/>
              </a:spcAft>
            </a:pPr>
            <a:r>
              <a:rPr sz="1040" b="0" i="0">
                <a:solidFill>
                  <a:srgbClr val="52514E"/>
                </a:solidFill>
                <a:latin typeface="Segoe UI"/>
              </a:rPr>
              <a:t>The motif enriches for UBR3 substrates 27-fold (q = 3 x 10^-18, odds ratio 50 versus non-P/G), yet 163 of the 179 library peptides carrying it (91%) are not stabilised when UBR3 is lost. Necessary, but plainly not sufficient.</a:t>
            </a:r>
          </a:p>
          <a:p>
            <a:pPr algn="l">
              <a:spcBef>
                <a:spcPts val="900"/>
              </a:spcBef>
              <a:spcAft>
                <a:spcPts val="200"/>
              </a:spcAft>
            </a:pPr>
            <a:r>
              <a:rPr sz="950" b="1" i="0">
                <a:solidFill>
                  <a:srgbClr val="2A78D6"/>
                </a:solidFill>
                <a:latin typeface="Segoe UI"/>
              </a:rPr>
              <a:t>WHAT CARRIES THE SPECIFICITY</a:t>
            </a:r>
          </a:p>
          <a:p>
            <a:pPr algn="l">
              <a:spcBef>
                <a:spcPts val="0"/>
              </a:spcBef>
              <a:spcAft>
                <a:spcPts val="0"/>
              </a:spcAft>
            </a:pPr>
            <a:r>
              <a:rPr sz="1040" b="0" i="0">
                <a:solidFill>
                  <a:srgbClr val="52514E"/>
                </a:solidFill>
                <a:latin typeface="Segoe UI"/>
              </a:rPr>
              <a:t>Not Pro/Gly on its own. Bare Pro/Gly raises the substrate rate only from 0.19% to 0.52%; adding the acidic residue at position 3 raises it to 8.94%. Asp at position 3 is the single strongest cell in the entire dataset (q = 0.002).</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HOW LOCALISED THE SIGNAL IS</a:t>
            </a:r>
          </a:p>
          <a:p>
            <a:pPr algn="l">
              <a:spcBef>
                <a:spcPts val="0"/>
              </a:spcBef>
              <a:spcAft>
                <a:spcPts val="0"/>
              </a:spcAft>
            </a:pPr>
            <a:r>
              <a:rPr sz="1040" b="0" i="0">
                <a:solidFill>
                  <a:srgbClr val="52514E"/>
                </a:solidFill>
                <a:latin typeface="Segoe UI"/>
              </a:rPr>
              <a:t>Of 480 position x residue cells tested across the whole 24-mer, four survive FDR correction: Pro and Gly at position 2, Asp at position 3, and Arg at position 7 (borderline, q = 0.04). Whole-peptide composition is indistinguishable from the library.</a:t>
            </a:r>
          </a:p>
          <a:p>
            <a:pPr algn="l">
              <a:spcBef>
                <a:spcPts val="900"/>
              </a:spcBef>
              <a:spcAft>
                <a:spcPts val="200"/>
              </a:spcAft>
            </a:pPr>
            <a:r>
              <a:rPr sz="950" b="1" i="0">
                <a:solidFill>
                  <a:srgbClr val="2A78D6"/>
                </a:solidFill>
                <a:latin typeface="Segoe UI"/>
              </a:rPr>
              <a:t>THE CONTROL THAT CLOSES THE LOOP</a:t>
            </a:r>
          </a:p>
          <a:p>
            <a:pPr algn="l">
              <a:spcBef>
                <a:spcPts val="0"/>
              </a:spcBef>
              <a:spcAft>
                <a:spcPts val="0"/>
              </a:spcAft>
            </a:pPr>
            <a:r>
              <a:rPr sz="1040" b="0" i="0">
                <a:solidFill>
                  <a:srgbClr val="52514E"/>
                </a:solidFill>
                <a:latin typeface="Segoe UI"/>
              </a:rPr>
              <a:t>The motif is evenly distributed across baseline-stability strata (1.01% vs 1.15%) yet gives the same odds ratio within each (52 and 52), and holds at OR 52.8 in a cutoff-free logistic regression adjusting for control PSI. The enrichment is not a by-product of Pro/Gly N-termini being intrinsically unstable.</a:t>
            </a:r>
          </a:p>
          <a:p>
            <a:pPr algn="l">
              <a:spcBef>
                <a:spcPts val="900"/>
              </a:spcBef>
              <a:spcAft>
                <a:spcPts val="200"/>
              </a:spcAft>
            </a:pPr>
            <a:r>
              <a:rPr sz="950" b="1" i="0">
                <a:solidFill>
                  <a:srgbClr val="2A78D6"/>
                </a:solidFill>
                <a:latin typeface="Segoe UI"/>
              </a:rPr>
              <a:t>THE NUANCE WORTH KEEPING</a:t>
            </a:r>
          </a:p>
          <a:p>
            <a:pPr algn="l">
              <a:spcBef>
                <a:spcPts val="0"/>
              </a:spcBef>
              <a:spcAft>
                <a:spcPts val="0"/>
              </a:spcAft>
            </a:pPr>
            <a:r>
              <a:rPr sz="1040" b="0" i="0">
                <a:solidFill>
                  <a:srgbClr val="52514E"/>
                </a:solidFill>
                <a:latin typeface="Segoe UI"/>
              </a:rPr>
              <a:t>Motif-bearing peptides that never made the substrate list still cross the stability line at twice background. Substrate status is the top of a continuum rather than a separate category, which is a more accurate framing than a hard necessary/sufficient dichotomy.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