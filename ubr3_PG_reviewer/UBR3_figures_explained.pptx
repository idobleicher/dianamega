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822960" y="1874519"/>
            <a:ext cx="1463040" cy="317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1463040"/>
          </a:xfrm>
          <a:prstGeom prst="rect">
            <a:avLst/>
          </a:prstGeom>
          <a:noFill/>
        </p:spPr>
        <p:txBody>
          <a:bodyPr wrap="square" anchor="t" lIns="0" rIns="0" tIns="0" bIns="0">
            <a:spAutoFit/>
          </a:bodyPr>
          <a:lstStyle/>
          <a:p>
            <a:pPr algn="l">
              <a:spcBef>
                <a:spcPts val="0"/>
              </a:spcBef>
              <a:spcAft>
                <a:spcPts val="600"/>
              </a:spcAft>
            </a:pPr>
            <a:r>
              <a:rPr sz="3000" b="1" i="0">
                <a:solidFill>
                  <a:srgbClr val="0B0B0B"/>
                </a:solidFill>
                <a:latin typeface="Segoe UI"/>
              </a:rPr>
              <a:t>UBR3 N24mer screen</a:t>
            </a:r>
          </a:p>
          <a:p>
            <a:pPr algn="l">
              <a:spcBef>
                <a:spcPts val="0"/>
              </a:spcBef>
              <a:spcAft>
                <a:spcPts val="0"/>
              </a:spcAft>
            </a:pPr>
            <a:r>
              <a:rPr sz="3000" b="1" i="0">
                <a:solidFill>
                  <a:srgbClr val="2A78D6"/>
                </a:solidFill>
                <a:latin typeface="Segoe UI"/>
              </a:rPr>
              <a:t>Pro/Gly N-termini and the [P/G]-[E/D] motif</a:t>
            </a:r>
          </a:p>
        </p:txBody>
      </p:sp>
      <p:sp>
        <p:nvSpPr>
          <p:cNvPr id="4" name="TextBox 3"/>
          <p:cNvSpPr txBox="1"/>
          <p:nvPr/>
        </p:nvSpPr>
        <p:spPr>
          <a:xfrm>
            <a:off x="822960" y="3749039"/>
            <a:ext cx="9509760" cy="1828800"/>
          </a:xfrm>
          <a:prstGeom prst="rect">
            <a:avLst/>
          </a:prstGeom>
          <a:noFill/>
        </p:spPr>
        <p:txBody>
          <a:bodyPr wrap="square" anchor="t" lIns="0" rIns="0" tIns="0" bIns="0">
            <a:spAutoFit/>
          </a:bodyPr>
          <a:lstStyle/>
          <a:p>
            <a:pPr algn="l">
              <a:spcBef>
                <a:spcPts val="0"/>
              </a:spcBef>
              <a:spcAft>
                <a:spcPts val="1000"/>
              </a:spcAft>
            </a:pPr>
            <a:r>
              <a:rPr sz="1400" b="0" i="0">
                <a:solidFill>
                  <a:srgbClr val="52514E"/>
                </a:solidFill>
                <a:latin typeface="Segoe UI"/>
              </a:rPr>
              <a:t>Every figure panel on its own slide, with a detailed explanation of what is plotted, how it was computed, what it shows, and what to watch out for.</a:t>
            </a:r>
          </a:p>
          <a:p>
            <a:pPr algn="l">
              <a:spcBef>
                <a:spcPts val="0"/>
              </a:spcBef>
              <a:spcAft>
                <a:spcPts val="400"/>
              </a:spcAft>
            </a:pPr>
            <a:r>
              <a:rPr sz="1100" b="0" i="0">
                <a:solidFill>
                  <a:srgbClr val="898781"/>
                </a:solidFill>
                <a:latin typeface="Segoe UI"/>
              </a:rPr>
              <a:t>29 panels across 8 figures  ·  Source: Supplemental Data 1.xlsx  ·  Companion workbook: UBR3_PG_substrate_tables.xlsx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0" rIns="0" tIns="0" bIns="0">
            <a:spAutoFit/>
          </a:bodyPr>
          <a:lstStyle/>
          <a:p>
            <a:pPr algn="l">
              <a:spcBef>
                <a:spcPts val="0"/>
              </a:spcBef>
              <a:spcAft>
                <a:spcPts val="400"/>
              </a:spcAft>
            </a:pPr>
            <a:r>
              <a:rPr sz="2200" b="1" i="0">
                <a:solidFill>
                  <a:srgbClr val="0B0B0B"/>
                </a:solidFill>
                <a:latin typeface="Segoe UI"/>
              </a:rPr>
              <a:t>Definitions and methods</a:t>
            </a:r>
          </a:p>
        </p:txBody>
      </p:sp>
      <p:sp>
        <p:nvSpPr>
          <p:cNvPr id="3" name="Rectangle 2"/>
          <p:cNvSpPr/>
          <p:nvPr/>
        </p:nvSpPr>
        <p:spPr>
          <a:xfrm>
            <a:off x="640080" y="932688"/>
            <a:ext cx="1188720" cy="317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5303520" cy="52120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THE ASSAY</a:t>
            </a:r>
          </a:p>
          <a:p>
            <a:pPr algn="l">
              <a:spcBef>
                <a:spcPts val="0"/>
              </a:spcBef>
              <a:spcAft>
                <a:spcPts val="0"/>
              </a:spcAft>
            </a:pPr>
            <a:r>
              <a:rPr sz="980" b="0" i="0">
                <a:solidFill>
                  <a:srgbClr val="52514E"/>
                </a:solidFill>
                <a:latin typeface="Segoe UI"/>
              </a:rPr>
              <a:t>GPS (Global Protein Stability). Each of 16,514 human N-terminal 24-mers is fused to a fluorescent reporter, cells are FACS-sorted into 4 stability bins, and the bin distribution of each peptide is read out by Illumina sequencing.</a:t>
            </a:r>
          </a:p>
          <a:p>
            <a:pPr algn="l">
              <a:spcBef>
                <a:spcPts val="900"/>
              </a:spcBef>
              <a:spcAft>
                <a:spcPts val="200"/>
              </a:spcAft>
            </a:pPr>
            <a:r>
              <a:rPr sz="900" b="1" i="0">
                <a:solidFill>
                  <a:srgbClr val="2A78D6"/>
                </a:solidFill>
                <a:latin typeface="Segoe UI"/>
              </a:rPr>
              <a:t>PSI</a:t>
            </a:r>
          </a:p>
          <a:p>
            <a:pPr algn="l">
              <a:spcBef>
                <a:spcPts val="0"/>
              </a:spcBef>
              <a:spcAft>
                <a:spcPts val="0"/>
              </a:spcAft>
            </a:pPr>
            <a:r>
              <a:rPr sz="980" b="0" i="0">
                <a:solidFill>
                  <a:srgbClr val="52514E"/>
                </a:solidFill>
                <a:latin typeface="Segoe UI"/>
              </a:rPr>
              <a:t>Protein Stability Index - the read-weighted mean bin, running ~1 to 4. Higher = more stable. "Control PSI" is the mean of the two control-KO replicates.</a:t>
            </a:r>
          </a:p>
          <a:p>
            <a:pPr algn="l">
              <a:spcBef>
                <a:spcPts val="900"/>
              </a:spcBef>
              <a:spcAft>
                <a:spcPts val="200"/>
              </a:spcAft>
            </a:pPr>
            <a:r>
              <a:rPr sz="900" b="1" i="0">
                <a:solidFill>
                  <a:srgbClr val="2A78D6"/>
                </a:solidFill>
                <a:latin typeface="Segoe UI"/>
              </a:rPr>
              <a:t>ΔPSI</a:t>
            </a:r>
          </a:p>
          <a:p>
            <a:pPr algn="l">
              <a:spcBef>
                <a:spcPts val="0"/>
              </a:spcBef>
              <a:spcAft>
                <a:spcPts val="0"/>
              </a:spcAft>
            </a:pPr>
            <a:r>
              <a:rPr sz="980" b="0" i="0">
                <a:solidFill>
                  <a:srgbClr val="52514E"/>
                </a:solidFill>
                <a:latin typeface="Segoe UI"/>
              </a:rPr>
              <a:t>PSI(UBR3 KO) minus PSI(control KO). Positive means the peptide becomes more stable when UBR3 is lost, i.e. UBR3 normally destabilises it. Two independent replicates.</a:t>
            </a:r>
          </a:p>
          <a:p>
            <a:pPr algn="l">
              <a:spcBef>
                <a:spcPts val="900"/>
              </a:spcBef>
              <a:spcAft>
                <a:spcPts val="200"/>
              </a:spcAft>
            </a:pPr>
            <a:r>
              <a:rPr sz="900" b="1" i="0">
                <a:solidFill>
                  <a:srgbClr val="2A78D6"/>
                </a:solidFill>
                <a:latin typeface="Segoe UI"/>
              </a:rPr>
              <a:t>THE SUBSTRATE SET</a:t>
            </a:r>
          </a:p>
          <a:p>
            <a:pPr algn="l">
              <a:spcBef>
                <a:spcPts val="0"/>
              </a:spcBef>
              <a:spcAft>
                <a:spcPts val="0"/>
              </a:spcAft>
            </a:pPr>
            <a:r>
              <a:rPr sz="980" b="0" i="0">
                <a:solidFill>
                  <a:srgbClr val="52514E"/>
                </a:solidFill>
                <a:latin typeface="Segoe UI"/>
              </a:rPr>
              <a:t>The 54 peptides in sheet (B) of Supplemental Data 1 are the candidate UBR3 substrates, used verbatim everywhere in this deck. Any library peptide not among those 54 is treated as not stabilised.</a:t>
            </a:r>
          </a:p>
          <a:p>
            <a:pPr algn="l">
              <a:spcBef>
                <a:spcPts val="900"/>
              </a:spcBef>
              <a:spcAft>
                <a:spcPts val="200"/>
              </a:spcAft>
            </a:pPr>
            <a:r>
              <a:rPr sz="900" b="1" i="0">
                <a:solidFill>
                  <a:srgbClr val="2A78D6"/>
                </a:solidFill>
                <a:latin typeface="Segoe UI"/>
              </a:rPr>
              <a:t>INITIATOR-MET EXCISION</a:t>
            </a:r>
          </a:p>
          <a:p>
            <a:pPr algn="l">
              <a:spcBef>
                <a:spcPts val="0"/>
              </a:spcBef>
              <a:spcAft>
                <a:spcPts val="0"/>
              </a:spcAft>
            </a:pPr>
            <a:r>
              <a:rPr sz="980" b="0" i="0">
                <a:solidFill>
                  <a:srgbClr val="52514E"/>
                </a:solidFill>
                <a:latin typeface="Segoe UI"/>
              </a:rPr>
              <a:t>Position 1 is Met in 100% of the library. MetAP removes it when position 2 has a small side chain (A, C, G, P, S, T, V), so position 2 becomes the residue actually exposed at the N-terminus. Excision at Met-Pro is less efficient than at Met-Gly, so the call is a prediction for Pro-starting peptides.</a:t>
            </a:r>
          </a:p>
        </p:txBody>
      </p:sp>
      <p:sp>
        <p:nvSpPr>
          <p:cNvPr id="5" name="TextBox 4"/>
          <p:cNvSpPr txBox="1"/>
          <p:nvPr/>
        </p:nvSpPr>
        <p:spPr>
          <a:xfrm>
            <a:off x="6355080" y="1234440"/>
            <a:ext cx="5303520" cy="52120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THE MOTIF UNDER TEST</a:t>
            </a:r>
          </a:p>
          <a:p>
            <a:pPr algn="l">
              <a:spcBef>
                <a:spcPts val="0"/>
              </a:spcBef>
              <a:spcAft>
                <a:spcPts val="0"/>
              </a:spcAft>
            </a:pPr>
            <a:r>
              <a:rPr sz="980" b="0" i="0">
                <a:solidFill>
                  <a:srgbClr val="52514E"/>
                </a:solidFill>
                <a:latin typeface="Segoe UI"/>
              </a:rPr>
              <a:t>[P/G]-[E/D] means Pro or Gly at position 2 AND Asp or Glu at position 3 - a Pro/Gly-initiated N-terminus immediately followed by an acidic residue. "[P/G]-other" carries Pro/Gly without the acidic residue; "non-P/G" is everything else.</a:t>
            </a:r>
          </a:p>
          <a:p>
            <a:pPr algn="l">
              <a:spcBef>
                <a:spcPts val="900"/>
              </a:spcBef>
              <a:spcAft>
                <a:spcPts val="200"/>
              </a:spcAft>
            </a:pPr>
            <a:r>
              <a:rPr sz="900" b="1" i="0">
                <a:solidFill>
                  <a:srgbClr val="2A78D6"/>
                </a:solidFill>
                <a:latin typeface="Segoe UI"/>
              </a:rPr>
              <a:t>BASELINE STRATA</a:t>
            </a:r>
          </a:p>
          <a:p>
            <a:pPr algn="l">
              <a:spcBef>
                <a:spcPts val="0"/>
              </a:spcBef>
              <a:spcAft>
                <a:spcPts val="0"/>
              </a:spcAft>
            </a:pPr>
            <a:r>
              <a:rPr sz="980" b="0" i="0">
                <a:solidFill>
                  <a:srgbClr val="52514E"/>
                </a:solidFill>
                <a:latin typeface="Segoe UI"/>
              </a:rPr>
              <a:t>Control PSI &lt; 2.6 = unstable at baseline (8,112 peptides); &gt;= 2.6 = already stable (8,402). The cut is the antimode of the control-PSI density, not a round number. Figure 8 shows nothing depends on this choice.</a:t>
            </a:r>
          </a:p>
          <a:p>
            <a:pPr algn="l">
              <a:spcBef>
                <a:spcPts val="900"/>
              </a:spcBef>
              <a:spcAft>
                <a:spcPts val="200"/>
              </a:spcAft>
            </a:pPr>
            <a:r>
              <a:rPr sz="900" b="1" i="0">
                <a:solidFill>
                  <a:srgbClr val="2A78D6"/>
                </a:solidFill>
                <a:latin typeface="Segoe UI"/>
              </a:rPr>
              <a:t>AMINO-ACID CLASSES</a:t>
            </a:r>
          </a:p>
          <a:p>
            <a:pPr algn="l">
              <a:spcBef>
                <a:spcPts val="0"/>
              </a:spcBef>
              <a:spcAft>
                <a:spcPts val="0"/>
              </a:spcAft>
            </a:pPr>
            <a:r>
              <a:rPr sz="980" b="0" i="0">
                <a:solidFill>
                  <a:srgbClr val="52514E"/>
                </a:solidFill>
                <a:latin typeface="Segoe UI"/>
              </a:rPr>
              <a:t>Acidic D,E | Basic K,R,H | Polar S,T,N,Q,C | Hydrophobic A,V,L,I,M | Aromatic F,W,Y | Special G,P.</a:t>
            </a:r>
          </a:p>
          <a:p>
            <a:pPr algn="l">
              <a:spcBef>
                <a:spcPts val="900"/>
              </a:spcBef>
              <a:spcAft>
                <a:spcPts val="200"/>
              </a:spcAft>
            </a:pPr>
            <a:r>
              <a:rPr sz="900" b="1" i="0">
                <a:solidFill>
                  <a:srgbClr val="2A78D6"/>
                </a:solidFill>
                <a:latin typeface="Segoe UI"/>
              </a:rPr>
              <a:t>STATISTICS</a:t>
            </a:r>
          </a:p>
          <a:p>
            <a:pPr algn="l">
              <a:spcBef>
                <a:spcPts val="0"/>
              </a:spcBef>
              <a:spcAft>
                <a:spcPts val="0"/>
              </a:spcAft>
            </a:pPr>
            <a:r>
              <a:rPr sz="980" b="0" i="0">
                <a:solidFill>
                  <a:srgbClr val="52514E"/>
                </a:solidFill>
                <a:latin typeface="Segoe UI"/>
              </a:rPr>
              <a:t>Two-sided Fisher exact throughout, with Benjamini-Hochberg FDR applied across the residues, classes or cells tested in each analysis. Group ΔPSI comparisons use the two-sided Mann-Whitney U test. Proportion error bars are Wilson 95% intervals.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40080" y="384048"/>
            <a:ext cx="10972800" cy="502920"/>
          </a:xfrm>
          <a:prstGeom prst="rect">
            <a:avLst/>
          </a:prstGeom>
          <a:noFill/>
        </p:spPr>
        <p:txBody>
          <a:bodyPr wrap="square" anchor="t" lIns="0" rIns="0" tIns="0" bIns="0">
            <a:spAutoFit/>
          </a:bodyPr>
          <a:lstStyle/>
          <a:p>
            <a:pPr algn="l">
              <a:spcBef>
                <a:spcPts val="0"/>
              </a:spcBef>
              <a:spcAft>
                <a:spcPts val="400"/>
              </a:spcAft>
            </a:pPr>
            <a:r>
              <a:rPr sz="2000" b="1" i="0">
                <a:solidFill>
                  <a:srgbClr val="0B0B0B"/>
                </a:solidFill>
                <a:latin typeface="Segoe UI"/>
              </a:rPr>
              <a:t>Figure 1 | Pro/Gly N-termini and the [P/G]-[E/D] motif in the screen</a:t>
            </a:r>
          </a:p>
        </p:txBody>
      </p:sp>
      <p:sp>
        <p:nvSpPr>
          <p:cNvPr id="3" name="Rectangle 2"/>
          <p:cNvSpPr/>
          <p:nvPr/>
        </p:nvSpPr>
        <p:spPr>
          <a:xfrm>
            <a:off x="640080" y="914400"/>
            <a:ext cx="1188720" cy="317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822960"/>
          </a:xfrm>
          <a:prstGeom prst="rect">
            <a:avLst/>
          </a:prstGeom>
          <a:noFill/>
        </p:spPr>
        <p:txBody>
          <a:bodyPr wrap="square" anchor="t" lIns="0" rIns="0" tIns="0" bIns="0">
            <a:spAutoFit/>
          </a:bodyPr>
          <a:lstStyle/>
          <a:p>
            <a:pPr algn="l">
              <a:spcBef>
                <a:spcPts val="0"/>
              </a:spcBef>
              <a:spcAft>
                <a:spcPts val="400"/>
              </a:spcAft>
            </a:pPr>
            <a:r>
              <a:rPr sz="1250" b="0" i="0">
                <a:solidFill>
                  <a:srgbClr val="52514E"/>
                </a:solidFill>
                <a:latin typeface="Segoe UI"/>
              </a:rPr>
              <a:t>Establishes the basic observation: Pro and Gly at position 2 are the only residues enriched among UBR3 substrates, and adding an acidic residue at position 3 sharpens that enrichment enormously. Panels A-B characterise position 2; C-D show what the motif buys you.</a:t>
            </a:r>
          </a:p>
        </p:txBody>
      </p:sp>
      <p:pic>
        <p:nvPicPr>
          <p:cNvPr id="5" name="Picture 4" descr="Figure1_PG_landscape.png"/>
          <p:cNvPicPr>
            <a:picLocks noChangeAspect="1"/>
          </p:cNvPicPr>
          <p:nvPr/>
        </p:nvPicPr>
        <p:blipFill>
          <a:blip r:embed="rId2"/>
          <a:stretch>
            <a:fillRect/>
          </a:stretch>
        </p:blipFill>
        <p:spPr>
          <a:xfrm>
            <a:off x="3292186" y="1993392"/>
            <a:ext cx="5607322" cy="4343400"/>
          </a:xfrm>
          <a:prstGeom prst="rect">
            <a:avLst/>
          </a:prstGeom>
        </p:spPr>
      </p:pic>
      <p:sp>
        <p:nvSpPr>
          <p:cNvPr id="6" name="TextBox 5"/>
          <p:cNvSpPr txBox="1"/>
          <p:nvPr/>
        </p:nvSpPr>
        <p:spPr>
          <a:xfrm>
            <a:off x="640080" y="6446520"/>
            <a:ext cx="10972800" cy="274320"/>
          </a:xfrm>
          <a:prstGeom prst="rect">
            <a:avLst/>
          </a:prstGeom>
          <a:noFill/>
        </p:spPr>
        <p:txBody>
          <a:bodyPr wrap="square" anchor="t" lIns="0" rIns="0" tIns="0" bIns="0">
            <a:spAutoFit/>
          </a:bodyPr>
          <a:lstStyle/>
          <a:p>
            <a:pPr algn="l">
              <a:spcBef>
                <a:spcPts val="0"/>
              </a:spcBef>
              <a:spcAft>
                <a:spcPts val="400"/>
              </a:spcAft>
            </a:pPr>
            <a:r>
              <a:rPr sz="950" b="0" i="1">
                <a:solidFill>
                  <a:srgbClr val="898781"/>
                </a:solidFill>
                <a:latin typeface="Segoe UI"/>
              </a:rPr>
              <a:t>The composed figure. The following slides show each panel full size.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1A</a:t>
            </a:r>
            <a:r>
              <a:rPr sz="1800" b="1">
                <a:solidFill>
                  <a:srgbClr val="0B0B0B"/>
                </a:solidFill>
                <a:latin typeface="Segoe UI"/>
              </a:rPr>
              <a:t>   ·   Position 2 is Pro/Gly in half the substrates</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A.png"/>
          <p:cNvPicPr>
            <a:picLocks noChangeAspect="1"/>
          </p:cNvPicPr>
          <p:nvPr/>
        </p:nvPicPr>
        <p:blipFill>
          <a:blip r:embed="rId2"/>
          <a:stretch>
            <a:fillRect/>
          </a:stretch>
        </p:blipFill>
        <p:spPr>
          <a:xfrm>
            <a:off x="457200" y="1097280"/>
            <a:ext cx="6489063" cy="5440680"/>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Each of the 20 amino acids as a pair of horizontal bars: grey = its frequency at position 2 across all 16,514 library peptides, blue = its frequency among the 54 UBR3 substrates. Rows are ordered by library frequency, so the grey bars descend. The two shaded rows are Pro and Gly.</a:t>
            </a:r>
          </a:p>
          <a:p>
            <a:pPr algn="l">
              <a:spcBef>
                <a:spcPts val="900"/>
              </a:spcBef>
              <a:spcAft>
                <a:spcPts val="200"/>
              </a:spcAft>
            </a:pPr>
            <a:r>
              <a:rPr sz="900" b="1" i="0">
                <a:solidFill>
                  <a:srgbClr val="2A78D6"/>
                </a:solidFill>
                <a:latin typeface="Segoe UI"/>
              </a:rPr>
              <a:t>WHY POSITION 2</a:t>
            </a:r>
          </a:p>
          <a:p>
            <a:pPr algn="l">
              <a:spcBef>
                <a:spcPts val="0"/>
              </a:spcBef>
              <a:spcAft>
                <a:spcPts val="0"/>
              </a:spcAft>
            </a:pPr>
            <a:r>
              <a:rPr sz="1019" b="0" i="0">
                <a:solidFill>
                  <a:srgbClr val="52514E"/>
                </a:solidFill>
                <a:latin typeface="Segoe UI"/>
              </a:rPr>
              <a:t>Position 1 is Met in every peptide. When position 2 carries a small side chain, MetAP clips the initiator Met and position 2 becomes the residue actually exposed at the N-terminus - which is what an N-degron pathway would read.</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Pro and Gly together account for 12.7% of the library but 48% of the substrates (26% Gly + 22% Pro). Alanine shows the opposite pattern: it is the single most common residue at position 2 in the library (21%) yet appears in only 6% of substrates.</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These are raw frequencies, not a significance test. Because the library base rates differ so much between residues, judge enrichment from panel B, not from bar length here.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1B</a:t>
            </a:r>
            <a:r>
              <a:rPr sz="1800" b="1">
                <a:solidFill>
                  <a:srgbClr val="0B0B0B"/>
                </a:solidFill>
                <a:latin typeface="Segoe UI"/>
              </a:rPr>
              <a:t>   ·   Pro and Gly are the only enriched residues at position 2</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B.png"/>
          <p:cNvPicPr>
            <a:picLocks noChangeAspect="1"/>
          </p:cNvPicPr>
          <p:nvPr/>
        </p:nvPicPr>
        <p:blipFill>
          <a:blip r:embed="rId2"/>
          <a:stretch>
            <a:fillRect/>
          </a:stretch>
        </p:blipFill>
        <p:spPr>
          <a:xfrm>
            <a:off x="457200" y="1097280"/>
            <a:ext cx="6454978" cy="5440680"/>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log2 fold enrichment of each residue at position 2 in substrates versus the library, sorted from most depleted to most enriched. Blue bars point right (enriched), red bars point left (depleted). The label on each bar gives the number of substrates carrying that residue, with asterisks when the FDR-corrected q value clears 0.05.</a:t>
            </a:r>
          </a:p>
          <a:p>
            <a:pPr algn="l">
              <a:spcBef>
                <a:spcPts val="900"/>
              </a:spcBef>
              <a:spcAft>
                <a:spcPts val="200"/>
              </a:spcAft>
            </a:pPr>
            <a:r>
              <a:rPr sz="900" b="1" i="0">
                <a:solidFill>
                  <a:srgbClr val="2A78D6"/>
                </a:solidFill>
                <a:latin typeface="Segoe UI"/>
              </a:rPr>
              <a:t>HOW IT WAS COMPUTED</a:t>
            </a:r>
          </a:p>
          <a:p>
            <a:pPr algn="l">
              <a:spcBef>
                <a:spcPts val="0"/>
              </a:spcBef>
              <a:spcAft>
                <a:spcPts val="0"/>
              </a:spcAft>
            </a:pPr>
            <a:r>
              <a:rPr sz="1019" b="0" i="0">
                <a:solidFill>
                  <a:srgbClr val="52514E"/>
                </a:solidFill>
                <a:latin typeface="Segoe UI"/>
              </a:rPr>
              <a:t>A two-sided Fisher exact test per residue - substrates carrying it versus not, against the library carrying it versus not - followed by Benjamini-Hochberg correction across all 20 tests.</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Only three residues survive correction. Pro is enriched 4.3-fold (q = 3.4 x 10^-4) and Gly 3.4-fold (q = 3.7 x 10^-4). Alanine is significantly DEPLETED at 0.27-fold (q = 0.025). Everything else, including Thr and Gln which look elevated, is non-significant once the 20 tests are accounted for.</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Bars with n = 1 or 2 substrates carry almost no information; their apparent depletion is driven by small numbers and none of them reach significance.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1C</a:t>
            </a:r>
            <a:r>
              <a:rPr sz="1800" b="1">
                <a:solidFill>
                  <a:srgbClr val="0B0B0B"/>
                </a:solidFill>
                <a:latin typeface="Segoe UI"/>
              </a:rPr>
              <a:t>   ·   From 16,514 peptides down to 16 motif-bearing substrates</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C.png"/>
          <p:cNvPicPr>
            <a:picLocks noChangeAspect="1"/>
          </p:cNvPicPr>
          <p:nvPr/>
        </p:nvPicPr>
        <p:blipFill>
          <a:blip r:embed="rId2"/>
          <a:stretch>
            <a:fillRect/>
          </a:stretch>
        </p:blipFill>
        <p:spPr>
          <a:xfrm>
            <a:off x="457200" y="1295342"/>
            <a:ext cx="7086600" cy="5044556"/>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A nested funnel on a log10 x-axis. Each bar is a strict subset of the bar above it, so the counts only ever shrink. The italic label between bars gives the percentage retained at that step.</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The full library is 16,514 peptides. Requiring Pro or Gly at position 2 keeps 2,100 (12.7%). Additionally requiring Asp or Glu at position 3 collapses that to 179 (8.5% of the P/G set, about 1% of the library). Of those 179, 16 are UBR3 substrates.</a:t>
            </a:r>
          </a:p>
          <a:p>
            <a:pPr algn="l">
              <a:spcBef>
                <a:spcPts val="900"/>
              </a:spcBef>
              <a:spcAft>
                <a:spcPts val="200"/>
              </a:spcAft>
            </a:pPr>
            <a:r>
              <a:rPr sz="900" b="1" i="0">
                <a:solidFill>
                  <a:srgbClr val="2A78D6"/>
                </a:solidFill>
                <a:latin typeface="Segoe UI"/>
              </a:rPr>
              <a:t>WHY IT MATTERS</a:t>
            </a:r>
          </a:p>
          <a:p>
            <a:pPr algn="l">
              <a:spcBef>
                <a:spcPts val="0"/>
              </a:spcBef>
              <a:spcAft>
                <a:spcPts val="0"/>
              </a:spcAft>
            </a:pPr>
            <a:r>
              <a:rPr sz="1019" b="0" i="0">
                <a:solidFill>
                  <a:srgbClr val="52514E"/>
                </a:solidFill>
                <a:latin typeface="Segoe UI"/>
              </a:rPr>
              <a:t>It shows how specific the motif is as a filter: roughly one library peptide in a hundred carries it. That rarity is what makes the enrichment in panel D so large.</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The log scale compresses the differences - the top bar is 1,000x the bottom one. Read the printed numbers, not the bar lengths, and note that the final 8.9% is the substrate hit rate, not another sequence filter.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1D</a:t>
            </a:r>
            <a:r>
              <a:rPr sz="1800" b="1">
                <a:solidFill>
                  <a:srgbClr val="0B0B0B"/>
                </a:solidFill>
                <a:latin typeface="Segoe UI"/>
              </a:rPr>
              <a:t>   ·   The acidic residue at position 3 is what matters</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D.png"/>
          <p:cNvPicPr>
            <a:picLocks noChangeAspect="1"/>
          </p:cNvPicPr>
          <p:nvPr/>
        </p:nvPicPr>
        <p:blipFill>
          <a:blip r:embed="rId2"/>
          <a:stretch>
            <a:fillRect/>
          </a:stretch>
        </p:blipFill>
        <p:spPr>
          <a:xfrm>
            <a:off x="457200" y="1113062"/>
            <a:ext cx="7086599" cy="5409116"/>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The percentage of peptides in each motif class that are UBR3 substrates. Error bars are Wilson 95% confidence intervals; the counts below each bar give substrates over group size.</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The gradient is steep and monotonic: 8.94% for [P/G]-[E/D] (16 of 179), 0.52% for [P/G]-other (10 of 1,921), and 0.19% for non-P/G (28 of 14,414). The bracket reports the Fisher test comparing the two ends: odds ratio 50.4, p = 4.1 x 10^-20.</a:t>
            </a:r>
          </a:p>
          <a:p>
            <a:pPr algn="l">
              <a:spcBef>
                <a:spcPts val="900"/>
              </a:spcBef>
              <a:spcAft>
                <a:spcPts val="200"/>
              </a:spcAft>
            </a:pPr>
            <a:r>
              <a:rPr sz="900" b="1" i="0">
                <a:solidFill>
                  <a:srgbClr val="2A78D6"/>
                </a:solidFill>
                <a:latin typeface="Segoe UI"/>
              </a:rPr>
              <a:t>THE KEY INFERENCE</a:t>
            </a:r>
          </a:p>
          <a:p>
            <a:pPr algn="l">
              <a:spcBef>
                <a:spcPts val="0"/>
              </a:spcBef>
              <a:spcAft>
                <a:spcPts val="0"/>
              </a:spcAft>
            </a:pPr>
            <a:r>
              <a:rPr sz="1019" b="0" i="0">
                <a:solidFill>
                  <a:srgbClr val="52514E"/>
                </a:solidFill>
                <a:latin typeface="Segoe UI"/>
              </a:rPr>
              <a:t>Pro/Gly alone raises the substrate rate only from 0.19% to 0.52%. Adding the acidic residue at position 3 raises it to 8.94% - a further 17-fold jump. The acidic residue, not the Pro/Gly by itself, is what carries UBR3 dependence.</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The [P/G]-[E/D] confidence interval is wide (roughly 5.6% to 14%) because it rests on only 16 substrates. The ordering of the three groups is solid; the exact 8.94% is not precise.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40080" y="384048"/>
            <a:ext cx="10972800" cy="502920"/>
          </a:xfrm>
          <a:prstGeom prst="rect">
            <a:avLst/>
          </a:prstGeom>
          <a:noFill/>
        </p:spPr>
        <p:txBody>
          <a:bodyPr wrap="square" anchor="t" lIns="0" rIns="0" tIns="0" bIns="0">
            <a:spAutoFit/>
          </a:bodyPr>
          <a:lstStyle/>
          <a:p>
            <a:pPr algn="l">
              <a:spcBef>
                <a:spcPts val="0"/>
              </a:spcBef>
              <a:spcAft>
                <a:spcPts val="400"/>
              </a:spcAft>
            </a:pPr>
            <a:r>
              <a:rPr sz="2000" b="1" i="0">
                <a:solidFill>
                  <a:srgbClr val="0B0B0B"/>
                </a:solidFill>
                <a:latin typeface="Segoe UI"/>
              </a:rPr>
              <a:t>Figure 2 | The motif is necessary but not sufficient</a:t>
            </a:r>
          </a:p>
        </p:txBody>
      </p:sp>
      <p:sp>
        <p:nvSpPr>
          <p:cNvPr id="3" name="Rectangle 2"/>
          <p:cNvSpPr/>
          <p:nvPr/>
        </p:nvSpPr>
        <p:spPr>
          <a:xfrm>
            <a:off x="640080" y="914400"/>
            <a:ext cx="1188720" cy="317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822960"/>
          </a:xfrm>
          <a:prstGeom prst="rect">
            <a:avLst/>
          </a:prstGeom>
          <a:noFill/>
        </p:spPr>
        <p:txBody>
          <a:bodyPr wrap="square" anchor="t" lIns="0" rIns="0" tIns="0" bIns="0">
            <a:spAutoFit/>
          </a:bodyPr>
          <a:lstStyle/>
          <a:p>
            <a:pPr algn="l">
              <a:spcBef>
                <a:spcPts val="0"/>
              </a:spcBef>
              <a:spcAft>
                <a:spcPts val="400"/>
              </a:spcAft>
            </a:pPr>
            <a:r>
              <a:rPr sz="1250" b="0" i="0">
                <a:solidFill>
                  <a:srgbClr val="52514E"/>
                </a:solidFill>
                <a:latin typeface="Segoe UI"/>
              </a:rPr>
              <a:t>The reviewer's central point, argued four ways. The [P/G]-[E/D] motif enriches for substrates 27-fold, yet 163 of the 179 peptides carrying it are not stabilised at all. The motif biases stability without determining it.</a:t>
            </a:r>
          </a:p>
        </p:txBody>
      </p:sp>
      <p:pic>
        <p:nvPicPr>
          <p:cNvPr id="5" name="Picture 4" descr="Figure2_motif_necessary_not_sufficient.png"/>
          <p:cNvPicPr>
            <a:picLocks noChangeAspect="1"/>
          </p:cNvPicPr>
          <p:nvPr/>
        </p:nvPicPr>
        <p:blipFill>
          <a:blip r:embed="rId2"/>
          <a:stretch>
            <a:fillRect/>
          </a:stretch>
        </p:blipFill>
        <p:spPr>
          <a:xfrm>
            <a:off x="3228692" y="1993392"/>
            <a:ext cx="5734311" cy="4343400"/>
          </a:xfrm>
          <a:prstGeom prst="rect">
            <a:avLst/>
          </a:prstGeom>
        </p:spPr>
      </p:pic>
      <p:sp>
        <p:nvSpPr>
          <p:cNvPr id="6" name="TextBox 5"/>
          <p:cNvSpPr txBox="1"/>
          <p:nvPr/>
        </p:nvSpPr>
        <p:spPr>
          <a:xfrm>
            <a:off x="640080" y="6446520"/>
            <a:ext cx="10972800" cy="274320"/>
          </a:xfrm>
          <a:prstGeom prst="rect">
            <a:avLst/>
          </a:prstGeom>
          <a:noFill/>
        </p:spPr>
        <p:txBody>
          <a:bodyPr wrap="square" anchor="t" lIns="0" rIns="0" tIns="0" bIns="0">
            <a:spAutoFit/>
          </a:bodyPr>
          <a:lstStyle/>
          <a:p>
            <a:pPr algn="l">
              <a:spcBef>
                <a:spcPts val="0"/>
              </a:spcBef>
              <a:spcAft>
                <a:spcPts val="400"/>
              </a:spcAft>
            </a:pPr>
            <a:r>
              <a:rPr sz="950" b="0" i="1">
                <a:solidFill>
                  <a:srgbClr val="898781"/>
                </a:solidFill>
                <a:latin typeface="Segoe UI"/>
              </a:rPr>
              <a:t>The composed figure. The following slides show each panel full size.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2A</a:t>
            </a:r>
            <a:r>
              <a:rPr sz="1800" b="1">
                <a:solidFill>
                  <a:srgbClr val="0B0B0B"/>
                </a:solidFill>
                <a:latin typeface="Segoe UI"/>
              </a:rPr>
              <a:t>   ·   163 of 179 motif-bearing peptides are not stabilised</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2A.png"/>
          <p:cNvPicPr>
            <a:picLocks noChangeAspect="1"/>
          </p:cNvPicPr>
          <p:nvPr/>
        </p:nvPicPr>
        <p:blipFill>
          <a:blip r:embed="rId2"/>
          <a:stretch>
            <a:fillRect/>
          </a:stretch>
        </p:blipFill>
        <p:spPr>
          <a:xfrm>
            <a:off x="457200" y="1440736"/>
            <a:ext cx="7086600" cy="4753767"/>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Every one of the 179 library peptides carrying [P/G]-[E/D], one bar each, ranked left to right by mean ΔPSI. Orange bars are the 16 that are UBR3 substrates; grey bars are the 163 that are not.</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A short orange head and a very long grey tail. The motif-bearing peptides span the whole ΔPSI range, from +1.63 down to -0.57 - some are actually destabilised when UBR3 is lost. Carrying the motif tells you very little about what an individual peptide will do.</a:t>
            </a:r>
          </a:p>
          <a:p>
            <a:pPr algn="l">
              <a:spcBef>
                <a:spcPts val="900"/>
              </a:spcBef>
              <a:spcAft>
                <a:spcPts val="200"/>
              </a:spcAft>
            </a:pPr>
            <a:r>
              <a:rPr sz="900" b="1" i="0">
                <a:solidFill>
                  <a:srgbClr val="2A78D6"/>
                </a:solidFill>
                <a:latin typeface="Segoe UI"/>
              </a:rPr>
              <a:t>WHY IT ANSWERS THE REVIEWER</a:t>
            </a:r>
          </a:p>
          <a:p>
            <a:pPr algn="l">
              <a:spcBef>
                <a:spcPts val="0"/>
              </a:spcBef>
              <a:spcAft>
                <a:spcPts val="0"/>
              </a:spcAft>
            </a:pPr>
            <a:r>
              <a:rPr sz="1019" b="0" i="0">
                <a:solidFill>
                  <a:srgbClr val="52514E"/>
                </a:solidFill>
                <a:latin typeface="Segoe UI"/>
              </a:rPr>
              <a:t>This is the most direct possible answer to "only a subset of Pro-/Gly-initiated peptides are UBR3-regulated". 91% of motif-bearing peptides show no stabilisation whatsoever.</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Orange and grey bars interleave near the top: some non-substrates have a higher mean ΔPSI than some substrates. Substrate status is the published call, not a pure rank on this axis, so the two orderings are not identical.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2B</a:t>
            </a:r>
            <a:r>
              <a:rPr sz="1800" b="1">
                <a:solidFill>
                  <a:srgbClr val="0B0B0B"/>
                </a:solidFill>
                <a:latin typeface="Segoe UI"/>
              </a:rPr>
              <a:t>   ·   The whole motif class shifts, but only slightly</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2B.png"/>
          <p:cNvPicPr>
            <a:picLocks noChangeAspect="1"/>
          </p:cNvPicPr>
          <p:nvPr/>
        </p:nvPicPr>
        <p:blipFill>
          <a:blip r:embed="rId2"/>
          <a:stretch>
            <a:fillRect/>
          </a:stretch>
        </p:blipFill>
        <p:spPr>
          <a:xfrm>
            <a:off x="457200" y="1187114"/>
            <a:ext cx="7086600" cy="5261012"/>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Empirical cumulative distribution functions of mean ΔPSI, one curve per motif class. For any x value the curve height is the fraction of that group at or below it. A curve sitting further right means a group that is more stabilised overall.</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The [P/G]-[E/D] curve (orange) sits to the right of the other two across most of the range: median ΔPSI 0.140 versus 0.066 for non-P/G, Mann-Whitney p = 2.9 x 10^-8. But the three curves overlap almost completely - the shift is real and highly significant, yet small.</a:t>
            </a:r>
          </a:p>
          <a:p>
            <a:pPr algn="l">
              <a:spcBef>
                <a:spcPts val="900"/>
              </a:spcBef>
              <a:spcAft>
                <a:spcPts val="200"/>
              </a:spcAft>
            </a:pPr>
            <a:r>
              <a:rPr sz="900" b="1" i="0">
                <a:solidFill>
                  <a:srgbClr val="2A78D6"/>
                </a:solidFill>
                <a:latin typeface="Segoe UI"/>
              </a:rPr>
              <a:t>THE NUANCE WORTH STATING</a:t>
            </a:r>
          </a:p>
          <a:p>
            <a:pPr algn="l">
              <a:spcBef>
                <a:spcPts val="0"/>
              </a:spcBef>
              <a:spcAft>
                <a:spcPts val="0"/>
              </a:spcAft>
            </a:pPr>
            <a:r>
              <a:rPr sz="1019" b="0" i="0">
                <a:solidFill>
                  <a:srgbClr val="52514E"/>
                </a:solidFill>
                <a:latin typeface="Segoe UI"/>
              </a:rPr>
              <a:t>The motif is not a switch that some peptides flip and others do not. It shifts the entire distribution a little. Substrate status is the top tail of a continuum, not a separate population.</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A very small p value here reflects the enormous n (14,414 non-P/G peptides), not a large effect. Read the separation between curves for effect size and the p value only for whether the shift is real.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2C</a:t>
            </a:r>
            <a:r>
              <a:rPr sz="1800" b="1">
                <a:solidFill>
                  <a:srgbClr val="0B0B0B"/>
                </a:solidFill>
                <a:latin typeface="Segoe UI"/>
              </a:rPr>
              <a:t>   ·   Motif enrichment is 17-fold, but the motif is not sufficient</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2C.png"/>
          <p:cNvPicPr>
            <a:picLocks noChangeAspect="1"/>
          </p:cNvPicPr>
          <p:nvPr/>
        </p:nvPicPr>
        <p:blipFill>
          <a:blip r:embed="rId2"/>
          <a:stretch>
            <a:fillRect/>
          </a:stretch>
        </p:blipFill>
        <p:spPr>
          <a:xfrm>
            <a:off x="457200" y="1856001"/>
            <a:ext cx="7086600" cy="3923238"/>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Each motif class as a 100% stacked bar: orange = UBR3-stabilised, pale grey = not stabilised. The percentage inside the orange segment is the substrate rate; the label to the right gives the absolute number of non-responders.</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The orange slivers are 8.94%, 0.52% and 0.19%. Even in the best group, 163 of 179 peptides are unaffected by UBR3 loss. In the other two groups the orange is barely visible: 1,911 and 14,386 non-responders respectively.</a:t>
            </a:r>
          </a:p>
          <a:p>
            <a:pPr algn="l">
              <a:spcBef>
                <a:spcPts val="900"/>
              </a:spcBef>
              <a:spcAft>
                <a:spcPts val="200"/>
              </a:spcAft>
            </a:pPr>
            <a:r>
              <a:rPr sz="900" b="1" i="0">
                <a:solidFill>
                  <a:srgbClr val="2A78D6"/>
                </a:solidFill>
                <a:latin typeface="Segoe UI"/>
              </a:rPr>
              <a:t>WHY THIS FRAMING</a:t>
            </a:r>
          </a:p>
          <a:p>
            <a:pPr algn="l">
              <a:spcBef>
                <a:spcPts val="0"/>
              </a:spcBef>
              <a:spcAft>
                <a:spcPts val="0"/>
              </a:spcAft>
            </a:pPr>
            <a:r>
              <a:rPr sz="1019" b="0" i="0">
                <a:solidFill>
                  <a:srgbClr val="52514E"/>
                </a:solidFill>
                <a:latin typeface="Segoe UI"/>
              </a:rPr>
              <a:t>Panel 1D shows the same numbers as a rate comparison and makes the enrichment look dramatic. This panel shows the complement, and makes the insufficiency obvious. Both are true and the paper needs both.</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Do not read the orange widths as comparable areas - the group sizes differ by two orders of magnitude, so these are proportions within each row, not counts.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2D</a:t>
            </a:r>
            <a:r>
              <a:rPr sz="1800" b="1">
                <a:solidFill>
                  <a:srgbClr val="0B0B0B"/>
                </a:solidFill>
                <a:latin typeface="Segoe UI"/>
              </a:rPr>
              <a:t>   ·   Stabilisation is reproducible, not replicate noise</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2D.png"/>
          <p:cNvPicPr>
            <a:picLocks noChangeAspect="1"/>
          </p:cNvPicPr>
          <p:nvPr/>
        </p:nvPicPr>
        <p:blipFill>
          <a:blip r:embed="rId2"/>
          <a:stretch>
            <a:fillRect/>
          </a:stretch>
        </p:blipFill>
        <p:spPr>
          <a:xfrm>
            <a:off x="457200" y="1097280"/>
            <a:ext cx="6601146" cy="5440680"/>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ΔPSI in replicate 1 against replicate 2. Pale dots are all other library peptides; dark grey dots are [P/G]-[E/D] peptides that are not substrates; large orange dots are the 16 [P/G]-[E/D] substrates, with the top six labelled by gene.</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The 16 substrates cluster together in the upper-right, meaning both independent replicates agree that they gained stability. Replicate correlation across the [P/G]-[E/D] set is r = 0.84.</a:t>
            </a:r>
          </a:p>
          <a:p>
            <a:pPr algn="l">
              <a:spcBef>
                <a:spcPts val="900"/>
              </a:spcBef>
              <a:spcAft>
                <a:spcPts val="200"/>
              </a:spcAft>
            </a:pPr>
            <a:r>
              <a:rPr sz="900" b="1" i="0">
                <a:solidFill>
                  <a:srgbClr val="2A78D6"/>
                </a:solidFill>
                <a:latin typeface="Segoe UI"/>
              </a:rPr>
              <a:t>WHY IT IS HERE</a:t>
            </a:r>
          </a:p>
          <a:p>
            <a:pPr algn="l">
              <a:spcBef>
                <a:spcPts val="0"/>
              </a:spcBef>
              <a:spcAft>
                <a:spcPts val="0"/>
              </a:spcAft>
            </a:pPr>
            <a:r>
              <a:rPr sz="1019" b="0" i="0">
                <a:solidFill>
                  <a:srgbClr val="52514E"/>
                </a:solidFill>
                <a:latin typeface="Segoe UI"/>
              </a:rPr>
              <a:t>It rules out the most obvious alternative explanation - that the substrates are simply peptides that happened to fluctuate upward in one replicate. Agreement between two independently sorted replicates is not something noise produces.</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The dense pale cloud is centred slightly above zero, so a small positive ΔPSI is the norm across the library. Judge the substrates against that cloud, not against zero.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40080" y="384048"/>
            <a:ext cx="10972800" cy="502920"/>
          </a:xfrm>
          <a:prstGeom prst="rect">
            <a:avLst/>
          </a:prstGeom>
          <a:noFill/>
        </p:spPr>
        <p:txBody>
          <a:bodyPr wrap="square" anchor="t" lIns="0" rIns="0" tIns="0" bIns="0">
            <a:spAutoFit/>
          </a:bodyPr>
          <a:lstStyle/>
          <a:p>
            <a:pPr algn="l">
              <a:spcBef>
                <a:spcPts val="0"/>
              </a:spcBef>
              <a:spcAft>
                <a:spcPts val="400"/>
              </a:spcAft>
            </a:pPr>
            <a:r>
              <a:rPr sz="2000" b="1" i="0">
                <a:solidFill>
                  <a:srgbClr val="0B0B0B"/>
                </a:solidFill>
                <a:latin typeface="Segoe UI"/>
              </a:rPr>
              <a:t>Figure 3 | Sequence logos of the substrate N-termini</a:t>
            </a:r>
          </a:p>
        </p:txBody>
      </p:sp>
      <p:sp>
        <p:nvSpPr>
          <p:cNvPr id="3" name="Rectangle 2"/>
          <p:cNvSpPr/>
          <p:nvPr/>
        </p:nvSpPr>
        <p:spPr>
          <a:xfrm>
            <a:off x="640080" y="914400"/>
            <a:ext cx="1188720" cy="317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822960"/>
          </a:xfrm>
          <a:prstGeom prst="rect">
            <a:avLst/>
          </a:prstGeom>
          <a:noFill/>
        </p:spPr>
        <p:txBody>
          <a:bodyPr wrap="square" anchor="t" lIns="0" rIns="0" tIns="0" bIns="0">
            <a:spAutoFit/>
          </a:bodyPr>
          <a:lstStyle/>
          <a:p>
            <a:pPr algn="l">
              <a:spcBef>
                <a:spcPts val="0"/>
              </a:spcBef>
              <a:spcAft>
                <a:spcPts val="400"/>
              </a:spcAft>
            </a:pPr>
            <a:r>
              <a:rPr sz="1250" b="0" i="0">
                <a:solidFill>
                  <a:srgbClr val="52514E"/>
                </a:solidFill>
                <a:latin typeface="Segoe UI"/>
              </a:rPr>
              <a:t>Where along the 24-mer the constraint actually lives. Panels A-B compare substrates against the library background on an identical scale; panel C converts the comparison into a statistical enrichment logo so only real signal is drawn.</a:t>
            </a:r>
          </a:p>
        </p:txBody>
      </p:sp>
      <p:pic>
        <p:nvPicPr>
          <p:cNvPr id="5" name="Picture 4" descr="Figure3_sequence_logos.png"/>
          <p:cNvPicPr>
            <a:picLocks noChangeAspect="1"/>
          </p:cNvPicPr>
          <p:nvPr/>
        </p:nvPicPr>
        <p:blipFill>
          <a:blip r:embed="rId2"/>
          <a:stretch>
            <a:fillRect/>
          </a:stretch>
        </p:blipFill>
        <p:spPr>
          <a:xfrm>
            <a:off x="3260888" y="1993392"/>
            <a:ext cx="5669918" cy="4343400"/>
          </a:xfrm>
          <a:prstGeom prst="rect">
            <a:avLst/>
          </a:prstGeom>
        </p:spPr>
      </p:pic>
      <p:sp>
        <p:nvSpPr>
          <p:cNvPr id="6" name="TextBox 5"/>
          <p:cNvSpPr txBox="1"/>
          <p:nvPr/>
        </p:nvSpPr>
        <p:spPr>
          <a:xfrm>
            <a:off x="640080" y="6446520"/>
            <a:ext cx="10972800" cy="274320"/>
          </a:xfrm>
          <a:prstGeom prst="rect">
            <a:avLst/>
          </a:prstGeom>
          <a:noFill/>
        </p:spPr>
        <p:txBody>
          <a:bodyPr wrap="square" anchor="t" lIns="0" rIns="0" tIns="0" bIns="0">
            <a:spAutoFit/>
          </a:bodyPr>
          <a:lstStyle/>
          <a:p>
            <a:pPr algn="l">
              <a:spcBef>
                <a:spcPts val="0"/>
              </a:spcBef>
              <a:spcAft>
                <a:spcPts val="400"/>
              </a:spcAft>
            </a:pPr>
            <a:r>
              <a:rPr sz="950" b="0" i="1">
                <a:solidFill>
                  <a:srgbClr val="898781"/>
                </a:solidFill>
                <a:latin typeface="Segoe UI"/>
              </a:rPr>
              <a:t>The composed figure. The following slides show each panel full size.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3A</a:t>
            </a:r>
            <a:r>
              <a:rPr sz="1800" b="1">
                <a:solidFill>
                  <a:srgbClr val="0B0B0B"/>
                </a:solidFill>
                <a:latin typeface="Segoe UI"/>
              </a:rPr>
              <a:t>   ·   Sequence logo of the 54 candidate substrates</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3A.png"/>
          <p:cNvPicPr>
            <a:picLocks noChangeAspect="1"/>
          </p:cNvPicPr>
          <p:nvPr/>
        </p:nvPicPr>
        <p:blipFill>
          <a:blip r:embed="rId2"/>
          <a:stretch>
            <a:fillRect/>
          </a:stretch>
        </p:blipFill>
        <p:spPr>
          <a:xfrm>
            <a:off x="1712464" y="1078992"/>
            <a:ext cx="8766766" cy="3611880"/>
          </a:xfrm>
          <a:prstGeom prst="rect">
            <a:avLst/>
          </a:prstGeom>
        </p:spPr>
      </p:pic>
      <p:sp>
        <p:nvSpPr>
          <p:cNvPr id="5" name="TextBox 4"/>
          <p:cNvSpPr txBox="1"/>
          <p:nvPr/>
        </p:nvSpPr>
        <p:spPr>
          <a:xfrm>
            <a:off x="502920" y="4837176"/>
            <a:ext cx="5394960" cy="1792224"/>
          </a:xfrm>
          <a:prstGeom prst="rect">
            <a:avLst/>
          </a:prstGeom>
          <a:noFill/>
        </p:spPr>
        <p:txBody>
          <a:bodyPr wrap="square" anchor="t" lIns="0" rIns="0" tIns="0" bIns="0">
            <a:spAutoFit/>
          </a:bodyPr>
          <a:lstStyle/>
          <a:p>
            <a:pPr algn="l">
              <a:spcBef>
                <a:spcPts val="0"/>
              </a:spcBef>
              <a:spcAft>
                <a:spcPts val="200"/>
              </a:spcAft>
            </a:pPr>
            <a:r>
              <a:rPr sz="850" b="1" i="0">
                <a:solidFill>
                  <a:srgbClr val="2A78D6"/>
                </a:solidFill>
                <a:latin typeface="Segoe UI"/>
              </a:rPr>
              <a:t>WHAT IS PLOTTED</a:t>
            </a:r>
          </a:p>
          <a:p>
            <a:pPr algn="l">
              <a:spcBef>
                <a:spcPts val="0"/>
              </a:spcBef>
              <a:spcAft>
                <a:spcPts val="0"/>
              </a:spcAft>
            </a:pPr>
            <a:r>
              <a:rPr sz="960" b="0" i="0">
                <a:solidFill>
                  <a:srgbClr val="52514E"/>
                </a:solidFill>
                <a:latin typeface="Segoe UI"/>
              </a:rPr>
              <a:t>A sequence logo over positions 2 to 24. At each position the stack height is the information content in bits, and each letter's height is its share of that. Letters are coloured by chemical class (legend top right). The shaded block marks positions 2-3.</a:t>
            </a:r>
          </a:p>
          <a:p>
            <a:pPr algn="l">
              <a:spcBef>
                <a:spcPts val="900"/>
              </a:spcBef>
              <a:spcAft>
                <a:spcPts val="200"/>
              </a:spcAft>
            </a:pPr>
            <a:r>
              <a:rPr sz="850" b="1" i="0">
                <a:solidFill>
                  <a:srgbClr val="2A78D6"/>
                </a:solidFill>
                <a:latin typeface="Segoe UI"/>
              </a:rPr>
              <a:t>WHY POSITION 1 IS MISSING</a:t>
            </a:r>
          </a:p>
          <a:p>
            <a:pPr algn="l">
              <a:spcBef>
                <a:spcPts val="0"/>
              </a:spcBef>
              <a:spcAft>
                <a:spcPts val="0"/>
              </a:spcAft>
            </a:pPr>
            <a:r>
              <a:rPr sz="960" b="0" i="0">
                <a:solidFill>
                  <a:srgbClr val="52514E"/>
                </a:solidFill>
                <a:latin typeface="Segoe UI"/>
              </a:rPr>
              <a:t>Position 1 is Met in 100% of both the substrates and the library, so it carries no information that distinguishes them. Including it produces a single tower that flattens every other column to invisibility.</a:t>
            </a:r>
          </a:p>
        </p:txBody>
      </p:sp>
      <p:sp>
        <p:nvSpPr>
          <p:cNvPr id="6" name="TextBox 5"/>
          <p:cNvSpPr txBox="1"/>
          <p:nvPr/>
        </p:nvSpPr>
        <p:spPr>
          <a:xfrm>
            <a:off x="6309359" y="4837176"/>
            <a:ext cx="5394960" cy="1792224"/>
          </a:xfrm>
          <a:prstGeom prst="rect">
            <a:avLst/>
          </a:prstGeom>
          <a:noFill/>
        </p:spPr>
        <p:txBody>
          <a:bodyPr wrap="square" anchor="t" lIns="0" rIns="0" tIns="0" bIns="0">
            <a:spAutoFit/>
          </a:bodyPr>
          <a:lstStyle/>
          <a:p>
            <a:pPr algn="l">
              <a:spcBef>
                <a:spcPts val="0"/>
              </a:spcBef>
              <a:spcAft>
                <a:spcPts val="200"/>
              </a:spcAft>
            </a:pPr>
            <a:r>
              <a:rPr sz="850" b="1" i="0">
                <a:solidFill>
                  <a:srgbClr val="2A78D6"/>
                </a:solidFill>
                <a:latin typeface="Segoe UI"/>
              </a:rPr>
              <a:t>WHAT IT SHOWS</a:t>
            </a:r>
          </a:p>
          <a:p>
            <a:pPr algn="l">
              <a:spcBef>
                <a:spcPts val="0"/>
              </a:spcBef>
              <a:spcAft>
                <a:spcPts val="0"/>
              </a:spcAft>
            </a:pPr>
            <a:r>
              <a:rPr sz="960" b="0" i="0">
                <a:solidFill>
                  <a:srgbClr val="52514E"/>
                </a:solidFill>
                <a:latin typeface="Segoe UI"/>
              </a:rPr>
              <a:t>Almost all the height in the whole logo is at positions 2 and 3: Gly and Pro stacked at position 2, Asp and Glu at position 3. From position 4 rightward the stacks collapse to a low, even carpet.</a:t>
            </a:r>
          </a:p>
          <a:p>
            <a:pPr algn="l">
              <a:spcBef>
                <a:spcPts val="900"/>
              </a:spcBef>
              <a:spcAft>
                <a:spcPts val="200"/>
              </a:spcAft>
            </a:pPr>
            <a:r>
              <a:rPr sz="850" b="1" i="0">
                <a:solidFill>
                  <a:srgbClr val="2A78D6"/>
                </a:solidFill>
                <a:latin typeface="Segoe UI"/>
              </a:rPr>
              <a:t>WATCH OUT FOR</a:t>
            </a:r>
          </a:p>
          <a:p>
            <a:pPr algn="l">
              <a:spcBef>
                <a:spcPts val="0"/>
              </a:spcBef>
              <a:spcAft>
                <a:spcPts val="0"/>
              </a:spcAft>
            </a:pPr>
            <a:r>
              <a:rPr sz="960" b="0" i="0">
                <a:solidFill>
                  <a:srgbClr val="52514E"/>
                </a:solidFill>
                <a:latin typeface="Segoe UI"/>
              </a:rPr>
              <a:t>Information content is computed against a uniform 1/20 background, so it measures how constrained a position is - not how different it is from the library. Panel B supplies the background and panel C the actual comparison.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3B</a:t>
            </a:r>
            <a:r>
              <a:rPr sz="1800" b="1">
                <a:solidFill>
                  <a:srgbClr val="0B0B0B"/>
                </a:solidFill>
                <a:latin typeface="Segoe UI"/>
              </a:rPr>
              <a:t>   ·   Sequence logo of the full library (background)</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3B.png"/>
          <p:cNvPicPr>
            <a:picLocks noChangeAspect="1"/>
          </p:cNvPicPr>
          <p:nvPr/>
        </p:nvPicPr>
        <p:blipFill>
          <a:blip r:embed="rId2"/>
          <a:stretch>
            <a:fillRect/>
          </a:stretch>
        </p:blipFill>
        <p:spPr>
          <a:xfrm>
            <a:off x="1712464" y="1078992"/>
            <a:ext cx="8766766" cy="3611880"/>
          </a:xfrm>
          <a:prstGeom prst="rect">
            <a:avLst/>
          </a:prstGeom>
        </p:spPr>
      </p:pic>
      <p:sp>
        <p:nvSpPr>
          <p:cNvPr id="5" name="TextBox 4"/>
          <p:cNvSpPr txBox="1"/>
          <p:nvPr/>
        </p:nvSpPr>
        <p:spPr>
          <a:xfrm>
            <a:off x="502920" y="4837176"/>
            <a:ext cx="5394960" cy="1792224"/>
          </a:xfrm>
          <a:prstGeom prst="rect">
            <a:avLst/>
          </a:prstGeom>
          <a:noFill/>
        </p:spPr>
        <p:txBody>
          <a:bodyPr wrap="square" anchor="t" lIns="0" rIns="0" tIns="0" bIns="0">
            <a:spAutoFit/>
          </a:bodyPr>
          <a:lstStyle/>
          <a:p>
            <a:pPr algn="l">
              <a:spcBef>
                <a:spcPts val="0"/>
              </a:spcBef>
              <a:spcAft>
                <a:spcPts val="200"/>
              </a:spcAft>
            </a:pPr>
            <a:r>
              <a:rPr sz="850" b="1" i="0">
                <a:solidFill>
                  <a:srgbClr val="2A78D6"/>
                </a:solidFill>
                <a:latin typeface="Segoe UI"/>
              </a:rPr>
              <a:t>WHAT IS PLOTTED</a:t>
            </a:r>
          </a:p>
          <a:p>
            <a:pPr algn="l">
              <a:spcBef>
                <a:spcPts val="0"/>
              </a:spcBef>
              <a:spcAft>
                <a:spcPts val="0"/>
              </a:spcAft>
            </a:pPr>
            <a:r>
              <a:rPr sz="960" b="0" i="0">
                <a:solidFill>
                  <a:srgbClr val="52514E"/>
                </a:solidFill>
                <a:latin typeface="Segoe UI"/>
              </a:rPr>
              <a:t>The identical calculation applied to all 16,514 library peptides, drawn on exactly the same y-scale as panel A so the two can be compared directly by eye.</a:t>
            </a:r>
          </a:p>
          <a:p>
            <a:pPr algn="l">
              <a:spcBef>
                <a:spcPts val="900"/>
              </a:spcBef>
              <a:spcAft>
                <a:spcPts val="200"/>
              </a:spcAft>
            </a:pPr>
            <a:r>
              <a:rPr sz="850" b="1" i="0">
                <a:solidFill>
                  <a:srgbClr val="2A78D6"/>
                </a:solidFill>
                <a:latin typeface="Segoe UI"/>
              </a:rPr>
              <a:t>WHAT IT SHOWS</a:t>
            </a:r>
          </a:p>
          <a:p>
            <a:pPr algn="l">
              <a:spcBef>
                <a:spcPts val="0"/>
              </a:spcBef>
              <a:spcAft>
                <a:spcPts val="0"/>
              </a:spcAft>
            </a:pPr>
            <a:r>
              <a:rPr sz="960" b="0" i="0">
                <a:solidFill>
                  <a:srgbClr val="52514E"/>
                </a:solidFill>
                <a:latin typeface="Segoe UI"/>
              </a:rPr>
              <a:t>Essentially flat. There is a small stack at position 2 - Ala, Ser, Gly are common there because of MetAP-driven codon usage - and nothing elsewhere. This is what "no constraint" looks like in this assay.</a:t>
            </a:r>
          </a:p>
        </p:txBody>
      </p:sp>
      <p:sp>
        <p:nvSpPr>
          <p:cNvPr id="6" name="TextBox 5"/>
          <p:cNvSpPr txBox="1"/>
          <p:nvPr/>
        </p:nvSpPr>
        <p:spPr>
          <a:xfrm>
            <a:off x="6309359" y="4837176"/>
            <a:ext cx="5394960" cy="1792224"/>
          </a:xfrm>
          <a:prstGeom prst="rect">
            <a:avLst/>
          </a:prstGeom>
          <a:noFill/>
        </p:spPr>
        <p:txBody>
          <a:bodyPr wrap="square" anchor="t" lIns="0" rIns="0" tIns="0" bIns="0">
            <a:spAutoFit/>
          </a:bodyPr>
          <a:lstStyle/>
          <a:p>
            <a:pPr algn="l">
              <a:spcBef>
                <a:spcPts val="0"/>
              </a:spcBef>
              <a:spcAft>
                <a:spcPts val="200"/>
              </a:spcAft>
            </a:pPr>
            <a:r>
              <a:rPr sz="850" b="1" i="0">
                <a:solidFill>
                  <a:srgbClr val="2A78D6"/>
                </a:solidFill>
                <a:latin typeface="Segoe UI"/>
              </a:rPr>
              <a:t>WHY IT MATTERS</a:t>
            </a:r>
          </a:p>
          <a:p>
            <a:pPr algn="l">
              <a:spcBef>
                <a:spcPts val="0"/>
              </a:spcBef>
              <a:spcAft>
                <a:spcPts val="0"/>
              </a:spcAft>
            </a:pPr>
            <a:r>
              <a:rPr sz="960" b="0" i="0">
                <a:solidFill>
                  <a:srgbClr val="52514E"/>
                </a:solidFill>
                <a:latin typeface="Segoe UI"/>
              </a:rPr>
              <a:t>It establishes that the towers in panel A are a property of the substrates and not of the library construction. Without this panel a reviewer could argue the position-2 signal is just how the library was built.</a:t>
            </a:r>
          </a:p>
          <a:p>
            <a:pPr algn="l">
              <a:spcBef>
                <a:spcPts val="900"/>
              </a:spcBef>
              <a:spcAft>
                <a:spcPts val="200"/>
              </a:spcAft>
            </a:pPr>
            <a:r>
              <a:rPr sz="850" b="1" i="0">
                <a:solidFill>
                  <a:srgbClr val="2A78D6"/>
                </a:solidFill>
                <a:latin typeface="Segoe UI"/>
              </a:rPr>
              <a:t>WATCH OUT FOR</a:t>
            </a:r>
          </a:p>
          <a:p>
            <a:pPr algn="l">
              <a:spcBef>
                <a:spcPts val="0"/>
              </a:spcBef>
              <a:spcAft>
                <a:spcPts val="0"/>
              </a:spcAft>
            </a:pPr>
            <a:r>
              <a:rPr sz="960" b="0" i="0">
                <a:solidFill>
                  <a:srgbClr val="52514E"/>
                </a:solidFill>
                <a:latin typeface="Segoe UI"/>
              </a:rPr>
              <a:t>The residual position-2 structure here is exactly why enrichment must be measured against this background rather than against a uniform expectation - which is what panel C does.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3C</a:t>
            </a:r>
            <a:r>
              <a:rPr sz="1800" b="1">
                <a:solidFill>
                  <a:srgbClr val="0B0B0B"/>
                </a:solidFill>
                <a:latin typeface="Segoe UI"/>
              </a:rPr>
              <a:t>   ·   Statistical enrichment logo: what actually distinguishes substrates</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3C.png"/>
          <p:cNvPicPr>
            <a:picLocks noChangeAspect="1"/>
          </p:cNvPicPr>
          <p:nvPr/>
        </p:nvPicPr>
        <p:blipFill>
          <a:blip r:embed="rId2"/>
          <a:stretch>
            <a:fillRect/>
          </a:stretch>
        </p:blipFill>
        <p:spPr>
          <a:xfrm>
            <a:off x="1941208" y="1078992"/>
            <a:ext cx="8309279" cy="3611880"/>
          </a:xfrm>
          <a:prstGeom prst="rect">
            <a:avLst/>
          </a:prstGeom>
        </p:spPr>
      </p:pic>
      <p:sp>
        <p:nvSpPr>
          <p:cNvPr id="5" name="TextBox 4"/>
          <p:cNvSpPr txBox="1"/>
          <p:nvPr/>
        </p:nvSpPr>
        <p:spPr>
          <a:xfrm>
            <a:off x="502920" y="4837176"/>
            <a:ext cx="5394960" cy="1792224"/>
          </a:xfrm>
          <a:prstGeom prst="rect">
            <a:avLst/>
          </a:prstGeom>
          <a:noFill/>
        </p:spPr>
        <p:txBody>
          <a:bodyPr wrap="square" anchor="t" lIns="0" rIns="0" tIns="0" bIns="0">
            <a:spAutoFit/>
          </a:bodyPr>
          <a:lstStyle/>
          <a:p>
            <a:pPr algn="l">
              <a:spcBef>
                <a:spcPts val="0"/>
              </a:spcBef>
              <a:spcAft>
                <a:spcPts val="200"/>
              </a:spcAft>
            </a:pPr>
            <a:r>
              <a:rPr sz="850" b="1" i="0">
                <a:solidFill>
                  <a:srgbClr val="2A78D6"/>
                </a:solidFill>
                <a:latin typeface="Segoe UI"/>
              </a:rPr>
              <a:t>WHAT IS PLOTTED</a:t>
            </a:r>
          </a:p>
          <a:p>
            <a:pPr algn="l">
              <a:spcBef>
                <a:spcPts val="0"/>
              </a:spcBef>
              <a:spcAft>
                <a:spcPts val="0"/>
              </a:spcAft>
            </a:pPr>
            <a:r>
              <a:rPr sz="960" b="0" i="0">
                <a:solidFill>
                  <a:srgbClr val="52514E"/>
                </a:solidFill>
                <a:latin typeface="Segoe UI"/>
              </a:rPr>
              <a:t>Letter height is the signed -log10 of the Fisher exact p value for that residue at that position, substrates versus library. Letters above the line are over-represented in substrates; letters below are depleted. Only residues reaching p &lt; 0.05 are drawn at all. The two red lines mark p = 0.05 and the Bonferroni threshold.</a:t>
            </a:r>
          </a:p>
          <a:p>
            <a:pPr algn="l">
              <a:spcBef>
                <a:spcPts val="900"/>
              </a:spcBef>
              <a:spcAft>
                <a:spcPts val="200"/>
              </a:spcAft>
            </a:pPr>
            <a:r>
              <a:rPr sz="850" b="1" i="0">
                <a:solidFill>
                  <a:srgbClr val="2A78D6"/>
                </a:solidFill>
                <a:latin typeface="Segoe UI"/>
              </a:rPr>
              <a:t>WHY NOT A SIMPLE RATIO</a:t>
            </a:r>
          </a:p>
          <a:p>
            <a:pPr algn="l">
              <a:spcBef>
                <a:spcPts val="0"/>
              </a:spcBef>
              <a:spcAft>
                <a:spcPts val="0"/>
              </a:spcAft>
            </a:pPr>
            <a:r>
              <a:rPr sz="960" b="0" i="0">
                <a:solidFill>
                  <a:srgbClr val="52514E"/>
                </a:solidFill>
                <a:latin typeface="Segoe UI"/>
              </a:rPr>
              <a:t>A plain log2 substrate/library logo stacks a dozen depleted residues at every position and becomes unreadable, with the y-axis running to -13. Plotting significance instead keeps only what the data can actually support.</a:t>
            </a:r>
          </a:p>
        </p:txBody>
      </p:sp>
      <p:sp>
        <p:nvSpPr>
          <p:cNvPr id="6" name="TextBox 5"/>
          <p:cNvSpPr txBox="1"/>
          <p:nvPr/>
        </p:nvSpPr>
        <p:spPr>
          <a:xfrm>
            <a:off x="6309359" y="4837176"/>
            <a:ext cx="5394960" cy="1792224"/>
          </a:xfrm>
          <a:prstGeom prst="rect">
            <a:avLst/>
          </a:prstGeom>
          <a:noFill/>
        </p:spPr>
        <p:txBody>
          <a:bodyPr wrap="square" anchor="t" lIns="0" rIns="0" tIns="0" bIns="0">
            <a:spAutoFit/>
          </a:bodyPr>
          <a:lstStyle/>
          <a:p>
            <a:pPr algn="l">
              <a:spcBef>
                <a:spcPts val="0"/>
              </a:spcBef>
              <a:spcAft>
                <a:spcPts val="200"/>
              </a:spcAft>
            </a:pPr>
            <a:r>
              <a:rPr sz="850" b="1" i="0">
                <a:solidFill>
                  <a:srgbClr val="2A78D6"/>
                </a:solidFill>
                <a:latin typeface="Segoe UI"/>
              </a:rPr>
              <a:t>WHAT IT SHOWS</a:t>
            </a:r>
          </a:p>
          <a:p>
            <a:pPr algn="l">
              <a:spcBef>
                <a:spcPts val="0"/>
              </a:spcBef>
              <a:spcAft>
                <a:spcPts val="0"/>
              </a:spcAft>
            </a:pPr>
            <a:r>
              <a:rPr sz="960" b="0" i="0">
                <a:solidFill>
                  <a:srgbClr val="52514E"/>
                </a:solidFill>
                <a:latin typeface="Segoe UI"/>
              </a:rPr>
              <a:t>Pro and Gly at position 2 and Asp at position 3 tower far above the Bonferroni line. Everything else in the entire 23-position window sits at or just above the p = 0.05 line - the level you would expect from chance across this many tests.</a:t>
            </a:r>
          </a:p>
          <a:p>
            <a:pPr algn="l">
              <a:spcBef>
                <a:spcPts val="900"/>
              </a:spcBef>
              <a:spcAft>
                <a:spcPts val="200"/>
              </a:spcAft>
            </a:pPr>
            <a:r>
              <a:rPr sz="850" b="1" i="0">
                <a:solidFill>
                  <a:srgbClr val="2A78D6"/>
                </a:solidFill>
                <a:latin typeface="Segoe UI"/>
              </a:rPr>
              <a:t>WATCH OUT FOR</a:t>
            </a:r>
          </a:p>
          <a:p>
            <a:pPr algn="l">
              <a:spcBef>
                <a:spcPts val="0"/>
              </a:spcBef>
              <a:spcAft>
                <a:spcPts val="0"/>
              </a:spcAft>
            </a:pPr>
            <a:r>
              <a:rPr sz="960" b="0" i="0">
                <a:solidFill>
                  <a:srgbClr val="52514E"/>
                </a:solidFill>
                <a:latin typeface="Segoe UI"/>
              </a:rPr>
              <a:t>Letters between the two red lines are nominally significant but do not survive correction for multiple testing. Treat them as noise; the FDR-corrected version is Figure 5B.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40080" y="384048"/>
            <a:ext cx="10972800" cy="502920"/>
          </a:xfrm>
          <a:prstGeom prst="rect">
            <a:avLst/>
          </a:prstGeom>
          <a:noFill/>
        </p:spPr>
        <p:txBody>
          <a:bodyPr wrap="square" anchor="t" lIns="0" rIns="0" tIns="0" bIns="0">
            <a:spAutoFit/>
          </a:bodyPr>
          <a:lstStyle/>
          <a:p>
            <a:pPr algn="l">
              <a:spcBef>
                <a:spcPts val="0"/>
              </a:spcBef>
              <a:spcAft>
                <a:spcPts val="400"/>
              </a:spcAft>
            </a:pPr>
            <a:r>
              <a:rPr sz="2000" b="1" i="0">
                <a:solidFill>
                  <a:srgbClr val="0B0B0B"/>
                </a:solidFill>
                <a:latin typeface="Segoe UI"/>
              </a:rPr>
              <a:t>Figure 4 | Chemical-class architecture across all 24 positions</a:t>
            </a:r>
          </a:p>
        </p:txBody>
      </p:sp>
      <p:sp>
        <p:nvSpPr>
          <p:cNvPr id="3" name="Rectangle 2"/>
          <p:cNvSpPr/>
          <p:nvPr/>
        </p:nvSpPr>
        <p:spPr>
          <a:xfrm>
            <a:off x="640080" y="914400"/>
            <a:ext cx="1188720" cy="317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822960"/>
          </a:xfrm>
          <a:prstGeom prst="rect">
            <a:avLst/>
          </a:prstGeom>
          <a:noFill/>
        </p:spPr>
        <p:txBody>
          <a:bodyPr wrap="square" anchor="t" lIns="0" rIns="0" tIns="0" bIns="0">
            <a:spAutoFit/>
          </a:bodyPr>
          <a:lstStyle/>
          <a:p>
            <a:pPr algn="l">
              <a:spcBef>
                <a:spcPts val="0"/>
              </a:spcBef>
              <a:spcAft>
                <a:spcPts val="400"/>
              </a:spcAft>
            </a:pPr>
            <a:r>
              <a:rPr sz="1250" b="0" i="0">
                <a:solidFill>
                  <a:srgbClr val="52514E"/>
                </a:solidFill>
                <a:latin typeface="Segoe UI"/>
              </a:rPr>
              <a:t>The same question at the level of chemical classes rather than individual residues. Panels A-B show composition position by position, C tests every class x position cell for significance, and D checks whole-peptide composition as a control.</a:t>
            </a:r>
          </a:p>
        </p:txBody>
      </p:sp>
      <p:pic>
        <p:nvPicPr>
          <p:cNvPr id="5" name="Picture 4" descr="Figure4_AA_class_analysis.png"/>
          <p:cNvPicPr>
            <a:picLocks noChangeAspect="1"/>
          </p:cNvPicPr>
          <p:nvPr/>
        </p:nvPicPr>
        <p:blipFill>
          <a:blip r:embed="rId2"/>
          <a:stretch>
            <a:fillRect/>
          </a:stretch>
        </p:blipFill>
        <p:spPr>
          <a:xfrm>
            <a:off x="3418895" y="1993392"/>
            <a:ext cx="5353905" cy="4343400"/>
          </a:xfrm>
          <a:prstGeom prst="rect">
            <a:avLst/>
          </a:prstGeom>
        </p:spPr>
      </p:pic>
      <p:sp>
        <p:nvSpPr>
          <p:cNvPr id="6" name="TextBox 5"/>
          <p:cNvSpPr txBox="1"/>
          <p:nvPr/>
        </p:nvSpPr>
        <p:spPr>
          <a:xfrm>
            <a:off x="640080" y="6446520"/>
            <a:ext cx="10972800" cy="274320"/>
          </a:xfrm>
          <a:prstGeom prst="rect">
            <a:avLst/>
          </a:prstGeom>
          <a:noFill/>
        </p:spPr>
        <p:txBody>
          <a:bodyPr wrap="square" anchor="t" lIns="0" rIns="0" tIns="0" bIns="0">
            <a:spAutoFit/>
          </a:bodyPr>
          <a:lstStyle/>
          <a:p>
            <a:pPr algn="l">
              <a:spcBef>
                <a:spcPts val="0"/>
              </a:spcBef>
              <a:spcAft>
                <a:spcPts val="400"/>
              </a:spcAft>
            </a:pPr>
            <a:r>
              <a:rPr sz="950" b="0" i="1">
                <a:solidFill>
                  <a:srgbClr val="898781"/>
                </a:solidFill>
                <a:latin typeface="Segoe UI"/>
              </a:rPr>
              <a:t>The composed figure. The following slides show each panel full size.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4A</a:t>
            </a:r>
            <a:r>
              <a:rPr sz="1800" b="1">
                <a:solidFill>
                  <a:srgbClr val="0B0B0B"/>
                </a:solidFill>
                <a:latin typeface="Segoe UI"/>
              </a:rPr>
              <a:t>   ·   Class composition at each position - the 54 substrates</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4A.png"/>
          <p:cNvPicPr>
            <a:picLocks noChangeAspect="1"/>
          </p:cNvPicPr>
          <p:nvPr/>
        </p:nvPicPr>
        <p:blipFill>
          <a:blip r:embed="rId2"/>
          <a:stretch>
            <a:fillRect/>
          </a:stretch>
        </p:blipFill>
        <p:spPr>
          <a:xfrm>
            <a:off x="1846872" y="1078992"/>
            <a:ext cx="8497951" cy="3611880"/>
          </a:xfrm>
          <a:prstGeom prst="rect">
            <a:avLst/>
          </a:prstGeom>
        </p:spPr>
      </p:pic>
      <p:sp>
        <p:nvSpPr>
          <p:cNvPr id="5" name="TextBox 4"/>
          <p:cNvSpPr txBox="1"/>
          <p:nvPr/>
        </p:nvSpPr>
        <p:spPr>
          <a:xfrm>
            <a:off x="502920" y="4837176"/>
            <a:ext cx="5394960" cy="1792224"/>
          </a:xfrm>
          <a:prstGeom prst="rect">
            <a:avLst/>
          </a:prstGeom>
          <a:noFill/>
        </p:spPr>
        <p:txBody>
          <a:bodyPr wrap="square" anchor="t" lIns="0" rIns="0" tIns="0" bIns="0">
            <a:spAutoFit/>
          </a:bodyPr>
          <a:lstStyle/>
          <a:p>
            <a:pPr algn="l">
              <a:spcBef>
                <a:spcPts val="0"/>
              </a:spcBef>
              <a:spcAft>
                <a:spcPts val="200"/>
              </a:spcAft>
            </a:pPr>
            <a:r>
              <a:rPr sz="850" b="1" i="0">
                <a:solidFill>
                  <a:srgbClr val="2A78D6"/>
                </a:solidFill>
                <a:latin typeface="Segoe UI"/>
              </a:rPr>
              <a:t>WHAT IS PLOTTED</a:t>
            </a:r>
          </a:p>
          <a:p>
            <a:pPr algn="l">
              <a:spcBef>
                <a:spcPts val="0"/>
              </a:spcBef>
              <a:spcAft>
                <a:spcPts val="0"/>
              </a:spcAft>
            </a:pPr>
            <a:r>
              <a:rPr sz="960" b="0" i="0">
                <a:solidFill>
                  <a:srgbClr val="52514E"/>
                </a:solidFill>
                <a:latin typeface="Segoe UI"/>
              </a:rPr>
              <a:t>For each of the 24 positions, a 100% stacked bar giving the fraction of substrates whose residue at that position belongs to each of six chemical classes.</a:t>
            </a:r>
          </a:p>
          <a:p>
            <a:pPr algn="l">
              <a:spcBef>
                <a:spcPts val="900"/>
              </a:spcBef>
              <a:spcAft>
                <a:spcPts val="200"/>
              </a:spcAft>
            </a:pPr>
            <a:r>
              <a:rPr sz="850" b="1" i="0">
                <a:solidFill>
                  <a:srgbClr val="2A78D6"/>
                </a:solidFill>
                <a:latin typeface="Segoe UI"/>
              </a:rPr>
              <a:t>WHAT IT SHOWS</a:t>
            </a:r>
          </a:p>
          <a:p>
            <a:pPr algn="l">
              <a:spcBef>
                <a:spcPts val="0"/>
              </a:spcBef>
              <a:spcAft>
                <a:spcPts val="0"/>
              </a:spcAft>
            </a:pPr>
            <a:r>
              <a:rPr sz="960" b="0" i="0">
                <a:solidFill>
                  <a:srgbClr val="52514E"/>
                </a:solidFill>
                <a:latin typeface="Segoe UI"/>
              </a:rPr>
              <a:t>Position 1 is entirely Hydrophobic - that is the invariant initiator Met. Position 2 is 48% Special, i.e. Pro or Gly. Position 3 is 37% Acidic. From position 4 onward the bars settle into a mixture that looks like any random protein sequence.</a:t>
            </a:r>
          </a:p>
        </p:txBody>
      </p:sp>
      <p:sp>
        <p:nvSpPr>
          <p:cNvPr id="6" name="TextBox 5"/>
          <p:cNvSpPr txBox="1"/>
          <p:nvPr/>
        </p:nvSpPr>
        <p:spPr>
          <a:xfrm>
            <a:off x="6309359" y="4837176"/>
            <a:ext cx="5394960" cy="1792224"/>
          </a:xfrm>
          <a:prstGeom prst="rect">
            <a:avLst/>
          </a:prstGeom>
          <a:noFill/>
        </p:spPr>
        <p:txBody>
          <a:bodyPr wrap="square" anchor="t" lIns="0" rIns="0" tIns="0" bIns="0">
            <a:spAutoFit/>
          </a:bodyPr>
          <a:lstStyle/>
          <a:p>
            <a:pPr algn="l">
              <a:spcBef>
                <a:spcPts val="0"/>
              </a:spcBef>
              <a:spcAft>
                <a:spcPts val="200"/>
              </a:spcAft>
            </a:pPr>
            <a:r>
              <a:rPr sz="850" b="1" i="0">
                <a:solidFill>
                  <a:srgbClr val="2A78D6"/>
                </a:solidFill>
                <a:latin typeface="Segoe UI"/>
              </a:rPr>
              <a:t>WHY CLASSES RATHER THAN RESIDUES</a:t>
            </a:r>
          </a:p>
          <a:p>
            <a:pPr algn="l">
              <a:spcBef>
                <a:spcPts val="0"/>
              </a:spcBef>
              <a:spcAft>
                <a:spcPts val="0"/>
              </a:spcAft>
            </a:pPr>
            <a:r>
              <a:rPr sz="960" b="0" i="0">
                <a:solidFill>
                  <a:srgbClr val="52514E"/>
                </a:solidFill>
                <a:latin typeface="Segoe UI"/>
              </a:rPr>
              <a:t>Grouping 20 residues into six classes raises the counts per cell, which matters with only 54 substrates, and it tests a chemically meaningful hypothesis - "an acidic residue" rather than "specifically Asp".</a:t>
            </a:r>
          </a:p>
          <a:p>
            <a:pPr algn="l">
              <a:spcBef>
                <a:spcPts val="900"/>
              </a:spcBef>
              <a:spcAft>
                <a:spcPts val="200"/>
              </a:spcAft>
            </a:pPr>
            <a:r>
              <a:rPr sz="850" b="1" i="0">
                <a:solidFill>
                  <a:srgbClr val="2A78D6"/>
                </a:solidFill>
                <a:latin typeface="Segoe UI"/>
              </a:rPr>
              <a:t>WATCH OUT FOR</a:t>
            </a:r>
          </a:p>
          <a:p>
            <a:pPr algn="l">
              <a:spcBef>
                <a:spcPts val="0"/>
              </a:spcBef>
              <a:spcAft>
                <a:spcPts val="0"/>
              </a:spcAft>
            </a:pPr>
            <a:r>
              <a:rPr sz="960" b="0" i="0">
                <a:solidFill>
                  <a:srgbClr val="52514E"/>
                </a:solidFill>
                <a:latin typeface="Segoe UI"/>
              </a:rPr>
              <a:t>With n = 54, one peptide is 1.9% of a bar. Small differences between adjacent positions are not meaningful; panel C applies the significance test.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4B</a:t>
            </a:r>
            <a:r>
              <a:rPr sz="1800" b="1">
                <a:solidFill>
                  <a:srgbClr val="0B0B0B"/>
                </a:solidFill>
                <a:latin typeface="Segoe UI"/>
              </a:rPr>
              <a:t>   ·   Class composition at each position - the full library</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4B.png"/>
          <p:cNvPicPr>
            <a:picLocks noChangeAspect="1"/>
          </p:cNvPicPr>
          <p:nvPr/>
        </p:nvPicPr>
        <p:blipFill>
          <a:blip r:embed="rId2"/>
          <a:stretch>
            <a:fillRect/>
          </a:stretch>
        </p:blipFill>
        <p:spPr>
          <a:xfrm>
            <a:off x="1574770" y="1078992"/>
            <a:ext cx="9042154" cy="3611880"/>
          </a:xfrm>
          <a:prstGeom prst="rect">
            <a:avLst/>
          </a:prstGeom>
        </p:spPr>
      </p:pic>
      <p:sp>
        <p:nvSpPr>
          <p:cNvPr id="5" name="TextBox 4"/>
          <p:cNvSpPr txBox="1"/>
          <p:nvPr/>
        </p:nvSpPr>
        <p:spPr>
          <a:xfrm>
            <a:off x="502920" y="4837176"/>
            <a:ext cx="5394960" cy="1792224"/>
          </a:xfrm>
          <a:prstGeom prst="rect">
            <a:avLst/>
          </a:prstGeom>
          <a:noFill/>
        </p:spPr>
        <p:txBody>
          <a:bodyPr wrap="square" anchor="t" lIns="0" rIns="0" tIns="0" bIns="0">
            <a:spAutoFit/>
          </a:bodyPr>
          <a:lstStyle/>
          <a:p>
            <a:pPr algn="l">
              <a:spcBef>
                <a:spcPts val="0"/>
              </a:spcBef>
              <a:spcAft>
                <a:spcPts val="200"/>
              </a:spcAft>
            </a:pPr>
            <a:r>
              <a:rPr sz="850" b="1" i="0">
                <a:solidFill>
                  <a:srgbClr val="2A78D6"/>
                </a:solidFill>
                <a:latin typeface="Segoe UI"/>
              </a:rPr>
              <a:t>WHAT IS PLOTTED</a:t>
            </a:r>
          </a:p>
          <a:p>
            <a:pPr algn="l">
              <a:spcBef>
                <a:spcPts val="0"/>
              </a:spcBef>
              <a:spcAft>
                <a:spcPts val="0"/>
              </a:spcAft>
            </a:pPr>
            <a:r>
              <a:rPr sz="960" b="0" i="0">
                <a:solidFill>
                  <a:srgbClr val="52514E"/>
                </a:solidFill>
                <a:latin typeface="Segoe UI"/>
              </a:rPr>
              <a:t>The same stacked-bar calculation applied to all 16,514 library peptides - the background against which panel A should be read.</a:t>
            </a:r>
          </a:p>
          <a:p>
            <a:pPr algn="l">
              <a:spcBef>
                <a:spcPts val="900"/>
              </a:spcBef>
              <a:spcAft>
                <a:spcPts val="200"/>
              </a:spcAft>
            </a:pPr>
            <a:r>
              <a:rPr sz="850" b="1" i="0">
                <a:solidFill>
                  <a:srgbClr val="2A78D6"/>
                </a:solidFill>
                <a:latin typeface="Segoe UI"/>
              </a:rPr>
              <a:t>WHAT IT SHOWS</a:t>
            </a:r>
          </a:p>
          <a:p>
            <a:pPr algn="l">
              <a:spcBef>
                <a:spcPts val="0"/>
              </a:spcBef>
              <a:spcAft>
                <a:spcPts val="0"/>
              </a:spcAft>
            </a:pPr>
            <a:r>
              <a:rPr sz="960" b="0" i="0">
                <a:solidFill>
                  <a:srgbClr val="52514E"/>
                </a:solidFill>
                <a:latin typeface="Segoe UI"/>
              </a:rPr>
              <a:t>Position 1 is again all Met. Position 2 shows mild structure, then from position 4 onward the composition is essentially constant: roughly 36% Hydrophobic, 22% Polar, 13% Special, 12% Basic, 10% Acidic, 7% Aromatic.</a:t>
            </a:r>
          </a:p>
        </p:txBody>
      </p:sp>
      <p:sp>
        <p:nvSpPr>
          <p:cNvPr id="6" name="TextBox 5"/>
          <p:cNvSpPr txBox="1"/>
          <p:nvPr/>
        </p:nvSpPr>
        <p:spPr>
          <a:xfrm>
            <a:off x="6309359" y="4837176"/>
            <a:ext cx="5394960" cy="1792224"/>
          </a:xfrm>
          <a:prstGeom prst="rect">
            <a:avLst/>
          </a:prstGeom>
          <a:noFill/>
        </p:spPr>
        <p:txBody>
          <a:bodyPr wrap="square" anchor="t" lIns="0" rIns="0" tIns="0" bIns="0">
            <a:spAutoFit/>
          </a:bodyPr>
          <a:lstStyle/>
          <a:p>
            <a:pPr algn="l">
              <a:spcBef>
                <a:spcPts val="0"/>
              </a:spcBef>
              <a:spcAft>
                <a:spcPts val="200"/>
              </a:spcAft>
            </a:pPr>
            <a:r>
              <a:rPr sz="850" b="1" i="0">
                <a:solidFill>
                  <a:srgbClr val="2A78D6"/>
                </a:solidFill>
                <a:latin typeface="Segoe UI"/>
              </a:rPr>
              <a:t>WHY IT MATTERS</a:t>
            </a:r>
          </a:p>
          <a:p>
            <a:pPr algn="l">
              <a:spcBef>
                <a:spcPts val="0"/>
              </a:spcBef>
              <a:spcAft>
                <a:spcPts val="0"/>
              </a:spcAft>
            </a:pPr>
            <a:r>
              <a:rPr sz="960" b="0" i="0">
                <a:solidFill>
                  <a:srgbClr val="52514E"/>
                </a:solidFill>
                <a:latin typeface="Segoe UI"/>
              </a:rPr>
              <a:t>The flatness confirms there is no positional bias built into the library beyond the N-terminal region. Any structure in panel A after position 3 would therefore be real - and there is none.</a:t>
            </a:r>
          </a:p>
          <a:p>
            <a:pPr algn="l">
              <a:spcBef>
                <a:spcPts val="900"/>
              </a:spcBef>
              <a:spcAft>
                <a:spcPts val="200"/>
              </a:spcAft>
            </a:pPr>
            <a:r>
              <a:rPr sz="850" b="1" i="0">
                <a:solidFill>
                  <a:srgbClr val="2A78D6"/>
                </a:solidFill>
                <a:latin typeface="Segoe UI"/>
              </a:rPr>
              <a:t>WATCH OUT FOR</a:t>
            </a:r>
          </a:p>
          <a:p>
            <a:pPr algn="l">
              <a:spcBef>
                <a:spcPts val="0"/>
              </a:spcBef>
              <a:spcAft>
                <a:spcPts val="0"/>
              </a:spcAft>
            </a:pPr>
            <a:r>
              <a:rPr sz="960" b="0" i="0">
                <a:solidFill>
                  <a:srgbClr val="52514E"/>
                </a:solidFill>
                <a:latin typeface="Segoe UI"/>
              </a:rPr>
              <a:t>With n = 16,514 these proportions are precise to well under a percentage point, so this panel can be treated as a fixed reference rather than an estimate.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4C</a:t>
            </a:r>
            <a:r>
              <a:rPr sz="1800" b="1">
                <a:solidFill>
                  <a:srgbClr val="0B0B0B"/>
                </a:solidFill>
                <a:latin typeface="Segoe UI"/>
              </a:rPr>
              <a:t>   ·   Class enrichment by position, FDR-masked</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4C.png"/>
          <p:cNvPicPr>
            <a:picLocks noChangeAspect="1"/>
          </p:cNvPicPr>
          <p:nvPr/>
        </p:nvPicPr>
        <p:blipFill>
          <a:blip r:embed="rId2"/>
          <a:stretch>
            <a:fillRect/>
          </a:stretch>
        </p:blipFill>
        <p:spPr>
          <a:xfrm>
            <a:off x="2361032" y="1078992"/>
            <a:ext cx="7469631" cy="3611880"/>
          </a:xfrm>
          <a:prstGeom prst="rect">
            <a:avLst/>
          </a:prstGeom>
        </p:spPr>
      </p:pic>
      <p:sp>
        <p:nvSpPr>
          <p:cNvPr id="5" name="TextBox 4"/>
          <p:cNvSpPr txBox="1"/>
          <p:nvPr/>
        </p:nvSpPr>
        <p:spPr>
          <a:xfrm>
            <a:off x="502920" y="4837176"/>
            <a:ext cx="5394960" cy="1792224"/>
          </a:xfrm>
          <a:prstGeom prst="rect">
            <a:avLst/>
          </a:prstGeom>
          <a:noFill/>
        </p:spPr>
        <p:txBody>
          <a:bodyPr wrap="square" anchor="t" lIns="0" rIns="0" tIns="0" bIns="0">
            <a:spAutoFit/>
          </a:bodyPr>
          <a:lstStyle/>
          <a:p>
            <a:pPr algn="l">
              <a:spcBef>
                <a:spcPts val="0"/>
              </a:spcBef>
              <a:spcAft>
                <a:spcPts val="200"/>
              </a:spcAft>
            </a:pPr>
            <a:r>
              <a:rPr sz="850" b="1" i="0">
                <a:solidFill>
                  <a:srgbClr val="2A78D6"/>
                </a:solidFill>
                <a:latin typeface="Segoe UI"/>
              </a:rPr>
              <a:t>WHAT IS PLOTTED</a:t>
            </a:r>
          </a:p>
          <a:p>
            <a:pPr algn="l">
              <a:spcBef>
                <a:spcPts val="0"/>
              </a:spcBef>
              <a:spcAft>
                <a:spcPts val="0"/>
              </a:spcAft>
            </a:pPr>
            <a:r>
              <a:rPr sz="960" b="0" i="0">
                <a:solidFill>
                  <a:srgbClr val="52514E"/>
                </a:solidFill>
                <a:latin typeface="Segoe UI"/>
              </a:rPr>
              <a:t>A heatmap of log2(substrate / library) for each chemical class at each position. Red = enriched in substrates, blue = depleted. Beige cells are those that do NOT reach q &lt; 0.05 and are deliberately left blank.</a:t>
            </a:r>
          </a:p>
          <a:p>
            <a:pPr algn="l">
              <a:spcBef>
                <a:spcPts val="900"/>
              </a:spcBef>
              <a:spcAft>
                <a:spcPts val="200"/>
              </a:spcAft>
            </a:pPr>
            <a:r>
              <a:rPr sz="850" b="1" i="0">
                <a:solidFill>
                  <a:srgbClr val="2A78D6"/>
                </a:solidFill>
                <a:latin typeface="Segoe UI"/>
              </a:rPr>
              <a:t>HOW IT WAS COMPUTED</a:t>
            </a:r>
          </a:p>
          <a:p>
            <a:pPr algn="l">
              <a:spcBef>
                <a:spcPts val="0"/>
              </a:spcBef>
              <a:spcAft>
                <a:spcPts val="0"/>
              </a:spcAft>
            </a:pPr>
            <a:r>
              <a:rPr sz="960" b="0" i="0">
                <a:solidFill>
                  <a:srgbClr val="52514E"/>
                </a:solidFill>
                <a:latin typeface="Segoe UI"/>
              </a:rPr>
              <a:t>A Fisher exact test for every class x position cell, with Benjamini-Hochberg correction applied across the whole matrix. Ratios use Laplace smoothing so an empty cell cannot produce an infinite value.</a:t>
            </a:r>
          </a:p>
        </p:txBody>
      </p:sp>
      <p:sp>
        <p:nvSpPr>
          <p:cNvPr id="6" name="TextBox 5"/>
          <p:cNvSpPr txBox="1"/>
          <p:nvPr/>
        </p:nvSpPr>
        <p:spPr>
          <a:xfrm>
            <a:off x="6309359" y="4837176"/>
            <a:ext cx="5394960" cy="1792224"/>
          </a:xfrm>
          <a:prstGeom prst="rect">
            <a:avLst/>
          </a:prstGeom>
          <a:noFill/>
        </p:spPr>
        <p:txBody>
          <a:bodyPr wrap="square" anchor="t" lIns="0" rIns="0" tIns="0" bIns="0">
            <a:spAutoFit/>
          </a:bodyPr>
          <a:lstStyle/>
          <a:p>
            <a:pPr algn="l">
              <a:spcBef>
                <a:spcPts val="0"/>
              </a:spcBef>
              <a:spcAft>
                <a:spcPts val="200"/>
              </a:spcAft>
            </a:pPr>
            <a:r>
              <a:rPr sz="850" b="1" i="0">
                <a:solidFill>
                  <a:srgbClr val="2A78D6"/>
                </a:solidFill>
                <a:latin typeface="Segoe UI"/>
              </a:rPr>
              <a:t>WHAT IT SHOWS</a:t>
            </a:r>
          </a:p>
          <a:p>
            <a:pPr algn="l">
              <a:spcBef>
                <a:spcPts val="0"/>
              </a:spcBef>
              <a:spcAft>
                <a:spcPts val="0"/>
              </a:spcAft>
            </a:pPr>
            <a:r>
              <a:rPr sz="960" b="0" i="0">
                <a:solidFill>
                  <a:srgbClr val="52514E"/>
                </a:solidFill>
                <a:latin typeface="Segoe UI"/>
              </a:rPr>
              <a:t>Four cells survive out of 144. At position 2: Special enriched (+1.9) and Hydrophobic depleted (-1.6). At position 3: Acidic enriched (+1.7). At position 7: Basic enriched (+1.2). Everything else is beige.</a:t>
            </a:r>
          </a:p>
          <a:p>
            <a:pPr algn="l">
              <a:spcBef>
                <a:spcPts val="900"/>
              </a:spcBef>
              <a:spcAft>
                <a:spcPts val="200"/>
              </a:spcAft>
            </a:pPr>
            <a:r>
              <a:rPr sz="850" b="1" i="0">
                <a:solidFill>
                  <a:srgbClr val="2A78D6"/>
                </a:solidFill>
                <a:latin typeface="Segoe UI"/>
              </a:rPr>
              <a:t>WHY THE MASKING</a:t>
            </a:r>
          </a:p>
          <a:p>
            <a:pPr algn="l">
              <a:spcBef>
                <a:spcPts val="0"/>
              </a:spcBef>
              <a:spcAft>
                <a:spcPts val="0"/>
              </a:spcAft>
            </a:pPr>
            <a:r>
              <a:rPr sz="960" b="0" i="0">
                <a:solidFill>
                  <a:srgbClr val="52514E"/>
                </a:solidFill>
                <a:latin typeface="Segoe UI"/>
              </a:rPr>
              <a:t>With 54 substrates, an unmasked version of this heatmap shows vivid red and blue cells scattered to position 24 that are pure sampling noise. Masking is what makes the figure honest.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4D</a:t>
            </a:r>
            <a:r>
              <a:rPr sz="1800" b="1">
                <a:solidFill>
                  <a:srgbClr val="0B0B0B"/>
                </a:solidFill>
                <a:latin typeface="Segoe UI"/>
              </a:rPr>
              <a:t>   ·   Whole-peptide composition is unchanged</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4D.png"/>
          <p:cNvPicPr>
            <a:picLocks noChangeAspect="1"/>
          </p:cNvPicPr>
          <p:nvPr/>
        </p:nvPicPr>
        <p:blipFill>
          <a:blip r:embed="rId2"/>
          <a:stretch>
            <a:fillRect/>
          </a:stretch>
        </p:blipFill>
        <p:spPr>
          <a:xfrm>
            <a:off x="457200" y="1161737"/>
            <a:ext cx="7086600" cy="5311765"/>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Class composition averaged over all 24 positions of every peptide. Coloured bars are the 54 substrates (coloured by class); grey bars are the library.</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The two are nearly identical: Acidic 10.1 vs 10.2, Basic 14.7 vs 12.2, Polar 22.5 vs 21.6, Hydrophobic 31.9 vs 35.8, Aromatic 6.2 vs 6.8, Special 14.6 vs 13.3.</a:t>
            </a:r>
          </a:p>
          <a:p>
            <a:pPr algn="l">
              <a:spcBef>
                <a:spcPts val="900"/>
              </a:spcBef>
              <a:spcAft>
                <a:spcPts val="200"/>
              </a:spcAft>
            </a:pPr>
            <a:r>
              <a:rPr sz="900" b="1" i="0">
                <a:solidFill>
                  <a:srgbClr val="2A78D6"/>
                </a:solidFill>
                <a:latin typeface="Segoe UI"/>
              </a:rPr>
              <a:t>WHY THIS IS THE CONTROL</a:t>
            </a:r>
          </a:p>
          <a:p>
            <a:pPr algn="l">
              <a:spcBef>
                <a:spcPts val="0"/>
              </a:spcBef>
              <a:spcAft>
                <a:spcPts val="0"/>
              </a:spcAft>
            </a:pPr>
            <a:r>
              <a:rPr sz="1019" b="0" i="0">
                <a:solidFill>
                  <a:srgbClr val="52514E"/>
                </a:solidFill>
                <a:latin typeface="Segoe UI"/>
              </a:rPr>
              <a:t>It rules out a bulk-composition explanation. If substrates were simply unusually acidic or unusually Pro/Gly-rich proteins overall, that would show here. It does not - the signal is strictly positional, confined to residues 2 and 3.</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The Hydrophobic difference (31.9 vs 35.8) is the largest gap and goes in the direction of substrates being slightly less hydrophobic. With n = 54 it is not individually significant and no single position drives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40080" y="384048"/>
            <a:ext cx="10972800" cy="502920"/>
          </a:xfrm>
          <a:prstGeom prst="rect">
            <a:avLst/>
          </a:prstGeom>
          <a:noFill/>
        </p:spPr>
        <p:txBody>
          <a:bodyPr wrap="square" anchor="t" lIns="0" rIns="0" tIns="0" bIns="0">
            <a:spAutoFit/>
          </a:bodyPr>
          <a:lstStyle/>
          <a:p>
            <a:pPr algn="l">
              <a:spcBef>
                <a:spcPts val="0"/>
              </a:spcBef>
              <a:spcAft>
                <a:spcPts val="400"/>
              </a:spcAft>
            </a:pPr>
            <a:r>
              <a:rPr sz="2000" b="1" i="0">
                <a:solidFill>
                  <a:srgbClr val="0B0B0B"/>
                </a:solidFill>
                <a:latin typeface="Segoe UI"/>
              </a:rPr>
              <a:t>Figure 5 | Position-by-residue heatmaps</a:t>
            </a:r>
          </a:p>
        </p:txBody>
      </p:sp>
      <p:sp>
        <p:nvSpPr>
          <p:cNvPr id="3" name="Rectangle 2"/>
          <p:cNvSpPr/>
          <p:nvPr/>
        </p:nvSpPr>
        <p:spPr>
          <a:xfrm>
            <a:off x="640080" y="914400"/>
            <a:ext cx="1188720" cy="317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822960"/>
          </a:xfrm>
          <a:prstGeom prst="rect">
            <a:avLst/>
          </a:prstGeom>
          <a:noFill/>
        </p:spPr>
        <p:txBody>
          <a:bodyPr wrap="square" anchor="t" lIns="0" rIns="0" tIns="0" bIns="0">
            <a:spAutoFit/>
          </a:bodyPr>
          <a:lstStyle/>
          <a:p>
            <a:pPr algn="l">
              <a:spcBef>
                <a:spcPts val="0"/>
              </a:spcBef>
              <a:spcAft>
                <a:spcPts val="400"/>
              </a:spcAft>
            </a:pPr>
            <a:r>
              <a:rPr sz="1250" b="0" i="0">
                <a:solidFill>
                  <a:srgbClr val="52514E"/>
                </a:solidFill>
                <a:latin typeface="Segoe UI"/>
              </a:rPr>
              <a:t>The full 24 x 20 picture. Panel A is raw substrate frequency; panel B is enrichment over the library with non-significant cells masked, which reduces the whole dataset to four surviving cells.</a:t>
            </a:r>
          </a:p>
        </p:txBody>
      </p:sp>
      <p:pic>
        <p:nvPicPr>
          <p:cNvPr id="5" name="Picture 4" descr="Figure5_position_residue_heatmaps.png"/>
          <p:cNvPicPr>
            <a:picLocks noChangeAspect="1"/>
          </p:cNvPicPr>
          <p:nvPr/>
        </p:nvPicPr>
        <p:blipFill>
          <a:blip r:embed="rId2"/>
          <a:stretch>
            <a:fillRect/>
          </a:stretch>
        </p:blipFill>
        <p:spPr>
          <a:xfrm>
            <a:off x="2551615" y="1993392"/>
            <a:ext cx="7088465" cy="4343400"/>
          </a:xfrm>
          <a:prstGeom prst="rect">
            <a:avLst/>
          </a:prstGeom>
        </p:spPr>
      </p:pic>
      <p:sp>
        <p:nvSpPr>
          <p:cNvPr id="6" name="TextBox 5"/>
          <p:cNvSpPr txBox="1"/>
          <p:nvPr/>
        </p:nvSpPr>
        <p:spPr>
          <a:xfrm>
            <a:off x="640080" y="6446520"/>
            <a:ext cx="10972800" cy="274320"/>
          </a:xfrm>
          <a:prstGeom prst="rect">
            <a:avLst/>
          </a:prstGeom>
          <a:noFill/>
        </p:spPr>
        <p:txBody>
          <a:bodyPr wrap="square" anchor="t" lIns="0" rIns="0" tIns="0" bIns="0">
            <a:spAutoFit/>
          </a:bodyPr>
          <a:lstStyle/>
          <a:p>
            <a:pPr algn="l">
              <a:spcBef>
                <a:spcPts val="0"/>
              </a:spcBef>
              <a:spcAft>
                <a:spcPts val="400"/>
              </a:spcAft>
            </a:pPr>
            <a:r>
              <a:rPr sz="950" b="0" i="1">
                <a:solidFill>
                  <a:srgbClr val="898781"/>
                </a:solidFill>
                <a:latin typeface="Segoe UI"/>
              </a:rPr>
              <a:t>The composed figure. The following slides show each panel full size.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5A</a:t>
            </a:r>
            <a:r>
              <a:rPr sz="1800" b="1">
                <a:solidFill>
                  <a:srgbClr val="0B0B0B"/>
                </a:solidFill>
                <a:latin typeface="Segoe UI"/>
              </a:rPr>
              <a:t>   ·   Residue frequency in the 54 substrates</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5A.png"/>
          <p:cNvPicPr>
            <a:picLocks noChangeAspect="1"/>
          </p:cNvPicPr>
          <p:nvPr/>
        </p:nvPicPr>
        <p:blipFill>
          <a:blip r:embed="rId2"/>
          <a:stretch>
            <a:fillRect/>
          </a:stretch>
        </p:blipFill>
        <p:spPr>
          <a:xfrm>
            <a:off x="457200" y="1097280"/>
            <a:ext cx="6188044" cy="5440680"/>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A 24 x 20 heatmap: the percentage of substrates carrying each amino acid at each position. Rows are grouped by chemical class with horizontal rules between classes and row labels coloured to match. The black box outlines positions 2-3.</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Inside the box: Gly 26% and Pro 22% at position 2; Asp 22% and Glu 15% at position 3. The rest of the map is a pale, even wash, which is what an unconstrained sequence looks like.</a:t>
            </a:r>
          </a:p>
          <a:p>
            <a:pPr algn="l">
              <a:spcBef>
                <a:spcPts val="900"/>
              </a:spcBef>
              <a:spcAft>
                <a:spcPts val="200"/>
              </a:spcAft>
            </a:pPr>
            <a:r>
              <a:rPr sz="900" b="1" i="0">
                <a:solidFill>
                  <a:srgbClr val="2A78D6"/>
                </a:solidFill>
                <a:latin typeface="Segoe UI"/>
              </a:rPr>
              <a:t>READING THE SCALE</a:t>
            </a:r>
          </a:p>
          <a:p>
            <a:pPr algn="l">
              <a:spcBef>
                <a:spcPts val="0"/>
              </a:spcBef>
              <a:spcAft>
                <a:spcPts val="0"/>
              </a:spcAft>
            </a:pPr>
            <a:r>
              <a:rPr sz="1019" b="0" i="0">
                <a:solidFill>
                  <a:srgbClr val="52514E"/>
                </a:solidFill>
                <a:latin typeface="Segoe UI"/>
              </a:rPr>
              <a:t>The colour ceiling is set at 28% so the motif cells are distinguishable. Met at position 1 is 100% and therefore saturates - it is labelled directly rather than left to the colour scale.</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These are raw frequencies with no background correction. A residue can look dark simply because it is common in human proteins. Panel B is the version that corrects for that.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5B</a:t>
            </a:r>
            <a:r>
              <a:rPr sz="1800" b="1">
                <a:solidFill>
                  <a:srgbClr val="0B0B0B"/>
                </a:solidFill>
                <a:latin typeface="Segoe UI"/>
              </a:rPr>
              <a:t>   ·   Enrichment over library background, FDR-masked</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5B.png"/>
          <p:cNvPicPr>
            <a:picLocks noChangeAspect="1"/>
          </p:cNvPicPr>
          <p:nvPr/>
        </p:nvPicPr>
        <p:blipFill>
          <a:blip r:embed="rId2"/>
          <a:stretch>
            <a:fillRect/>
          </a:stretch>
        </p:blipFill>
        <p:spPr>
          <a:xfrm>
            <a:off x="457200" y="1097280"/>
            <a:ext cx="6212042" cy="5440680"/>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The same 24 x 20 grid, now showing log2(substrate / library) with every cell that fails q &lt; 0.05 left beige. Red = enriched, blue = depleted.</a:t>
            </a:r>
          </a:p>
          <a:p>
            <a:pPr algn="l">
              <a:spcBef>
                <a:spcPts val="900"/>
              </a:spcBef>
              <a:spcAft>
                <a:spcPts val="200"/>
              </a:spcAft>
            </a:pPr>
            <a:r>
              <a:rPr sz="900" b="1" i="0">
                <a:solidFill>
                  <a:srgbClr val="2A78D6"/>
                </a:solidFill>
                <a:latin typeface="Segoe UI"/>
              </a:rPr>
              <a:t>HOW IT WAS COMPUTED</a:t>
            </a:r>
          </a:p>
          <a:p>
            <a:pPr algn="l">
              <a:spcBef>
                <a:spcPts val="0"/>
              </a:spcBef>
              <a:spcAft>
                <a:spcPts val="0"/>
              </a:spcAft>
            </a:pPr>
            <a:r>
              <a:rPr sz="1019" b="0" i="0">
                <a:solidFill>
                  <a:srgbClr val="52514E"/>
                </a:solidFill>
                <a:latin typeface="Segoe UI"/>
              </a:rPr>
              <a:t>All 480 position x residue cells tested by Fisher exact, with Benjamini-Hochberg correction across the entire matrix. The full table is sheet 12 of the workbook.</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Four cells survive out of 480. Asp at position 3 (+2.4, q = 0.002), Pro at position 2 (+2.2, q = 0.004), Gly at position 2 (+1.9, q = 0.006), and Arg at position 7 (+1.7, q = 0.042). The entire rest of the peptide is indistinguishable from background.</a:t>
            </a:r>
          </a:p>
          <a:p>
            <a:pPr algn="l">
              <a:spcBef>
                <a:spcPts val="900"/>
              </a:spcBef>
              <a:spcAft>
                <a:spcPts val="200"/>
              </a:spcAft>
            </a:pPr>
            <a:r>
              <a:rPr sz="900" b="1" i="0">
                <a:solidFill>
                  <a:srgbClr val="2A78D6"/>
                </a:solidFill>
                <a:latin typeface="Segoe UI"/>
              </a:rPr>
              <a:t>THE HONEST CAVEAT</a:t>
            </a:r>
          </a:p>
          <a:p>
            <a:pPr algn="l">
              <a:spcBef>
                <a:spcPts val="0"/>
              </a:spcBef>
              <a:spcAft>
                <a:spcPts val="0"/>
              </a:spcAft>
            </a:pPr>
            <a:r>
              <a:rPr sz="1019" b="0" i="0">
                <a:solidFill>
                  <a:srgbClr val="52514E"/>
                </a:solidFill>
                <a:latin typeface="Segoe UI"/>
              </a:rPr>
              <a:t>Arg at position 7 is real but weak - 22% of substrates versus 7% of the library, at the edge of significance and far below Bonferroni. It is reported rather than hidden, but it should be described as a borderline observation, not a second motif.</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40080" y="384048"/>
            <a:ext cx="10972800" cy="502920"/>
          </a:xfrm>
          <a:prstGeom prst="rect">
            <a:avLst/>
          </a:prstGeom>
          <a:noFill/>
        </p:spPr>
        <p:txBody>
          <a:bodyPr wrap="square" anchor="t" lIns="0" rIns="0" tIns="0" bIns="0">
            <a:spAutoFit/>
          </a:bodyPr>
          <a:lstStyle/>
          <a:p>
            <a:pPr algn="l">
              <a:spcBef>
                <a:spcPts val="0"/>
              </a:spcBef>
              <a:spcAft>
                <a:spcPts val="400"/>
              </a:spcAft>
            </a:pPr>
            <a:r>
              <a:rPr sz="2000" b="1" i="0">
                <a:solidFill>
                  <a:srgbClr val="0B0B0B"/>
                </a:solidFill>
                <a:latin typeface="Segoe UI"/>
              </a:rPr>
              <a:t>Figure 6 | Baseline stability: peptides above and below PSI 2.6</a:t>
            </a:r>
          </a:p>
        </p:txBody>
      </p:sp>
      <p:sp>
        <p:nvSpPr>
          <p:cNvPr id="3" name="Rectangle 2"/>
          <p:cNvSpPr/>
          <p:nvPr/>
        </p:nvSpPr>
        <p:spPr>
          <a:xfrm>
            <a:off x="640080" y="914400"/>
            <a:ext cx="1188720" cy="317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822960"/>
          </a:xfrm>
          <a:prstGeom prst="rect">
            <a:avLst/>
          </a:prstGeom>
          <a:noFill/>
        </p:spPr>
        <p:txBody>
          <a:bodyPr wrap="square" anchor="t" lIns="0" rIns="0" tIns="0" bIns="0">
            <a:spAutoFit/>
          </a:bodyPr>
          <a:lstStyle/>
          <a:p>
            <a:pPr algn="l">
              <a:spcBef>
                <a:spcPts val="0"/>
              </a:spcBef>
              <a:spcAft>
                <a:spcPts val="400"/>
              </a:spcAft>
            </a:pPr>
            <a:r>
              <a:rPr sz="1250" b="0" i="0">
                <a:solidFill>
                  <a:srgbClr val="52514E"/>
                </a:solidFill>
                <a:latin typeface="Segoe UI"/>
              </a:rPr>
              <a:t>Splits the library by how stable each peptide is BEFORE UBR3 is removed. A degron substrate should start unstable and gain stability when its E3 ligase is lost - which is what the substrates do. Also exposes the assay's ceiling effect.</a:t>
            </a:r>
          </a:p>
        </p:txBody>
      </p:sp>
      <p:pic>
        <p:nvPicPr>
          <p:cNvPr id="5" name="Picture 4" descr="Figure6_PSI_baseline_stability.png"/>
          <p:cNvPicPr>
            <a:picLocks noChangeAspect="1"/>
          </p:cNvPicPr>
          <p:nvPr/>
        </p:nvPicPr>
        <p:blipFill>
          <a:blip r:embed="rId2"/>
          <a:stretch>
            <a:fillRect/>
          </a:stretch>
        </p:blipFill>
        <p:spPr>
          <a:xfrm>
            <a:off x="2598342" y="1993392"/>
            <a:ext cx="6995010" cy="4343400"/>
          </a:xfrm>
          <a:prstGeom prst="rect">
            <a:avLst/>
          </a:prstGeom>
        </p:spPr>
      </p:pic>
      <p:sp>
        <p:nvSpPr>
          <p:cNvPr id="6" name="TextBox 5"/>
          <p:cNvSpPr txBox="1"/>
          <p:nvPr/>
        </p:nvSpPr>
        <p:spPr>
          <a:xfrm>
            <a:off x="640080" y="6446520"/>
            <a:ext cx="10972800" cy="274320"/>
          </a:xfrm>
          <a:prstGeom prst="rect">
            <a:avLst/>
          </a:prstGeom>
          <a:noFill/>
        </p:spPr>
        <p:txBody>
          <a:bodyPr wrap="square" anchor="t" lIns="0" rIns="0" tIns="0" bIns="0">
            <a:spAutoFit/>
          </a:bodyPr>
          <a:lstStyle/>
          <a:p>
            <a:pPr algn="l">
              <a:spcBef>
                <a:spcPts val="0"/>
              </a:spcBef>
              <a:spcAft>
                <a:spcPts val="400"/>
              </a:spcAft>
            </a:pPr>
            <a:r>
              <a:rPr sz="950" b="0" i="1">
                <a:solidFill>
                  <a:srgbClr val="898781"/>
                </a:solidFill>
                <a:latin typeface="Segoe UI"/>
              </a:rPr>
              <a:t>The composed figure. The following slides show each panel full size.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6A</a:t>
            </a:r>
            <a:r>
              <a:rPr sz="1800" b="1">
                <a:solidFill>
                  <a:srgbClr val="0B0B0B"/>
                </a:solidFill>
                <a:latin typeface="Segoe UI"/>
              </a:rPr>
              <a:t>   ·   49% of the library starts below PSI 2.6</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6A.png"/>
          <p:cNvPicPr>
            <a:picLocks noChangeAspect="1"/>
          </p:cNvPicPr>
          <p:nvPr/>
        </p:nvPicPr>
        <p:blipFill>
          <a:blip r:embed="rId2"/>
          <a:stretch>
            <a:fillRect/>
          </a:stretch>
        </p:blipFill>
        <p:spPr>
          <a:xfrm>
            <a:off x="457200" y="1364108"/>
            <a:ext cx="7086600" cy="4907023"/>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A histogram of control PSI across the library, coloured by stratum: purple below the cut, green above. Orange ticks below the axis mark where each of the 54 substrates falls.</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The distribution is clearly multimodal, with peaks near 1.5, 2.25 and 3.5. The cut at 2.6 splits it almost evenly (49% / 51%). 74% of the substrates sit in the unstable half.</a:t>
            </a:r>
          </a:p>
          <a:p>
            <a:pPr algn="l">
              <a:spcBef>
                <a:spcPts val="900"/>
              </a:spcBef>
              <a:spcAft>
                <a:spcPts val="200"/>
              </a:spcAft>
            </a:pPr>
            <a:r>
              <a:rPr sz="900" b="1" i="0">
                <a:solidFill>
                  <a:srgbClr val="2A78D6"/>
                </a:solidFill>
                <a:latin typeface="Segoe UI"/>
              </a:rPr>
              <a:t>WHY CONTROL PSI AND NOT ΔPSI</a:t>
            </a:r>
          </a:p>
          <a:p>
            <a:pPr algn="l">
              <a:spcBef>
                <a:spcPts val="0"/>
              </a:spcBef>
              <a:spcAft>
                <a:spcPts val="0"/>
              </a:spcAft>
            </a:pPr>
            <a:r>
              <a:rPr sz="1019" b="0" i="0">
                <a:solidFill>
                  <a:srgbClr val="52514E"/>
                </a:solidFill>
                <a:latin typeface="Segoe UI"/>
              </a:rPr>
              <a:t>Control PSI is measured before UBR3 is touched, so it describes the peptide's intrinsic stability. ΔPSI is the variable the substrates were selected on and cannot be used to stratify them - see Figure 8A.</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The substrate ticks are not uniformly spread through the unstable half; they concentrate between roughly 2.0 and 2.9. Very unstable peptides (PSI &lt; 1.5) are also poor substrates, presumably because they are degraded by other routes.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6B</a:t>
            </a:r>
            <a:r>
              <a:rPr sz="1800" b="1">
                <a:solidFill>
                  <a:srgbClr val="0B0B0B"/>
                </a:solidFill>
                <a:latin typeface="Segoe UI"/>
              </a:rPr>
              <a:t>   ·   31 of the 40 substrates below the line cross it</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6B.png"/>
          <p:cNvPicPr>
            <a:picLocks noChangeAspect="1"/>
          </p:cNvPicPr>
          <p:nvPr/>
        </p:nvPicPr>
        <p:blipFill>
          <a:blip r:embed="rId2"/>
          <a:stretch>
            <a:fillRect/>
          </a:stretch>
        </p:blipFill>
        <p:spPr>
          <a:xfrm>
            <a:off x="457200" y="1097280"/>
            <a:ext cx="6601411" cy="5440680"/>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Control PSI on the x-axis against UBR3-KO PSI on the y-axis for all 16,514 peptides. Pale dots are the library; orange dots are the 54 substrates. The dotted diagonal is "no change"; the dashed lines mark PSI 2.6. The shaded upper-left quadrant is where a peptide starts unstable and ends stable.</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Substrates sit well above the diagonal - they gain stability. 31 of the 40 substrates that start below PSI 2.6 rise above it in UBR3 KO, versus a library background of 8.9%.</a:t>
            </a:r>
          </a:p>
          <a:p>
            <a:pPr algn="l">
              <a:spcBef>
                <a:spcPts val="900"/>
              </a:spcBef>
              <a:spcAft>
                <a:spcPts val="200"/>
              </a:spcAft>
            </a:pPr>
            <a:r>
              <a:rPr sz="900" b="1" i="0">
                <a:solidFill>
                  <a:srgbClr val="2A78D6"/>
                </a:solidFill>
                <a:latin typeface="Segoe UI"/>
              </a:rPr>
              <a:t>WHY THE DIAGONAL MATTERS</a:t>
            </a:r>
          </a:p>
          <a:p>
            <a:pPr algn="l">
              <a:spcBef>
                <a:spcPts val="0"/>
              </a:spcBef>
              <a:spcAft>
                <a:spcPts val="0"/>
              </a:spcAft>
            </a:pPr>
            <a:r>
              <a:rPr sz="1019" b="0" i="0">
                <a:solidFill>
                  <a:srgbClr val="52514E"/>
                </a:solidFill>
                <a:latin typeface="Segoe UI"/>
              </a:rPr>
              <a:t>Distance above the diagonal is ΔPSI. Plotting the two PSI values instead of ΔPSI alone shows both how much a peptide moved and where it started, which is what the stratified analysis in Figure 7 depends on.</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The pale cloud is thickest along the diagonal at both extremes because peptides pinned at PSI 1 or PSI 4 cannot move. That is the ceiling effect quantified in panel 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6C</a:t>
            </a:r>
            <a:r>
              <a:rPr sz="1800" b="1">
                <a:solidFill>
                  <a:srgbClr val="0B0B0B"/>
                </a:solidFill>
                <a:latin typeface="Segoe UI"/>
              </a:rPr>
              <a:t>   ·   Stabilisation peaks near PSI 2.75 and reverses above 3.5</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6C.png"/>
          <p:cNvPicPr>
            <a:picLocks noChangeAspect="1"/>
          </p:cNvPicPr>
          <p:nvPr/>
        </p:nvPicPr>
        <p:blipFill>
          <a:blip r:embed="rId2"/>
          <a:stretch>
            <a:fillRect/>
          </a:stretch>
        </p:blipFill>
        <p:spPr>
          <a:xfrm>
            <a:off x="457200" y="1344713"/>
            <a:ext cx="7086600" cy="4945814"/>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Mean ΔPSI with standard-error bars, in 0.5-wide bins of control PSI. Bar colour follows the stratum of the bin midpoint; the dashed line marks the actual cut at 2.6. Bin sizes are printed along the axis.</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A clear inverted-U. Mean ΔPSI rises from +0.080 in the 1-1.5 bin to a maximum of +0.150 in the 2.5-3.0 bin, then falls to +0.085 and finally turns NEGATIVE at -0.067 in the 3.5-4.0 bin.</a:t>
            </a:r>
          </a:p>
          <a:p>
            <a:pPr algn="l">
              <a:spcBef>
                <a:spcPts val="900"/>
              </a:spcBef>
              <a:spcAft>
                <a:spcPts val="200"/>
              </a:spcAft>
            </a:pPr>
            <a:r>
              <a:rPr sz="900" b="1" i="0">
                <a:solidFill>
                  <a:srgbClr val="2A78D6"/>
                </a:solidFill>
                <a:latin typeface="Segoe UI"/>
              </a:rPr>
              <a:t>WHY IT MATTERS</a:t>
            </a:r>
          </a:p>
          <a:p>
            <a:pPr algn="l">
              <a:spcBef>
                <a:spcPts val="0"/>
              </a:spcBef>
              <a:spcAft>
                <a:spcPts val="0"/>
              </a:spcAft>
            </a:pPr>
            <a:r>
              <a:rPr sz="1019" b="0" i="0">
                <a:solidFill>
                  <a:srgbClr val="52514E"/>
                </a:solidFill>
                <a:latin typeface="Segoe UI"/>
              </a:rPr>
              <a:t>This is an assay ceiling, not biology. A peptide already at PSI 3.9 has almost no room to gain, so stabilisation becomes undetectable and measurement noise dominates. Any claim about substrates being concentrated at low PSI has to be read against this constraint.</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Error bars are SEM across thousands of peptides and are therefore tiny; they show the mean is precisely estimated, not that individual peptides behave consistently.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6D</a:t>
            </a:r>
            <a:r>
              <a:rPr sz="1800" b="1">
                <a:solidFill>
                  <a:srgbClr val="0B0B0B"/>
                </a:solidFill>
                <a:latin typeface="Segoe UI"/>
              </a:rPr>
              <a:t>   ·   Substrates are 3x more common below the line</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6D.png"/>
          <p:cNvPicPr>
            <a:picLocks noChangeAspect="1"/>
          </p:cNvPicPr>
          <p:nvPr/>
        </p:nvPicPr>
        <p:blipFill>
          <a:blip r:embed="rId2"/>
          <a:stretch>
            <a:fillRect/>
          </a:stretch>
        </p:blipFill>
        <p:spPr>
          <a:xfrm>
            <a:off x="457200" y="1097280"/>
            <a:ext cx="6757806" cy="5440680"/>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The percentage of peptides in each baseline stratum that are UBR3 substrates, with Wilson 95% confidence intervals and counts printed below each bar.</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0.493% of unstable peptides (40 of 8,112) are substrates versus 0.167% of stable ones (14 of 8,402) - a 3.0-fold difference, Fisher OR 3.0, p = 3.0 x 10^-4.</a:t>
            </a:r>
          </a:p>
          <a:p>
            <a:pPr algn="l">
              <a:spcBef>
                <a:spcPts val="900"/>
              </a:spcBef>
              <a:spcAft>
                <a:spcPts val="200"/>
              </a:spcAft>
            </a:pPr>
            <a:r>
              <a:rPr sz="900" b="1" i="0">
                <a:solidFill>
                  <a:srgbClr val="2A78D6"/>
                </a:solidFill>
                <a:latin typeface="Segoe UI"/>
              </a:rPr>
              <a:t>THE CAVEAT THAT MUST TRAVEL WITH THIS PANEL</a:t>
            </a:r>
          </a:p>
          <a:p>
            <a:pPr algn="l">
              <a:spcBef>
                <a:spcPts val="0"/>
              </a:spcBef>
              <a:spcAft>
                <a:spcPts val="0"/>
              </a:spcAft>
            </a:pPr>
            <a:r>
              <a:rPr sz="1019" b="0" i="0">
                <a:solidFill>
                  <a:srgbClr val="52514E"/>
                </a:solidFill>
                <a:latin typeface="Segoe UI"/>
              </a:rPr>
              <a:t>This is the one result in the whole package that is genuinely sensitive to where the cut is placed: at PSI 3 the same comparison gives 16-fold. The reason is the ceiling effect in panel C - a higher cut mechanically herds substrates into the low stratum. The 3-fold figure at the data-driven cut is the more honest number.</a:t>
            </a:r>
          </a:p>
          <a:p>
            <a:pPr algn="l">
              <a:spcBef>
                <a:spcPts val="900"/>
              </a:spcBef>
              <a:spcAft>
                <a:spcPts val="200"/>
              </a:spcAft>
            </a:pPr>
            <a:r>
              <a:rPr sz="900" b="1" i="0">
                <a:solidFill>
                  <a:srgbClr val="2A78D6"/>
                </a:solidFill>
                <a:latin typeface="Segoe UI"/>
              </a:rPr>
              <a:t>WHAT IS NOT CUTOFF-SENSITIVE</a:t>
            </a:r>
          </a:p>
          <a:p>
            <a:pPr algn="l">
              <a:spcBef>
                <a:spcPts val="0"/>
              </a:spcBef>
              <a:spcAft>
                <a:spcPts val="0"/>
              </a:spcAft>
            </a:pPr>
            <a:r>
              <a:rPr sz="1019" b="0" i="0">
                <a:solidFill>
                  <a:srgbClr val="52514E"/>
                </a:solidFill>
                <a:latin typeface="Segoe UI"/>
              </a:rPr>
              <a:t>The motif results in Figure 7 are stable across every cut from 2.0 to 3.4 (Figure 8C). Only this baseline-stability contrast moves.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40080" y="384048"/>
            <a:ext cx="10972800" cy="502920"/>
          </a:xfrm>
          <a:prstGeom prst="rect">
            <a:avLst/>
          </a:prstGeom>
          <a:noFill/>
        </p:spPr>
        <p:txBody>
          <a:bodyPr wrap="square" anchor="t" lIns="0" rIns="0" tIns="0" bIns="0">
            <a:spAutoFit/>
          </a:bodyPr>
          <a:lstStyle/>
          <a:p>
            <a:pPr algn="l">
              <a:spcBef>
                <a:spcPts val="0"/>
              </a:spcBef>
              <a:spcAft>
                <a:spcPts val="400"/>
              </a:spcAft>
            </a:pPr>
            <a:r>
              <a:rPr sz="2000" b="1" i="0">
                <a:solidFill>
                  <a:srgbClr val="0B0B0B"/>
                </a:solidFill>
                <a:latin typeface="Segoe UI"/>
              </a:rPr>
              <a:t>Figure 7 | The motif effect is not a by-product of baseline instability</a:t>
            </a:r>
          </a:p>
        </p:txBody>
      </p:sp>
      <p:sp>
        <p:nvSpPr>
          <p:cNvPr id="3" name="Rectangle 2"/>
          <p:cNvSpPr/>
          <p:nvPr/>
        </p:nvSpPr>
        <p:spPr>
          <a:xfrm>
            <a:off x="640080" y="914400"/>
            <a:ext cx="1188720" cy="317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822960"/>
          </a:xfrm>
          <a:prstGeom prst="rect">
            <a:avLst/>
          </a:prstGeom>
          <a:noFill/>
        </p:spPr>
        <p:txBody>
          <a:bodyPr wrap="square" anchor="t" lIns="0" rIns="0" tIns="0" bIns="0">
            <a:spAutoFit/>
          </a:bodyPr>
          <a:lstStyle/>
          <a:p>
            <a:pPr algn="l">
              <a:spcBef>
                <a:spcPts val="0"/>
              </a:spcBef>
              <a:spcAft>
                <a:spcPts val="400"/>
              </a:spcAft>
            </a:pPr>
            <a:r>
              <a:rPr sz="1250" b="0" i="0">
                <a:solidFill>
                  <a:srgbClr val="52514E"/>
                </a:solidFill>
                <a:latin typeface="Segoe UI"/>
              </a:rPr>
              <a:t>The key control. Pro/Gly N-termini are themselves destabilising, so the motif could in principle be enriched for that reason alone. Stratifying by control PSI shows it is not: the motif is evenly distributed across strata yet enriches for substrates within each one, with essentially the same odds ratio.</a:t>
            </a:r>
          </a:p>
        </p:txBody>
      </p:sp>
      <p:pic>
        <p:nvPicPr>
          <p:cNvPr id="5" name="Picture 4" descr="Figure7_motif_vs_baseline_stability.png"/>
          <p:cNvPicPr>
            <a:picLocks noChangeAspect="1"/>
          </p:cNvPicPr>
          <p:nvPr/>
        </p:nvPicPr>
        <p:blipFill>
          <a:blip r:embed="rId2"/>
          <a:stretch>
            <a:fillRect/>
          </a:stretch>
        </p:blipFill>
        <p:spPr>
          <a:xfrm>
            <a:off x="2994233" y="1993392"/>
            <a:ext cx="6203229" cy="4343400"/>
          </a:xfrm>
          <a:prstGeom prst="rect">
            <a:avLst/>
          </a:prstGeom>
        </p:spPr>
      </p:pic>
      <p:sp>
        <p:nvSpPr>
          <p:cNvPr id="6" name="TextBox 5"/>
          <p:cNvSpPr txBox="1"/>
          <p:nvPr/>
        </p:nvSpPr>
        <p:spPr>
          <a:xfrm>
            <a:off x="640080" y="6446520"/>
            <a:ext cx="10972800" cy="274320"/>
          </a:xfrm>
          <a:prstGeom prst="rect">
            <a:avLst/>
          </a:prstGeom>
          <a:noFill/>
        </p:spPr>
        <p:txBody>
          <a:bodyPr wrap="square" anchor="t" lIns="0" rIns="0" tIns="0" bIns="0">
            <a:spAutoFit/>
          </a:bodyPr>
          <a:lstStyle/>
          <a:p>
            <a:pPr algn="l">
              <a:spcBef>
                <a:spcPts val="0"/>
              </a:spcBef>
              <a:spcAft>
                <a:spcPts val="400"/>
              </a:spcAft>
            </a:pPr>
            <a:r>
              <a:rPr sz="950" b="0" i="1">
                <a:solidFill>
                  <a:srgbClr val="898781"/>
                </a:solidFill>
                <a:latin typeface="Segoe UI"/>
              </a:rPr>
              <a:t>The composed figure. The following slides show each panel full size.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7A</a:t>
            </a:r>
            <a:r>
              <a:rPr sz="1800" b="1">
                <a:solidFill>
                  <a:srgbClr val="0B0B0B"/>
                </a:solidFill>
                <a:latin typeface="Segoe UI"/>
              </a:rPr>
              <a:t>   ·   The motif effect survives stratification</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7A.png"/>
          <p:cNvPicPr>
            <a:picLocks noChangeAspect="1"/>
          </p:cNvPicPr>
          <p:nvPr/>
        </p:nvPicPr>
        <p:blipFill>
          <a:blip r:embed="rId2"/>
          <a:stretch>
            <a:fillRect/>
          </a:stretch>
        </p:blipFill>
        <p:spPr>
          <a:xfrm>
            <a:off x="457200" y="1348108"/>
            <a:ext cx="7086600" cy="4939024"/>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Substrate rate for each motif class, computed separately WITHIN each baseline-stability stratum. Purple bars are peptides that start unstable, green bars those that start stable. Counts are printed under each bar.</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Among unstable peptides: 13.41% for [P/G]-[E/D] versus 0.295% for non-P/G, Fisher OR 52.3, p = 2.5 x 10^-14. Among stable peptides: 5.15% versus 0.105%, OR 51.9, p = 3.3 x 10^-7.</a:t>
            </a:r>
          </a:p>
          <a:p>
            <a:pPr algn="l">
              <a:spcBef>
                <a:spcPts val="900"/>
              </a:spcBef>
              <a:spcAft>
                <a:spcPts val="200"/>
              </a:spcAft>
            </a:pPr>
            <a:r>
              <a:rPr sz="900" b="1" i="0">
                <a:solidFill>
                  <a:srgbClr val="2A78D6"/>
                </a:solidFill>
                <a:latin typeface="Segoe UI"/>
              </a:rPr>
              <a:t>THE POINT OF THE PANEL</a:t>
            </a:r>
          </a:p>
          <a:p>
            <a:pPr algn="l">
              <a:spcBef>
                <a:spcPts val="0"/>
              </a:spcBef>
              <a:spcAft>
                <a:spcPts val="0"/>
              </a:spcAft>
            </a:pPr>
            <a:r>
              <a:rPr sz="1019" b="0" i="0">
                <a:solidFill>
                  <a:srgbClr val="52514E"/>
                </a:solidFill>
                <a:latin typeface="Segoe UI"/>
              </a:rPr>
              <a:t>The two odds ratios are 52 and 52 - essentially identical. That is what "no interaction with baseline stability" looks like. The motif multiplies a peptide's chance of being a substrate by the same factor regardless of how stable it started.</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The absolute rates differ between strata (13.4% vs 5.2%) even though the odds ratios do not. That is the ceiling effect again: stabilisation is simply harder to detect at high baseline PSI.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7B</a:t>
            </a:r>
            <a:r>
              <a:rPr sz="1800" b="1">
                <a:solidFill>
                  <a:srgbClr val="0B0B0B"/>
                </a:solidFill>
                <a:latin typeface="Segoe UI"/>
              </a:rPr>
              <a:t>   ·   [P/G]-[E/D] is not over-represented among unstable peptides</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7B.png"/>
          <p:cNvPicPr>
            <a:picLocks noChangeAspect="1"/>
          </p:cNvPicPr>
          <p:nvPr/>
        </p:nvPicPr>
        <p:blipFill>
          <a:blip r:embed="rId2"/>
          <a:stretch>
            <a:fillRect/>
          </a:stretch>
        </p:blipFill>
        <p:spPr>
          <a:xfrm>
            <a:off x="457200" y="1340810"/>
            <a:ext cx="7086599" cy="4953619"/>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How common each sequence feature is within each stratum. Left pair: the [P/G]-[E/D] motif. Right pair: bare Pro or Gly at position 2, with no requirement at position 3.</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The motif is carried by 1.01% of unstable and 1.15% of stable peptides - evenly split. Bare Pro/Gly is very unevenly split: 16.56% of unstable versus 9.01% of stable peptides.</a:t>
            </a:r>
          </a:p>
          <a:p>
            <a:pPr algn="l">
              <a:spcBef>
                <a:spcPts val="900"/>
              </a:spcBef>
              <a:spcAft>
                <a:spcPts val="200"/>
              </a:spcAft>
            </a:pPr>
            <a:r>
              <a:rPr sz="900" b="1" i="0">
                <a:solidFill>
                  <a:srgbClr val="2A78D6"/>
                </a:solidFill>
                <a:latin typeface="Segoe UI"/>
              </a:rPr>
              <a:t>WHY THIS IS THE CRUCIAL CONTROL</a:t>
            </a:r>
          </a:p>
          <a:p>
            <a:pPr algn="l">
              <a:spcBef>
                <a:spcPts val="0"/>
              </a:spcBef>
              <a:spcAft>
                <a:spcPts val="0"/>
              </a:spcAft>
            </a:pPr>
            <a:r>
              <a:rPr sz="1019" b="0" i="0">
                <a:solidFill>
                  <a:srgbClr val="52514E"/>
                </a:solidFill>
                <a:latin typeface="Segoe UI"/>
              </a:rPr>
              <a:t>If [P/G]-[E/D] were simply a marker of intrinsically unstable peptides, it would be concentrated in the purple bars. It is not. So its association with substrate status cannot be operating through baseline stability - the confound is empirically excluded, not just argued away.</a:t>
            </a:r>
          </a:p>
          <a:p>
            <a:pPr algn="l">
              <a:spcBef>
                <a:spcPts val="900"/>
              </a:spcBef>
              <a:spcAft>
                <a:spcPts val="200"/>
              </a:spcAft>
            </a:pPr>
            <a:r>
              <a:rPr sz="900" b="1" i="0">
                <a:solidFill>
                  <a:srgbClr val="2A78D6"/>
                </a:solidFill>
                <a:latin typeface="Segoe UI"/>
              </a:rPr>
              <a:t>THE MECHANISTIC READING</a:t>
            </a:r>
          </a:p>
          <a:p>
            <a:pPr algn="l">
              <a:spcBef>
                <a:spcPts val="0"/>
              </a:spcBef>
              <a:spcAft>
                <a:spcPts val="0"/>
              </a:spcAft>
            </a:pPr>
            <a:r>
              <a:rPr sz="1019" b="0" i="0">
                <a:solidFill>
                  <a:srgbClr val="52514E"/>
                </a:solidFill>
                <a:latin typeface="Segoe UI"/>
              </a:rPr>
              <a:t>Pro/Gly N-termini ARE destabilising - that is the right-hand pair. But that instability is not UBR3-dependent. The acidic residue at position 3 is what converts a generically unstable N-terminus into a UBR3 substrate.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7C</a:t>
            </a:r>
            <a:r>
              <a:rPr sz="1800" b="1">
                <a:solidFill>
                  <a:srgbClr val="0B0B0B"/>
                </a:solidFill>
                <a:latin typeface="Segoe UI"/>
              </a:rPr>
              <a:t>   ·   Crossing is graded, not all-or-nothing</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7C.png"/>
          <p:cNvPicPr>
            <a:picLocks noChangeAspect="1"/>
          </p:cNvPicPr>
          <p:nvPr/>
        </p:nvPicPr>
        <p:blipFill>
          <a:blip r:embed="rId2"/>
          <a:stretch>
            <a:fillRect/>
          </a:stretch>
        </p:blipFill>
        <p:spPr>
          <a:xfrm>
            <a:off x="457200" y="1510731"/>
            <a:ext cx="7086600" cy="4613777"/>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Among peptides that start below PSI 2.6, the percentage that rise above it when UBR3 is lost. Three groups: the substrates, motif-bearing peptides that are NOT substrates, and all library peptides as background.</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A three-tier gradient: 77.5% of substrates cross (31 of 40), 21.1% of motif-bearing non-substrates (15 of 71), and 8.9% of library peptides overall (726 of 8,112).</a:t>
            </a:r>
          </a:p>
          <a:p>
            <a:pPr algn="l">
              <a:spcBef>
                <a:spcPts val="900"/>
              </a:spcBef>
              <a:spcAft>
                <a:spcPts val="200"/>
              </a:spcAft>
            </a:pPr>
            <a:r>
              <a:rPr sz="900" b="1" i="0">
                <a:solidFill>
                  <a:srgbClr val="2A78D6"/>
                </a:solidFill>
                <a:latin typeface="Segoe UI"/>
              </a:rPr>
              <a:t>THE FINDING WORTH FLAGGING</a:t>
            </a:r>
          </a:p>
          <a:p>
            <a:pPr algn="l">
              <a:spcBef>
                <a:spcPts val="0"/>
              </a:spcBef>
              <a:spcAft>
                <a:spcPts val="0"/>
              </a:spcAft>
            </a:pPr>
            <a:r>
              <a:rPr sz="1019" b="0" i="0">
                <a:solidFill>
                  <a:srgbClr val="52514E"/>
                </a:solidFill>
                <a:latin typeface="Segoe UI"/>
              </a:rPr>
              <a:t>The 163 motif-bearing "non-responders" are not inert. They cross at more than twice the background rate. Carrying the motif produces a real effect that simply falls below the threshold for being called a substrate.</a:t>
            </a:r>
          </a:p>
          <a:p>
            <a:pPr algn="l">
              <a:spcBef>
                <a:spcPts val="900"/>
              </a:spcBef>
              <a:spcAft>
                <a:spcPts val="200"/>
              </a:spcAft>
            </a:pPr>
            <a:r>
              <a:rPr sz="900" b="1" i="0">
                <a:solidFill>
                  <a:srgbClr val="2A78D6"/>
                </a:solidFill>
                <a:latin typeface="Segoe UI"/>
              </a:rPr>
              <a:t>HOW TO PHRASE IT</a:t>
            </a:r>
          </a:p>
          <a:p>
            <a:pPr algn="l">
              <a:spcBef>
                <a:spcPts val="0"/>
              </a:spcBef>
              <a:spcAft>
                <a:spcPts val="0"/>
              </a:spcAft>
            </a:pPr>
            <a:r>
              <a:rPr sz="1019" b="0" i="0">
                <a:solidFill>
                  <a:srgbClr val="52514E"/>
                </a:solidFill>
                <a:latin typeface="Segoe UI"/>
              </a:rPr>
              <a:t>This slightly softens "necessary but not sufficient" in a useful direction: substrate status is the top of a continuum rather than a distinct category. The motif confers a graded increase in UBR3 sensitivity.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7D</a:t>
            </a:r>
            <a:r>
              <a:rPr sz="1800" b="1">
                <a:solidFill>
                  <a:srgbClr val="0B0B0B"/>
                </a:solidFill>
                <a:latin typeface="Segoe UI"/>
              </a:rPr>
              <a:t>   ·   Within unstable peptides, the motif still shifts ΔPSI</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7D.png"/>
          <p:cNvPicPr>
            <a:picLocks noChangeAspect="1"/>
          </p:cNvPicPr>
          <p:nvPr/>
        </p:nvPicPr>
        <p:blipFill>
          <a:blip r:embed="rId2"/>
          <a:stretch>
            <a:fillRect/>
          </a:stretch>
        </p:blipFill>
        <p:spPr>
          <a:xfrm>
            <a:off x="457200" y="1293738"/>
            <a:ext cx="7086600" cy="5047763"/>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Box plots of mean ΔPSI by motif class, restricted to peptides that start below PSI 2.6. Boxes give median and quartiles, whiskers the 1.5 IQR range. Individual points are overlaid where the group is small enough to show them.</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The [P/G]-[E/D] box sits visibly higher than the other two, with a longer upper whisker. Mann-Whitney against non-P/G gives p = 1.7 x 10^-6.</a:t>
            </a:r>
          </a:p>
          <a:p>
            <a:pPr algn="l">
              <a:spcBef>
                <a:spcPts val="900"/>
              </a:spcBef>
              <a:spcAft>
                <a:spcPts val="200"/>
              </a:spcAft>
            </a:pPr>
            <a:r>
              <a:rPr sz="900" b="1" i="0">
                <a:solidFill>
                  <a:srgbClr val="2A78D6"/>
                </a:solidFill>
                <a:latin typeface="Segoe UI"/>
              </a:rPr>
              <a:t>WHY RESTRICT TO THE UNSTABLE STRATUM</a:t>
            </a:r>
          </a:p>
          <a:p>
            <a:pPr algn="l">
              <a:spcBef>
                <a:spcPts val="0"/>
              </a:spcBef>
              <a:spcAft>
                <a:spcPts val="0"/>
              </a:spcAft>
            </a:pPr>
            <a:r>
              <a:rPr sz="1019" b="0" i="0">
                <a:solidFill>
                  <a:srgbClr val="52514E"/>
                </a:solidFill>
                <a:latin typeface="Segoe UI"/>
              </a:rPr>
              <a:t>It removes baseline stability as an explanation by construction. Every peptide in this panel started in the same stability regime, so the remaining difference between boxes has to come from the sequence motif itself.</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The boxes overlap substantially. As in Figure 2B, the effect is a distributional shift, not a separation - most motif-bearing peptides still behave like the background.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40080" y="384048"/>
            <a:ext cx="10972800" cy="502920"/>
          </a:xfrm>
          <a:prstGeom prst="rect">
            <a:avLst/>
          </a:prstGeom>
          <a:noFill/>
        </p:spPr>
        <p:txBody>
          <a:bodyPr wrap="square" anchor="t" lIns="0" rIns="0" tIns="0" bIns="0">
            <a:spAutoFit/>
          </a:bodyPr>
          <a:lstStyle/>
          <a:p>
            <a:pPr algn="l">
              <a:spcBef>
                <a:spcPts val="0"/>
              </a:spcBef>
              <a:spcAft>
                <a:spcPts val="400"/>
              </a:spcAft>
            </a:pPr>
            <a:r>
              <a:rPr sz="2000" b="1" i="0">
                <a:solidFill>
                  <a:srgbClr val="0B0B0B"/>
                </a:solidFill>
                <a:latin typeface="Segoe UI"/>
              </a:rPr>
              <a:t>Figure 8 | Why control PSI, not ΔPSI - and why the cut does not matter</a:t>
            </a:r>
          </a:p>
        </p:txBody>
      </p:sp>
      <p:sp>
        <p:nvSpPr>
          <p:cNvPr id="3" name="Rectangle 2"/>
          <p:cNvSpPr/>
          <p:nvPr/>
        </p:nvSpPr>
        <p:spPr>
          <a:xfrm>
            <a:off x="640080" y="914400"/>
            <a:ext cx="1188720" cy="317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822960"/>
          </a:xfrm>
          <a:prstGeom prst="rect">
            <a:avLst/>
          </a:prstGeom>
          <a:noFill/>
        </p:spPr>
        <p:txBody>
          <a:bodyPr wrap="square" anchor="t" lIns="0" rIns="0" tIns="0" bIns="0">
            <a:spAutoFit/>
          </a:bodyPr>
          <a:lstStyle/>
          <a:p>
            <a:pPr algn="l">
              <a:spcBef>
                <a:spcPts val="0"/>
              </a:spcBef>
              <a:spcAft>
                <a:spcPts val="400"/>
              </a:spcAft>
            </a:pPr>
            <a:r>
              <a:rPr sz="1250" b="0" i="0">
                <a:solidFill>
                  <a:srgbClr val="52514E"/>
                </a:solidFill>
                <a:latin typeface="Segoe UI"/>
              </a:rPr>
              <a:t>Answers two methodological objections. First, ΔPSI cannot define the stability strata because the substrates were selected on it. Second, the PSI 2.6 cut is the empirical antimode, and every conclusion survives both a cutoff sweep and a fully cutoff-free model.</a:t>
            </a:r>
          </a:p>
        </p:txBody>
      </p:sp>
      <p:pic>
        <p:nvPicPr>
          <p:cNvPr id="5" name="Picture 4" descr="Figure8_PSI_vs_dPSI_and_cutoff_robustness.png"/>
          <p:cNvPicPr>
            <a:picLocks noChangeAspect="1"/>
          </p:cNvPicPr>
          <p:nvPr/>
        </p:nvPicPr>
        <p:blipFill>
          <a:blip r:embed="rId2"/>
          <a:stretch>
            <a:fillRect/>
          </a:stretch>
        </p:blipFill>
        <p:spPr>
          <a:xfrm>
            <a:off x="3117943" y="1993392"/>
            <a:ext cx="5955808" cy="4343400"/>
          </a:xfrm>
          <a:prstGeom prst="rect">
            <a:avLst/>
          </a:prstGeom>
        </p:spPr>
      </p:pic>
      <p:sp>
        <p:nvSpPr>
          <p:cNvPr id="6" name="TextBox 5"/>
          <p:cNvSpPr txBox="1"/>
          <p:nvPr/>
        </p:nvSpPr>
        <p:spPr>
          <a:xfrm>
            <a:off x="640080" y="6446520"/>
            <a:ext cx="10972800" cy="274320"/>
          </a:xfrm>
          <a:prstGeom prst="rect">
            <a:avLst/>
          </a:prstGeom>
          <a:noFill/>
        </p:spPr>
        <p:txBody>
          <a:bodyPr wrap="square" anchor="t" lIns="0" rIns="0" tIns="0" bIns="0">
            <a:spAutoFit/>
          </a:bodyPr>
          <a:lstStyle/>
          <a:p>
            <a:pPr algn="l">
              <a:spcBef>
                <a:spcPts val="0"/>
              </a:spcBef>
              <a:spcAft>
                <a:spcPts val="400"/>
              </a:spcAft>
            </a:pPr>
            <a:r>
              <a:rPr sz="950" b="0" i="1">
                <a:solidFill>
                  <a:srgbClr val="898781"/>
                </a:solidFill>
                <a:latin typeface="Segoe UI"/>
              </a:rPr>
              <a:t>The composed figure. The following slides show each panel full size.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8A</a:t>
            </a:r>
            <a:r>
              <a:rPr sz="1800" b="1">
                <a:solidFill>
                  <a:srgbClr val="0B0B0B"/>
                </a:solidFill>
                <a:latin typeface="Segoe UI"/>
              </a:rPr>
              <a:t>   ·   PSI and ΔPSI measure different things</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8A.png"/>
          <p:cNvPicPr>
            <a:picLocks noChangeAspect="1"/>
          </p:cNvPicPr>
          <p:nvPr/>
        </p:nvPicPr>
        <p:blipFill>
          <a:blip r:embed="rId2"/>
          <a:stretch>
            <a:fillRect/>
          </a:stretch>
        </p:blipFill>
        <p:spPr>
          <a:xfrm>
            <a:off x="457200" y="1173851"/>
            <a:ext cx="7086600" cy="5287537"/>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Control PSI against mean ΔPSI for all 16,514 peptides, with the 54 substrates in orange. The dashed vertical line is the stratification cut.</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The two axes are nearly independent: Spearman rho = -0.20, meaning baseline stability explains only about 3% of the variance in UBR3 dependence.</a:t>
            </a:r>
          </a:p>
          <a:p>
            <a:pPr algn="l">
              <a:spcBef>
                <a:spcPts val="900"/>
              </a:spcBef>
              <a:spcAft>
                <a:spcPts val="200"/>
              </a:spcAft>
            </a:pPr>
            <a:r>
              <a:rPr sz="900" b="1" i="0">
                <a:solidFill>
                  <a:srgbClr val="2A78D6"/>
                </a:solidFill>
                <a:latin typeface="Segoe UI"/>
              </a:rPr>
              <a:t>WHY ΔPSI CANNOT DEFINE THE STRATA</a:t>
            </a:r>
          </a:p>
          <a:p>
            <a:pPr algn="l">
              <a:spcBef>
                <a:spcPts val="0"/>
              </a:spcBef>
              <a:spcAft>
                <a:spcPts val="0"/>
              </a:spcAft>
            </a:pPr>
            <a:r>
              <a:rPr sz="1019" b="0" i="0">
                <a:solidFill>
                  <a:srgbClr val="52514E"/>
                </a:solidFill>
                <a:latin typeface="Segoe UI"/>
              </a:rPr>
              <a:t>The 54 substrates were SELECTED on ΔPSI. Splitting the library on ΔPSI and then asking where the substrates fall is circular - at every threshold tested (0.1, 0.2, 0.3, 0.5) all 54 land in the high group by construction. Control PSI is measured before UBR3 is perturbed and is therefore a legitimate stratifier.</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The mild negative correlation is itself the ceiling effect: peptides starting at high PSI have less room to gain, which pushes their ΔPSI down.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8B</a:t>
            </a:r>
            <a:r>
              <a:rPr sz="1800" b="1">
                <a:solidFill>
                  <a:srgbClr val="0B0B0B"/>
                </a:solidFill>
                <a:latin typeface="Segoe UI"/>
              </a:rPr>
              <a:t>   ·   The cut is data-driven, not a round number</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8B.png"/>
          <p:cNvPicPr>
            <a:picLocks noChangeAspect="1"/>
          </p:cNvPicPr>
          <p:nvPr/>
        </p:nvPicPr>
        <p:blipFill>
          <a:blip r:embed="rId2"/>
          <a:stretch>
            <a:fillRect/>
          </a:stretch>
        </p:blipFill>
        <p:spPr>
          <a:xfrm>
            <a:off x="457200" y="1373692"/>
            <a:ext cx="7086600" cy="4887855"/>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A kernel density estimate of control PSI. Grey dotted lines mark the modes; red dots mark the density minima (antimodes). The dashed black line is the cut used throughout.</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Three robust modes at approximately 1.52, 2.25 and 3.49, with antimodes at 1.94 and 2.61. The cut at 2.6 sits on the second antimode - the natural boundary between the two unstable modes and the stable one.</a:t>
            </a:r>
          </a:p>
          <a:p>
            <a:pPr algn="l">
              <a:spcBef>
                <a:spcPts val="900"/>
              </a:spcBef>
              <a:spcAft>
                <a:spcPts val="200"/>
              </a:spcAft>
            </a:pPr>
            <a:r>
              <a:rPr sz="900" b="1" i="0">
                <a:solidFill>
                  <a:srgbClr val="2A78D6"/>
                </a:solidFill>
                <a:latin typeface="Segoe UI"/>
              </a:rPr>
              <a:t>A MODAL STRUCTURE THAT IS NOT CLAIMED</a:t>
            </a:r>
          </a:p>
          <a:p>
            <a:pPr algn="l">
              <a:spcBef>
                <a:spcPts val="0"/>
              </a:spcBef>
              <a:spcAft>
                <a:spcPts val="0"/>
              </a:spcAft>
            </a:pPr>
            <a:r>
              <a:rPr sz="1019" b="0" i="0">
                <a:solidFill>
                  <a:srgbClr val="52514E"/>
                </a:solidFill>
                <a:latin typeface="Segoe UI"/>
              </a:rPr>
              <a:t>At narrow kernel bandwidths a fourth mode appears near 2.9, which would make PSI 3 look like an antimode too. It disappears by bandwidth 0.20 and is therefore not reproducible. An earlier version of this analysis used PSI 3 on that basis; it was corrected.</a:t>
            </a:r>
          </a:p>
          <a:p>
            <a:pPr algn="l">
              <a:spcBef>
                <a:spcPts val="900"/>
              </a:spcBef>
              <a:spcAft>
                <a:spcPts val="200"/>
              </a:spcAft>
            </a:pPr>
            <a:r>
              <a:rPr sz="900" b="1" i="0">
                <a:solidFill>
                  <a:srgbClr val="2A78D6"/>
                </a:solidFill>
                <a:latin typeface="Segoe UI"/>
              </a:rPr>
              <a:t>WHY IT MATTERS LESS THAN IT SEEMS</a:t>
            </a:r>
          </a:p>
          <a:p>
            <a:pPr algn="l">
              <a:spcBef>
                <a:spcPts val="0"/>
              </a:spcBef>
              <a:spcAft>
                <a:spcPts val="0"/>
              </a:spcAft>
            </a:pPr>
            <a:r>
              <a:rPr sz="1019" b="0" i="0">
                <a:solidFill>
                  <a:srgbClr val="52514E"/>
                </a:solidFill>
                <a:latin typeface="Segoe UI"/>
              </a:rPr>
              <a:t>Panel C shows the conclusions are cutoff-independent anyway. The antimode is the principled choice, but nothing rests on 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8C</a:t>
            </a:r>
            <a:r>
              <a:rPr sz="1800" b="1">
                <a:solidFill>
                  <a:srgbClr val="0B0B0B"/>
                </a:solidFill>
                <a:latin typeface="Segoe UI"/>
              </a:rPr>
              <a:t>   ·   The conclusion does not depend on where the line goes</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8C.png"/>
          <p:cNvPicPr>
            <a:picLocks noChangeAspect="1"/>
          </p:cNvPicPr>
          <p:nvPr/>
        </p:nvPicPr>
        <p:blipFill>
          <a:blip r:embed="rId2"/>
          <a:stretch>
            <a:fillRect/>
          </a:stretch>
        </p:blipFill>
        <p:spPr>
          <a:xfrm>
            <a:off x="457200" y="1351675"/>
            <a:ext cx="7086600" cy="4931890"/>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The Fisher odds ratio for [P/G]-[E/D] versus non-P/G within the unstable stratum, recomputed at every cutoff from 2.0 to 3.4. The y-axis is log-scaled. The orange point is the cut actually used.</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The odds ratio stays between 42 and 88 across the entire range, and the p value is at most 6 x 10^-5 at every single cutoff. There is no threshold at which the motif result disappears or even weakens materially.</a:t>
            </a:r>
          </a:p>
          <a:p>
            <a:pPr algn="l">
              <a:spcBef>
                <a:spcPts val="900"/>
              </a:spcBef>
              <a:spcAft>
                <a:spcPts val="200"/>
              </a:spcAft>
            </a:pPr>
            <a:r>
              <a:rPr sz="900" b="1" i="0">
                <a:solidFill>
                  <a:srgbClr val="2A78D6"/>
                </a:solidFill>
                <a:latin typeface="Segoe UI"/>
              </a:rPr>
              <a:t>WHY INCLUDE IT</a:t>
            </a:r>
          </a:p>
          <a:p>
            <a:pPr algn="l">
              <a:spcBef>
                <a:spcPts val="0"/>
              </a:spcBef>
              <a:spcAft>
                <a:spcPts val="0"/>
              </a:spcAft>
            </a:pPr>
            <a:r>
              <a:rPr sz="1019" b="0" i="0">
                <a:solidFill>
                  <a:srgbClr val="52514E"/>
                </a:solidFill>
                <a:latin typeface="Segoe UI"/>
              </a:rPr>
              <a:t>It pre-empts the obvious methodological objection - that the cut was chosen to produce the result. Showing the full sweep is more convincing than defending any single choice.</a:t>
            </a:r>
          </a:p>
          <a:p>
            <a:pPr algn="l">
              <a:spcBef>
                <a:spcPts val="900"/>
              </a:spcBef>
              <a:spcAft>
                <a:spcPts val="200"/>
              </a:spcAft>
            </a:pPr>
            <a:r>
              <a:rPr sz="900" b="1" i="0">
                <a:solidFill>
                  <a:srgbClr val="2A78D6"/>
                </a:solidFill>
                <a:latin typeface="Segoe UI"/>
              </a:rPr>
              <a:t>WATCH OUT FOR</a:t>
            </a:r>
          </a:p>
          <a:p>
            <a:pPr algn="l">
              <a:spcBef>
                <a:spcPts val="0"/>
              </a:spcBef>
              <a:spcAft>
                <a:spcPts val="0"/>
              </a:spcAft>
            </a:pPr>
            <a:r>
              <a:rPr sz="1019" b="0" i="0">
                <a:solidFill>
                  <a:srgbClr val="52514E"/>
                </a:solidFill>
                <a:latin typeface="Segoe UI"/>
              </a:rPr>
              <a:t>The bounce at 2.2 (OR 88) is a small-sample artefact: at low cutoffs the unstable stratum contains few motif-bearing peptides, so the estimate is unstable. The trend across the range, not any individual point, is the message.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74320"/>
            <a:ext cx="11247120" cy="685800"/>
          </a:xfrm>
          <a:prstGeom prst="rect">
            <a:avLst/>
          </a:prstGeom>
          <a:noFill/>
        </p:spPr>
        <p:txBody>
          <a:bodyPr wrap="square" anchor="t" lIns="0" rIns="0" tIns="0" bIns="0">
            <a:spAutoFit/>
          </a:bodyPr>
          <a:lstStyle/>
          <a:p>
            <a:pPr>
              <a:spcAft>
                <a:spcPts val="0"/>
              </a:spcAft>
            </a:pPr>
            <a:r>
              <a:rPr sz="1800" b="1">
                <a:solidFill>
                  <a:srgbClr val="EB6834"/>
                </a:solidFill>
                <a:latin typeface="Segoe UI"/>
              </a:rPr>
              <a:t>Figure 8D</a:t>
            </a:r>
            <a:r>
              <a:rPr sz="1800" b="1">
                <a:solidFill>
                  <a:srgbClr val="0B0B0B"/>
                </a:solidFill>
                <a:latin typeface="Segoe UI"/>
              </a:rPr>
              <a:t>   ·   With no cutoff at all, the motif effect stands</a:t>
            </a:r>
          </a:p>
        </p:txBody>
      </p:sp>
      <p:sp>
        <p:nvSpPr>
          <p:cNvPr id="3" name="Rectangle 2"/>
          <p:cNvSpPr/>
          <p:nvPr/>
        </p:nvSpPr>
        <p:spPr>
          <a:xfrm>
            <a:off x="502920" y="896112"/>
            <a:ext cx="11201400"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8D.png"/>
          <p:cNvPicPr>
            <a:picLocks noChangeAspect="1"/>
          </p:cNvPicPr>
          <p:nvPr/>
        </p:nvPicPr>
        <p:blipFill>
          <a:blip r:embed="rId2"/>
          <a:stretch>
            <a:fillRect/>
          </a:stretch>
        </p:blipFill>
        <p:spPr>
          <a:xfrm>
            <a:off x="457200" y="1727017"/>
            <a:ext cx="7086600" cy="4181206"/>
          </a:xfrm>
          <a:prstGeom prst="rect">
            <a:avLst/>
          </a:prstGeom>
        </p:spPr>
      </p:pic>
      <p:sp>
        <p:nvSpPr>
          <p:cNvPr id="5" name="TextBox 4"/>
          <p:cNvSpPr txBox="1"/>
          <p:nvPr/>
        </p:nvSpPr>
        <p:spPr>
          <a:xfrm>
            <a:off x="7882127" y="1115568"/>
            <a:ext cx="3886200" cy="5440680"/>
          </a:xfrm>
          <a:prstGeom prst="rect">
            <a:avLst/>
          </a:prstGeom>
          <a:noFill/>
        </p:spPr>
        <p:txBody>
          <a:bodyPr wrap="square" anchor="t" lIns="0" rIns="0" tIns="0" bIns="0">
            <a:spAutoFit/>
          </a:bodyPr>
          <a:lstStyle/>
          <a:p>
            <a:pPr algn="l">
              <a:spcBef>
                <a:spcPts val="0"/>
              </a:spcBef>
              <a:spcAft>
                <a:spcPts val="200"/>
              </a:spcAft>
            </a:pPr>
            <a:r>
              <a:rPr sz="900" b="1" i="0">
                <a:solidFill>
                  <a:srgbClr val="2A78D6"/>
                </a:solidFill>
                <a:latin typeface="Segoe UI"/>
              </a:rPr>
              <a:t>WHAT IS PLOTTED</a:t>
            </a:r>
          </a:p>
          <a:p>
            <a:pPr algn="l">
              <a:spcBef>
                <a:spcPts val="0"/>
              </a:spcBef>
              <a:spcAft>
                <a:spcPts val="0"/>
              </a:spcAft>
            </a:pPr>
            <a:r>
              <a:rPr sz="1019" b="0" i="0">
                <a:solidFill>
                  <a:srgbClr val="52514E"/>
                </a:solidFill>
                <a:latin typeface="Segoe UI"/>
              </a:rPr>
              <a:t>A forest plot of adjusted odds ratios from a single logistic regression predicting substrate status from motif class plus control PSI as a CONTINUOUS covariate. Points are odds ratios, bars are 95% confidence intervals, and the dashed line at 1 is no effect. The x-axis is log-scaled.</a:t>
            </a:r>
          </a:p>
          <a:p>
            <a:pPr algn="l">
              <a:spcBef>
                <a:spcPts val="900"/>
              </a:spcBef>
              <a:spcAft>
                <a:spcPts val="200"/>
              </a:spcAft>
            </a:pPr>
            <a:r>
              <a:rPr sz="900" b="1" i="0">
                <a:solidFill>
                  <a:srgbClr val="2A78D6"/>
                </a:solidFill>
                <a:latin typeface="Segoe UI"/>
              </a:rPr>
              <a:t>THE MODEL</a:t>
            </a:r>
          </a:p>
          <a:p>
            <a:pPr algn="l">
              <a:spcBef>
                <a:spcPts val="0"/>
              </a:spcBef>
              <a:spcAft>
                <a:spcPts val="0"/>
              </a:spcAft>
            </a:pPr>
            <a:r>
              <a:rPr sz="1019" b="0" i="0">
                <a:solidFill>
                  <a:srgbClr val="52514E"/>
                </a:solidFill>
                <a:latin typeface="Segoe UI"/>
              </a:rPr>
              <a:t>substrate ~ [P/G]-[E/D] + [P/G]-other + control PSI, fitted across all 16,514 peptides. No threshold appears anywhere in it, so the stratification question is bypassed entirely.</a:t>
            </a:r>
          </a:p>
          <a:p>
            <a:pPr algn="l">
              <a:spcBef>
                <a:spcPts val="900"/>
              </a:spcBef>
              <a:spcAft>
                <a:spcPts val="200"/>
              </a:spcAft>
            </a:pPr>
            <a:r>
              <a:rPr sz="900" b="1" i="0">
                <a:solidFill>
                  <a:srgbClr val="2A78D6"/>
                </a:solidFill>
                <a:latin typeface="Segoe UI"/>
              </a:rPr>
              <a:t>WHAT IT SHOWS</a:t>
            </a:r>
          </a:p>
          <a:p>
            <a:pPr algn="l">
              <a:spcBef>
                <a:spcPts val="0"/>
              </a:spcBef>
              <a:spcAft>
                <a:spcPts val="0"/>
              </a:spcAft>
            </a:pPr>
            <a:r>
              <a:rPr sz="1019" b="0" i="0">
                <a:solidFill>
                  <a:srgbClr val="52514E"/>
                </a:solidFill>
                <a:latin typeface="Segoe UI"/>
              </a:rPr>
              <a:t>[P/G]-[E/D] gives an adjusted OR of 52.8 (95% CI 27.9-99.9, p = 3.6 x 10^-34). [P/G]-other gives 2.33 (p = 0.023). Control PSI gives 0.61 per unit (p = 0.006) - more stable peptides are less likely to be substrates. Both effects are real and independent of each other.</a:t>
            </a:r>
          </a:p>
          <a:p>
            <a:pPr algn="l">
              <a:spcBef>
                <a:spcPts val="900"/>
              </a:spcBef>
              <a:spcAft>
                <a:spcPts val="200"/>
              </a:spcAft>
            </a:pPr>
            <a:r>
              <a:rPr sz="900" b="1" i="0">
                <a:solidFill>
                  <a:srgbClr val="2A78D6"/>
                </a:solidFill>
                <a:latin typeface="Segoe UI"/>
              </a:rPr>
              <a:t>RECOMMENDED USE</a:t>
            </a:r>
          </a:p>
          <a:p>
            <a:pPr algn="l">
              <a:spcBef>
                <a:spcPts val="0"/>
              </a:spcBef>
              <a:spcAft>
                <a:spcPts val="0"/>
              </a:spcAft>
            </a:pPr>
            <a:r>
              <a:rPr sz="1019" b="0" i="0">
                <a:solidFill>
                  <a:srgbClr val="52514E"/>
                </a:solidFill>
                <a:latin typeface="Segoe UI"/>
              </a:rPr>
              <a:t>Lead the manuscript with this analysis and present the stratified figures as the intuitive illustration. A cutoff-free model leaves nothing for a reviewer to attack on the threshold question.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0" rIns="0" tIns="0" bIns="0">
            <a:spAutoFit/>
          </a:bodyPr>
          <a:lstStyle/>
          <a:p>
            <a:pPr algn="l">
              <a:spcBef>
                <a:spcPts val="0"/>
              </a:spcBef>
              <a:spcAft>
                <a:spcPts val="400"/>
              </a:spcAft>
            </a:pPr>
            <a:r>
              <a:rPr sz="2200" b="1" i="0">
                <a:solidFill>
                  <a:srgbClr val="0B0B0B"/>
                </a:solidFill>
                <a:latin typeface="Segoe UI"/>
              </a:rPr>
              <a:t>Summary of conclusions</a:t>
            </a:r>
          </a:p>
        </p:txBody>
      </p:sp>
      <p:sp>
        <p:nvSpPr>
          <p:cNvPr id="3" name="Rectangle 2"/>
          <p:cNvSpPr/>
          <p:nvPr/>
        </p:nvSpPr>
        <p:spPr>
          <a:xfrm>
            <a:off x="640080" y="932688"/>
            <a:ext cx="1188720" cy="317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5303520" cy="5212080"/>
          </a:xfrm>
          <a:prstGeom prst="rect">
            <a:avLst/>
          </a:prstGeom>
          <a:noFill/>
        </p:spPr>
        <p:txBody>
          <a:bodyPr wrap="square" anchor="t" lIns="0" rIns="0" tIns="0" bIns="0">
            <a:spAutoFit/>
          </a:bodyPr>
          <a:lstStyle/>
          <a:p>
            <a:pPr algn="l">
              <a:spcBef>
                <a:spcPts val="0"/>
              </a:spcBef>
              <a:spcAft>
                <a:spcPts val="200"/>
              </a:spcAft>
            </a:pPr>
            <a:r>
              <a:rPr sz="950" b="1" i="0">
                <a:solidFill>
                  <a:srgbClr val="2A78D6"/>
                </a:solidFill>
                <a:latin typeface="Segoe UI"/>
              </a:rPr>
              <a:t>THE REVIEWER ASKED FOR</a:t>
            </a:r>
          </a:p>
          <a:p>
            <a:pPr algn="l">
              <a:spcBef>
                <a:spcPts val="0"/>
              </a:spcBef>
              <a:spcAft>
                <a:spcPts val="0"/>
              </a:spcAft>
            </a:pPr>
            <a:r>
              <a:rPr sz="1040" b="0" i="0">
                <a:solidFill>
                  <a:srgbClr val="52514E"/>
                </a:solidFill>
                <a:latin typeface="Segoe UI"/>
              </a:rPr>
              <a:t>A clean table of the candidate UBR3 substrates with functional annotation, presented alongside the peptides that carry the [P/G]-[E/D] feature but show no stabilisation - and evidence that only a subset of Pro-/Gly-initiated peptides is UBR3-regulated.</a:t>
            </a:r>
          </a:p>
          <a:p>
            <a:pPr algn="l">
              <a:spcBef>
                <a:spcPts val="900"/>
              </a:spcBef>
              <a:spcAft>
                <a:spcPts val="200"/>
              </a:spcAft>
            </a:pPr>
            <a:r>
              <a:rPr sz="950" b="1" i="0">
                <a:solidFill>
                  <a:srgbClr val="2A78D6"/>
                </a:solidFill>
                <a:latin typeface="Segoe UI"/>
              </a:rPr>
              <a:t>THE ANSWER, IN ONE LINE</a:t>
            </a:r>
          </a:p>
          <a:p>
            <a:pPr algn="l">
              <a:spcBef>
                <a:spcPts val="0"/>
              </a:spcBef>
              <a:spcAft>
                <a:spcPts val="0"/>
              </a:spcAft>
            </a:pPr>
            <a:r>
              <a:rPr sz="1040" b="0" i="0">
                <a:solidFill>
                  <a:srgbClr val="52514E"/>
                </a:solidFill>
                <a:latin typeface="Segoe UI"/>
              </a:rPr>
              <a:t>The motif enriches for UBR3 substrates 27-fold (q = 3 x 10^-18, odds ratio 50 versus non-P/G), yet 163 of the 179 library peptides carrying it (91%) are not stabilised when UBR3 is lost. Necessary, but plainly not sufficient.</a:t>
            </a:r>
          </a:p>
          <a:p>
            <a:pPr algn="l">
              <a:spcBef>
                <a:spcPts val="900"/>
              </a:spcBef>
              <a:spcAft>
                <a:spcPts val="200"/>
              </a:spcAft>
            </a:pPr>
            <a:r>
              <a:rPr sz="950" b="1" i="0">
                <a:solidFill>
                  <a:srgbClr val="2A78D6"/>
                </a:solidFill>
                <a:latin typeface="Segoe UI"/>
              </a:rPr>
              <a:t>WHAT CARRIES THE SPECIFICITY</a:t>
            </a:r>
          </a:p>
          <a:p>
            <a:pPr algn="l">
              <a:spcBef>
                <a:spcPts val="0"/>
              </a:spcBef>
              <a:spcAft>
                <a:spcPts val="0"/>
              </a:spcAft>
            </a:pPr>
            <a:r>
              <a:rPr sz="1040" b="0" i="0">
                <a:solidFill>
                  <a:srgbClr val="52514E"/>
                </a:solidFill>
                <a:latin typeface="Segoe UI"/>
              </a:rPr>
              <a:t>Not Pro/Gly on its own. Bare Pro/Gly raises the substrate rate only from 0.19% to 0.52%; adding the acidic residue at position 3 raises it to 8.94%. Asp at position 3 is the single strongest cell in the entire dataset (q = 0.002).</a:t>
            </a:r>
          </a:p>
        </p:txBody>
      </p:sp>
      <p:sp>
        <p:nvSpPr>
          <p:cNvPr id="5" name="TextBox 4"/>
          <p:cNvSpPr txBox="1"/>
          <p:nvPr/>
        </p:nvSpPr>
        <p:spPr>
          <a:xfrm>
            <a:off x="6355080" y="1234440"/>
            <a:ext cx="5303520" cy="5212080"/>
          </a:xfrm>
          <a:prstGeom prst="rect">
            <a:avLst/>
          </a:prstGeom>
          <a:noFill/>
        </p:spPr>
        <p:txBody>
          <a:bodyPr wrap="square" anchor="t" lIns="0" rIns="0" tIns="0" bIns="0">
            <a:spAutoFit/>
          </a:bodyPr>
          <a:lstStyle/>
          <a:p>
            <a:pPr algn="l">
              <a:spcBef>
                <a:spcPts val="0"/>
              </a:spcBef>
              <a:spcAft>
                <a:spcPts val="200"/>
              </a:spcAft>
            </a:pPr>
            <a:r>
              <a:rPr sz="950" b="1" i="0">
                <a:solidFill>
                  <a:srgbClr val="2A78D6"/>
                </a:solidFill>
                <a:latin typeface="Segoe UI"/>
              </a:rPr>
              <a:t>HOW LOCALISED THE SIGNAL IS</a:t>
            </a:r>
          </a:p>
          <a:p>
            <a:pPr algn="l">
              <a:spcBef>
                <a:spcPts val="0"/>
              </a:spcBef>
              <a:spcAft>
                <a:spcPts val="0"/>
              </a:spcAft>
            </a:pPr>
            <a:r>
              <a:rPr sz="1040" b="0" i="0">
                <a:solidFill>
                  <a:srgbClr val="52514E"/>
                </a:solidFill>
                <a:latin typeface="Segoe UI"/>
              </a:rPr>
              <a:t>Of 480 position x residue cells tested across the whole 24-mer, four survive FDR correction: Pro and Gly at position 2, Asp at position 3, and Arg at position 7 (borderline, q = 0.04). Whole-peptide composition is indistinguishable from the library.</a:t>
            </a:r>
          </a:p>
          <a:p>
            <a:pPr algn="l">
              <a:spcBef>
                <a:spcPts val="900"/>
              </a:spcBef>
              <a:spcAft>
                <a:spcPts val="200"/>
              </a:spcAft>
            </a:pPr>
            <a:r>
              <a:rPr sz="950" b="1" i="0">
                <a:solidFill>
                  <a:srgbClr val="2A78D6"/>
                </a:solidFill>
                <a:latin typeface="Segoe UI"/>
              </a:rPr>
              <a:t>THE CONTROL THAT CLOSES THE LOOP</a:t>
            </a:r>
          </a:p>
          <a:p>
            <a:pPr algn="l">
              <a:spcBef>
                <a:spcPts val="0"/>
              </a:spcBef>
              <a:spcAft>
                <a:spcPts val="0"/>
              </a:spcAft>
            </a:pPr>
            <a:r>
              <a:rPr sz="1040" b="0" i="0">
                <a:solidFill>
                  <a:srgbClr val="52514E"/>
                </a:solidFill>
                <a:latin typeface="Segoe UI"/>
              </a:rPr>
              <a:t>The motif is evenly distributed across baseline-stability strata (1.01% vs 1.15%) yet gives the same odds ratio within each (52 and 52), and holds at OR 52.8 in a cutoff-free logistic regression adjusting for control PSI. The enrichment is not a by-product of Pro/Gly N-termini being intrinsically unstable.</a:t>
            </a:r>
          </a:p>
          <a:p>
            <a:pPr algn="l">
              <a:spcBef>
                <a:spcPts val="900"/>
              </a:spcBef>
              <a:spcAft>
                <a:spcPts val="200"/>
              </a:spcAft>
            </a:pPr>
            <a:r>
              <a:rPr sz="950" b="1" i="0">
                <a:solidFill>
                  <a:srgbClr val="2A78D6"/>
                </a:solidFill>
                <a:latin typeface="Segoe UI"/>
              </a:rPr>
              <a:t>THE NUANCE WORTH KEEPING</a:t>
            </a:r>
          </a:p>
          <a:p>
            <a:pPr algn="l">
              <a:spcBef>
                <a:spcPts val="0"/>
              </a:spcBef>
              <a:spcAft>
                <a:spcPts val="0"/>
              </a:spcAft>
            </a:pPr>
            <a:r>
              <a:rPr sz="1040" b="0" i="0">
                <a:solidFill>
                  <a:srgbClr val="52514E"/>
                </a:solidFill>
                <a:latin typeface="Segoe UI"/>
              </a:rPr>
              <a:t>Motif-bearing peptides that never made the substrate list still cross the stability line at twice background. Substrate status is the top of a continuum rather than a separate category, which is a more accurate framing than a hard necessary/sufficient dichotomy.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