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UBR3 Sequence Conservation Analysis</a:t>
            </a:r>
          </a:p>
          <a:p>
            <a:pPr algn="ctr">
              <a:spcBef>
                <a:spcPts val="1600"/>
              </a:spcBef>
              <a:defRPr sz="2200">
                <a:solidFill>
                  <a:srgbClr val="BBDEFB"/>
                </a:solidFill>
              </a:defRPr>
            </a:pPr>
            <a:r>
              <a:t>Cross-species alignment and domain architecture</a:t>
            </a:r>
          </a:p>
          <a:p>
            <a:pPr algn="ctr">
              <a:spcBef>
                <a:spcPts val="800"/>
              </a:spcBef>
              <a:defRPr sz="1800">
                <a:solidFill>
                  <a:srgbClr val="90CAF9"/>
                </a:solidFill>
              </a:defRPr>
            </a:pPr>
            <a:r>
              <a:t>13 species from Mammalia to Cnidaria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UBR3 Domain Architecture Across the Animal Kingdom</a:t>
            </a:r>
          </a:p>
        </p:txBody>
      </p:sp>
      <p:pic>
        <p:nvPicPr>
          <p:cNvPr id="3" name="Picture 2" descr="ubr3_animal_domai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183" y="777240"/>
            <a:ext cx="6237328" cy="58064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Combined Publication Figure (Alignments + Domains)</a:t>
            </a:r>
          </a:p>
        </p:txBody>
      </p:sp>
      <p:pic>
        <p:nvPicPr>
          <p:cNvPr id="3" name="Picture 2" descr="ubr3_pub_combined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340" y="777240"/>
            <a:ext cx="1891014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Conservation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Conservation Score Along UBR3 Alignment</a:t>
            </a:r>
          </a:p>
        </p:txBody>
      </p:sp>
      <p:pic>
        <p:nvPicPr>
          <p:cNvPr id="3" name="Picture 2" descr="ubr3_conservation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25078"/>
            <a:ext cx="11643055" cy="29107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Conservation Heatmap</a:t>
            </a:r>
          </a:p>
        </p:txBody>
      </p:sp>
      <p:pic>
        <p:nvPicPr>
          <p:cNvPr id="3" name="Picture 2" descr="ubr3_conserv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79540"/>
            <a:ext cx="11643055" cy="320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Regions Heatmap</a:t>
            </a:r>
          </a:p>
        </p:txBody>
      </p:sp>
      <p:pic>
        <p:nvPicPr>
          <p:cNvPr id="3" name="Picture 2" descr="ubr3_conserved_onl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64241"/>
            <a:ext cx="11643055" cy="18324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Regions Map</a:t>
            </a:r>
          </a:p>
        </p:txBody>
      </p:sp>
      <p:pic>
        <p:nvPicPr>
          <p:cNvPr id="3" name="Picture 2" descr="ubr3_conserved_region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837100"/>
            <a:ext cx="11643055" cy="1686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Top Conserved Regions with Amino Acid Annotations</a:t>
            </a:r>
          </a:p>
        </p:txBody>
      </p:sp>
      <p:pic>
        <p:nvPicPr>
          <p:cNvPr id="3" name="Picture 2" descr="ubr3_top_regions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696" y="777240"/>
            <a:ext cx="6534302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Domain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Domain Architecture Diagram</a:t>
            </a:r>
          </a:p>
        </p:txBody>
      </p:sp>
      <p:pic>
        <p:nvPicPr>
          <p:cNvPr id="3" name="Picture 2" descr="ubr3_pub_domai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738" y="777240"/>
            <a:ext cx="7854219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Domain-Specific Conservation</a:t>
            </a:r>
          </a:p>
        </p:txBody>
      </p:sp>
      <p:pic>
        <p:nvPicPr>
          <p:cNvPr id="3" name="Picture 2" descr="ubr3_domain_con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51849"/>
            <a:ext cx="11643055" cy="46572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Pairwise Sequence Identity Matrix</a:t>
            </a:r>
          </a:p>
        </p:txBody>
      </p:sp>
      <p:pic>
        <p:nvPicPr>
          <p:cNvPr id="3" name="Picture 2" descr="ubr3_ident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25" y="777240"/>
            <a:ext cx="6532245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Publication Alignments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UBR Box Domain Alignment (aa 118-189)</a:t>
            </a:r>
          </a:p>
        </p:txBody>
      </p:sp>
      <p:pic>
        <p:nvPicPr>
          <p:cNvPr id="3" name="Picture 2" descr="ubr3_pub_ubr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395" y="777240"/>
            <a:ext cx="9494905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 Alignment (aa 400-600)</a:t>
            </a:r>
          </a:p>
        </p:txBody>
      </p:sp>
      <p:pic>
        <p:nvPicPr>
          <p:cNvPr id="3" name="Picture 2" descr="ubr3_pub_region_400_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521" y="777240"/>
            <a:ext cx="5420653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RING Domain Alignment (aa 1306-1364)</a:t>
            </a:r>
          </a:p>
        </p:txBody>
      </p:sp>
      <p:pic>
        <p:nvPicPr>
          <p:cNvPr id="3" name="Picture 2" descr="ubr3_pub_ring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395" y="777240"/>
            <a:ext cx="9494905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Full Alignment Blocks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1</a:t>
            </a:r>
          </a:p>
        </p:txBody>
      </p:sp>
      <p:pic>
        <p:nvPicPr>
          <p:cNvPr id="3" name="Picture 2" descr="ubr3_annotated_block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15373"/>
            <a:ext cx="11643055" cy="333017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2</a:t>
            </a:r>
          </a:p>
        </p:txBody>
      </p:sp>
      <p:pic>
        <p:nvPicPr>
          <p:cNvPr id="3" name="Picture 2" descr="ubr3_annotated_block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86021"/>
            <a:ext cx="11643055" cy="338887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3</a:t>
            </a:r>
          </a:p>
        </p:txBody>
      </p:sp>
      <p:pic>
        <p:nvPicPr>
          <p:cNvPr id="3" name="Picture 2" descr="ubr3_annotated_block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01621"/>
            <a:ext cx="11643055" cy="27576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4</a:t>
            </a:r>
          </a:p>
        </p:txBody>
      </p:sp>
      <p:pic>
        <p:nvPicPr>
          <p:cNvPr id="3" name="Picture 2" descr="ubr3_annotated_block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5714"/>
            <a:ext cx="11643055" cy="524949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5</a:t>
            </a:r>
          </a:p>
        </p:txBody>
      </p:sp>
      <p:pic>
        <p:nvPicPr>
          <p:cNvPr id="3" name="Picture 2" descr="ubr3_annotated_block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94865"/>
            <a:ext cx="11643055" cy="297119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6</a:t>
            </a:r>
          </a:p>
        </p:txBody>
      </p:sp>
      <p:pic>
        <p:nvPicPr>
          <p:cNvPr id="3" name="Picture 2" descr="ubr3_annotated_block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96387"/>
            <a:ext cx="11643055" cy="316814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7</a:t>
            </a:r>
          </a:p>
        </p:txBody>
      </p:sp>
      <p:pic>
        <p:nvPicPr>
          <p:cNvPr id="3" name="Picture 2" descr="ubr3_annotated_block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986021"/>
            <a:ext cx="11643055" cy="33888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8</a:t>
            </a:r>
          </a:p>
        </p:txBody>
      </p:sp>
      <p:pic>
        <p:nvPicPr>
          <p:cNvPr id="3" name="Picture 2" descr="ubr3_annotated_block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61081"/>
            <a:ext cx="11643055" cy="283875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9</a:t>
            </a:r>
          </a:p>
        </p:txBody>
      </p:sp>
      <p:pic>
        <p:nvPicPr>
          <p:cNvPr id="3" name="Picture 2" descr="ubr3_annotated_block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61081"/>
            <a:ext cx="11643055" cy="283875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10</a:t>
            </a:r>
          </a:p>
        </p:txBody>
      </p:sp>
      <p:pic>
        <p:nvPicPr>
          <p:cNvPr id="3" name="Picture 2" descr="ubr3_annotated_block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43039"/>
            <a:ext cx="11643055" cy="327484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11</a:t>
            </a:r>
          </a:p>
        </p:txBody>
      </p:sp>
      <p:pic>
        <p:nvPicPr>
          <p:cNvPr id="3" name="Picture 2" descr="ubr3_annotated_block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97139"/>
            <a:ext cx="11643055" cy="316664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Annotated Alignment Block 12</a:t>
            </a:r>
          </a:p>
        </p:txBody>
      </p:sp>
      <p:pic>
        <p:nvPicPr>
          <p:cNvPr id="3" name="Picture 2" descr="ubr3_annotated_block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72785"/>
            <a:ext cx="11643055" cy="321534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Individual Conserved Regions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120-149</a:t>
            </a:r>
          </a:p>
        </p:txBody>
      </p:sp>
      <p:pic>
        <p:nvPicPr>
          <p:cNvPr id="3" name="Picture 2" descr="ubr3_region_01_h120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14600"/>
            <a:ext cx="11643055" cy="51317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156-174</a:t>
            </a:r>
          </a:p>
        </p:txBody>
      </p:sp>
      <p:pic>
        <p:nvPicPr>
          <p:cNvPr id="3" name="Picture 2" descr="ubr3_region_02_h156-1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162" y="777240"/>
            <a:ext cx="8717371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393-409</a:t>
            </a:r>
          </a:p>
        </p:txBody>
      </p:sp>
      <p:pic>
        <p:nvPicPr>
          <p:cNvPr id="3" name="Picture 2" descr="ubr3_region_03_h393-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251" y="777240"/>
            <a:ext cx="7901192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415-430</a:t>
            </a:r>
          </a:p>
        </p:txBody>
      </p:sp>
      <p:pic>
        <p:nvPicPr>
          <p:cNvPr id="3" name="Picture 2" descr="ubr3_region_04_h415-4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757" y="777240"/>
            <a:ext cx="749218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435-458</a:t>
            </a:r>
          </a:p>
        </p:txBody>
      </p:sp>
      <p:pic>
        <p:nvPicPr>
          <p:cNvPr id="3" name="Picture 2" descr="ubr3_region_05_h435-4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14" y="777240"/>
            <a:ext cx="10752666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469-483</a:t>
            </a:r>
          </a:p>
        </p:txBody>
      </p:sp>
      <p:pic>
        <p:nvPicPr>
          <p:cNvPr id="3" name="Picture 2" descr="ubr3_region_06_h469-4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263" y="777240"/>
            <a:ext cx="7083168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504-527</a:t>
            </a:r>
          </a:p>
        </p:txBody>
      </p:sp>
      <p:pic>
        <p:nvPicPr>
          <p:cNvPr id="3" name="Picture 2" descr="ubr3_region_07_h504-5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14" y="777240"/>
            <a:ext cx="10752666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547-587</a:t>
            </a:r>
          </a:p>
        </p:txBody>
      </p:sp>
      <p:pic>
        <p:nvPicPr>
          <p:cNvPr id="3" name="Picture 2" descr="ubr3_region_08_h547-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8819"/>
            <a:ext cx="11643055" cy="384328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626-637</a:t>
            </a:r>
          </a:p>
        </p:txBody>
      </p:sp>
      <p:pic>
        <p:nvPicPr>
          <p:cNvPr id="3" name="Picture 2" descr="ubr3_region_09_h626-6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781" y="777240"/>
            <a:ext cx="5856133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684-699</a:t>
            </a:r>
          </a:p>
        </p:txBody>
      </p:sp>
      <p:pic>
        <p:nvPicPr>
          <p:cNvPr id="3" name="Picture 2" descr="ubr3_region_10_h684-6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757" y="777240"/>
            <a:ext cx="749218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975</a:t>
            </a:r>
          </a:p>
        </p:txBody>
      </p:sp>
      <p:pic>
        <p:nvPicPr>
          <p:cNvPr id="3" name="Picture 2" descr="ubr3_region_11_h975-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63" y="777240"/>
            <a:ext cx="5489169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1015</a:t>
            </a:r>
          </a:p>
        </p:txBody>
      </p:sp>
      <p:pic>
        <p:nvPicPr>
          <p:cNvPr id="3" name="Picture 2" descr="ubr3_region_12_h1015-1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275" y="777240"/>
            <a:ext cx="6265144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1048</a:t>
            </a:r>
          </a:p>
        </p:txBody>
      </p:sp>
      <p:pic>
        <p:nvPicPr>
          <p:cNvPr id="3" name="Picture 2" descr="ubr3_region_13_h1048-1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2098"/>
            <a:ext cx="11643055" cy="4336723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1050</a:t>
            </a:r>
          </a:p>
        </p:txBody>
      </p:sp>
      <p:pic>
        <p:nvPicPr>
          <p:cNvPr id="3" name="Picture 2" descr="ubr3_region_14_h1050-1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275" y="777240"/>
            <a:ext cx="6265144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1065</a:t>
            </a:r>
          </a:p>
        </p:txBody>
      </p:sp>
      <p:pic>
        <p:nvPicPr>
          <p:cNvPr id="3" name="Picture 2" descr="ubr3_region_15_h1065-1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406" y="777240"/>
            <a:ext cx="9128883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1119</a:t>
            </a:r>
          </a:p>
        </p:txBody>
      </p:sp>
      <p:pic>
        <p:nvPicPr>
          <p:cNvPr id="3" name="Picture 2" descr="ubr3_region_16_h1119-1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4697"/>
            <a:ext cx="11643055" cy="457152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aa 1252-1264</a:t>
            </a:r>
          </a:p>
        </p:txBody>
      </p:sp>
      <p:pic>
        <p:nvPicPr>
          <p:cNvPr id="3" name="Picture 2" descr="ubr3_region_17_h1252-1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275" y="777240"/>
            <a:ext cx="6265144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1590</a:t>
            </a:r>
          </a:p>
        </p:txBody>
      </p:sp>
      <p:pic>
        <p:nvPicPr>
          <p:cNvPr id="3" name="Picture 2" descr="ubr3_region_18_h1590-15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1218"/>
            <a:ext cx="11643055" cy="497848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1615</a:t>
            </a:r>
          </a:p>
        </p:txBody>
      </p:sp>
      <p:pic>
        <p:nvPicPr>
          <p:cNvPr id="3" name="Picture 2" descr="ubr3_region_19_h1615-16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328" y="777240"/>
            <a:ext cx="5535039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430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237E"/>
                </a:solidFill>
              </a:defRPr>
            </a:pPr>
            <a:r>
              <a:t>Conserved Region: near aa 1623</a:t>
            </a:r>
          </a:p>
        </p:txBody>
      </p:sp>
      <p:pic>
        <p:nvPicPr>
          <p:cNvPr id="3" name="Picture 2" descr="ubr3_region_20_h1623-16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690" y="777240"/>
            <a:ext cx="5378315" cy="5806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