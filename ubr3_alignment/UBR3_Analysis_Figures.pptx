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47A1"/>
        </a:solidFill>
        <a:effectLst/>
      </p:bgPr>
    </p:bg>
    <p:spTree>
      <p:nvGrpSpPr>
        <p:cNvPr id="1" name=""/>
        <p:cNvGrpSpPr/>
        <p:nvPr/>
      </p:nvGrpSpPr>
      <p:grpSpPr/>
      <p:sp>
        <p:nvSpPr>
          <p:cNvPr id="2" name="TextBox 1"/>
          <p:cNvSpPr txBox="1"/>
          <p:nvPr/>
        </p:nvSpPr>
        <p:spPr>
          <a:xfrm>
            <a:off x="1371600" y="1371600"/>
            <a:ext cx="9448495" cy="3657600"/>
          </a:xfrm>
          <a:prstGeom prst="rect">
            <a:avLst/>
          </a:prstGeom>
          <a:noFill/>
        </p:spPr>
        <p:txBody>
          <a:bodyPr wrap="square">
            <a:spAutoFit/>
          </a:bodyPr>
          <a:lstStyle/>
          <a:p>
            <a:pPr algn="ctr">
              <a:defRPr sz="4000" b="1">
                <a:solidFill>
                  <a:srgbClr val="FFFFFF"/>
                </a:solidFill>
              </a:defRPr>
            </a:pPr>
            <a:r>
              <a:t>UBR3 Sequence Conservation Analysis</a:t>
            </a:r>
          </a:p>
          <a:p>
            <a:pPr algn="ctr">
              <a:spcBef>
                <a:spcPts val="2000"/>
              </a:spcBef>
              <a:defRPr sz="2200">
                <a:solidFill>
                  <a:srgbClr val="BBDEFB"/>
                </a:solidFill>
              </a:defRPr>
            </a:pPr>
            <a:r>
              <a:t>Cross-species multiple sequence alignment and domain architecture</a:t>
            </a:r>
          </a:p>
          <a:p>
            <a:pPr algn="ctr">
              <a:spcBef>
                <a:spcPts val="1000"/>
              </a:spcBef>
              <a:defRPr sz="1600">
                <a:solidFill>
                  <a:srgbClr val="90CAF9"/>
                </a:solidFill>
              </a:defRPr>
            </a:pPr>
            <a:r>
              <a:t>13 species spanning Mammalia to Cnidaria (~700 million years of evolution)</a:t>
            </a:r>
          </a:p>
          <a:p>
            <a:pPr algn="ctr">
              <a:spcBef>
                <a:spcPts val="2000"/>
              </a:spcBef>
              <a:defRPr sz="1200">
                <a:solidFill>
                  <a:srgbClr val="90CAF9"/>
                </a:solidFill>
              </a:defRPr>
            </a:pPr>
            <a:r>
              <a:t>Species panel: H. sapiens, M. musculus, X. laevis, P. marinus, C. intestinalis, B. floridae, S. purpuratus, O. sinensis, D. melanogaster, A. mellifera, P. tepidariorum, H. vulgaris, N. vectensis</a:t>
            </a:r>
          </a:p>
          <a:p>
            <a:pPr algn="ctr">
              <a:spcBef>
                <a:spcPts val="1000"/>
              </a:spcBef>
              <a:defRPr sz="1100">
                <a:solidFill>
                  <a:srgbClr val="64B5F6"/>
                </a:solidFill>
              </a:defRPr>
            </a:pPr>
            <a:r>
              <a:t>Methods: Sequences retrieved from NCBI (RefSeq), aligned with Clustal Omega (EBI), analyzed and visualized with Python (Biopython, Matplotlib)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Overview</a:t>
            </a:r>
          </a:p>
          <a:p>
            <a:pPr algn="ctr">
              <a:spcBef>
                <a:spcPts val="1600"/>
              </a:spcBef>
              <a:defRPr sz="1800">
                <a:solidFill>
                  <a:srgbClr val="BBDEFB"/>
                </a:solidFill>
              </a:defRPr>
            </a:pPr>
            <a:r>
              <a:t>Key summary figures of UBR3 conservation across 13 animal species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Conservation Score and Domain Architecture (Aligned Axes)</a:t>
            </a:r>
          </a:p>
        </p:txBody>
      </p:sp>
      <p:pic>
        <p:nvPicPr>
          <p:cNvPr id="3" name="Picture 2" descr="ubr3_combined_conservation_architecture.png"/>
          <p:cNvPicPr>
            <a:picLocks noChangeAspect="1"/>
          </p:cNvPicPr>
          <p:nvPr/>
        </p:nvPicPr>
        <p:blipFill>
          <a:blip r:embed="rId2"/>
          <a:stretch>
            <a:fillRect/>
          </a:stretch>
        </p:blipFill>
        <p:spPr>
          <a:xfrm>
            <a:off x="228600" y="594360"/>
            <a:ext cx="7816007"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figure combines the per-position conservation plot (Panel A) with the domain architecture across all 13 species (Panel B), sharing the same x-axis (human amino acid numbering).</a:t>
            </a:r>
          </a:p>
          <a:p>
            <a:pPr algn="l">
              <a:spcBef>
                <a:spcPts val="800"/>
              </a:spcBef>
              <a:spcAft>
                <a:spcPts val="400"/>
              </a:spcAft>
              <a:defRPr sz="1100">
                <a:solidFill>
                  <a:srgbClr val="333333"/>
                </a:solidFill>
              </a:defRPr>
            </a:pPr>
            <a:r>
              <a:t>Panel A shows the conservation score (fraction of species sharing the most common residue) smoothed over a 20-residue window. The red dashed line marks 90% conservation and the orange dashed line marks 70%. Colored vertical bands highlight the three conserved domains.</a:t>
            </a:r>
          </a:p>
          <a:p>
            <a:pPr algn="l">
              <a:spcBef>
                <a:spcPts val="800"/>
              </a:spcBef>
              <a:spcAft>
                <a:spcPts val="400"/>
              </a:spcAft>
              <a:defRPr sz="1100">
                <a:solidFill>
                  <a:srgbClr val="333333"/>
                </a:solidFill>
              </a:defRPr>
            </a:pPr>
            <a:r>
              <a:t>Panel B shows the full-length UBR3 protein for each species with colored domain blocks. Because both panels share the same x-axis, you can trace straight down from each conservation peak to see the corresponding domain in every species.</a:t>
            </a:r>
          </a:p>
          <a:p>
            <a:pPr algn="l">
              <a:spcBef>
                <a:spcPts val="800"/>
              </a:spcBef>
              <a:spcAft>
                <a:spcPts val="400"/>
              </a:spcAft>
              <a:defRPr sz="1100">
                <a:solidFill>
                  <a:srgbClr val="333333"/>
                </a:solidFill>
              </a:defRPr>
            </a:pPr>
            <a:r>
              <a:t>This view makes it immediately clear that the conservation peaks correspond precisely to the functional domains: the UBR box (~118-189), the 400-600 region, and the RING domain (~1306-1364). The x-axis uses human residue numbering, which corrects for alignment gaps and gives biologically meaningful coordinates.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UBR3 Domain Architecture Across the Animal Kingdom</a:t>
            </a:r>
          </a:p>
        </p:txBody>
      </p:sp>
      <p:pic>
        <p:nvPicPr>
          <p:cNvPr id="3" name="Picture 2" descr="ubr3_animal_domain_architecture.png"/>
          <p:cNvPicPr>
            <a:picLocks noChangeAspect="1"/>
          </p:cNvPicPr>
          <p:nvPr/>
        </p:nvPicPr>
        <p:blipFill>
          <a:blip r:embed="rId2"/>
          <a:stretch>
            <a:fillRect/>
          </a:stretch>
        </p:blipFill>
        <p:spPr>
          <a:xfrm>
            <a:off x="228600" y="594360"/>
            <a:ext cx="6433780"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figure displays the full-length UBR3 protein for each of the 13 species analyzed, ordered from vertebrates (top) to cnidarians (bottom), reflecting evolutionary distance from humans.</a:t>
            </a:r>
          </a:p>
          <a:p>
            <a:pPr algn="l">
              <a:spcBef>
                <a:spcPts val="800"/>
              </a:spcBef>
              <a:spcAft>
                <a:spcPts val="400"/>
              </a:spcAft>
              <a:defRPr sz="1100">
                <a:solidFill>
                  <a:srgbClr val="333333"/>
                </a:solidFill>
              </a:defRPr>
            </a:pPr>
            <a:r>
              <a:t>Three conserved functional domains are highlighted on each protein bar:</a:t>
            </a:r>
            <a:br/>
            <a:r>
              <a:t>  • UBR box (purple, aa 118-189): the substrate-recognition domain that binds N-degron substrates</a:t>
            </a:r>
            <a:br/>
            <a:r>
              <a:t>  • Conserved region 400-600 (blue): a region of unknown function that is highly conserved across all species</a:t>
            </a:r>
            <a:br/>
            <a:r>
              <a:t>  • RING domain (orange, aa 1306-1364): the E3 ubiquitin ligase catalytic domain responsible for ubiquitin transfer</a:t>
            </a:r>
          </a:p>
          <a:p>
            <a:pPr algn="l">
              <a:spcBef>
                <a:spcPts val="800"/>
              </a:spcBef>
              <a:spcAft>
                <a:spcPts val="400"/>
              </a:spcAft>
              <a:defRPr sz="1100">
                <a:solidFill>
                  <a:srgbClr val="333333"/>
                </a:solidFill>
              </a:defRPr>
            </a:pPr>
            <a:r>
              <a:t>The domain positions are mapped from the human reference sequence onto each ortholog using the multiple sequence alignment. All 13 species retain all three domains, demonstrating that the core architecture of UBR3 has been preserved for over 700 million years of animal evolution.</a:t>
            </a:r>
          </a:p>
          <a:p>
            <a:pPr algn="l">
              <a:spcBef>
                <a:spcPts val="800"/>
              </a:spcBef>
              <a:spcAft>
                <a:spcPts val="400"/>
              </a:spcAft>
              <a:defRPr sz="1100">
                <a:solidFill>
                  <a:srgbClr val="333333"/>
                </a:solidFill>
              </a:defRPr>
            </a:pPr>
            <a:r>
              <a:t>Animal icons illustrate each species, color-coded by taxonomic group. Protein lengths (in amino acids) are shown on the right.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Combined Publication Figure</a:t>
            </a:r>
          </a:p>
        </p:txBody>
      </p:sp>
      <p:pic>
        <p:nvPicPr>
          <p:cNvPr id="3" name="Picture 2" descr="ubr3_pub_combined_panels.png"/>
          <p:cNvPicPr>
            <a:picLocks noChangeAspect="1"/>
          </p:cNvPicPr>
          <p:nvPr/>
        </p:nvPicPr>
        <p:blipFill>
          <a:blip r:embed="rId2"/>
          <a:stretch>
            <a:fillRect/>
          </a:stretch>
        </p:blipFill>
        <p:spPr>
          <a:xfrm>
            <a:off x="228600" y="594360"/>
            <a:ext cx="1950573"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composite figure combines all key panels into a single publication-ready image.</a:t>
            </a:r>
          </a:p>
          <a:p>
            <a:pPr algn="l">
              <a:spcBef>
                <a:spcPts val="800"/>
              </a:spcBef>
              <a:spcAft>
                <a:spcPts val="400"/>
              </a:spcAft>
              <a:defRPr sz="1100">
                <a:solidFill>
                  <a:srgbClr val="333333"/>
                </a:solidFill>
              </a:defRPr>
            </a:pPr>
            <a:r>
              <a:t>Panel A shows ClustalW-style multiple sequence alignments for the three most conserved functional regions: the UBR box domain (aa 118-189), the conserved region (aa 400-600), and the RING domain (aa 1306-1364).</a:t>
            </a:r>
          </a:p>
          <a:p>
            <a:pPr algn="l">
              <a:spcBef>
                <a:spcPts val="800"/>
              </a:spcBef>
              <a:spcAft>
                <a:spcPts val="400"/>
              </a:spcAft>
              <a:defRPr sz="1100">
                <a:solidFill>
                  <a:srgbClr val="333333"/>
                </a:solidFill>
              </a:defRPr>
            </a:pPr>
            <a:r>
              <a:t>Panel B shows the domain architecture diagram with colored blocks indicating domain positions across all 13 species.</a:t>
            </a:r>
          </a:p>
          <a:p>
            <a:pPr algn="l">
              <a:spcBef>
                <a:spcPts val="800"/>
              </a:spcBef>
              <a:spcAft>
                <a:spcPts val="400"/>
              </a:spcAft>
              <a:defRPr sz="1100">
                <a:solidFill>
                  <a:srgbClr val="333333"/>
                </a:solidFill>
              </a:defRPr>
            </a:pPr>
            <a:r>
              <a:t>Amino acids are colored by biochemical property: acidic (red), basic (blue), polar (green), hydrophobic (orange), aromatic (brown), and special residues (purple/gray). Fully conserved positions are marked with '*', strongly similar with ':', and weakly similar with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Conservation Analysis</a:t>
            </a:r>
          </a:p>
          <a:p>
            <a:pPr algn="ctr">
              <a:spcBef>
                <a:spcPts val="1600"/>
              </a:spcBef>
              <a:defRPr sz="1800">
                <a:solidFill>
                  <a:srgbClr val="BBDEFB"/>
                </a:solidFill>
              </a:defRPr>
            </a:pPr>
            <a:r>
              <a:t>Quantitative analysis of sequence conservation along the UBR3 protein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Conservation Score Along UBR3 Alignment</a:t>
            </a:r>
          </a:p>
        </p:txBody>
      </p:sp>
      <p:pic>
        <p:nvPicPr>
          <p:cNvPr id="3" name="Picture 2" descr="ubr3_conservation_line.png"/>
          <p:cNvPicPr>
            <a:picLocks noChangeAspect="1"/>
          </p:cNvPicPr>
          <p:nvPr/>
        </p:nvPicPr>
        <p:blipFill>
          <a:blip r:embed="rId2"/>
          <a:stretch>
            <a:fillRect/>
          </a:stretch>
        </p:blipFill>
        <p:spPr>
          <a:xfrm>
            <a:off x="228600" y="2607983"/>
            <a:ext cx="7848295" cy="1962073"/>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line plot shows the per-position conservation score across the entire UBR3 alignment (human residue positions on x-axis).</a:t>
            </a:r>
          </a:p>
          <a:p>
            <a:pPr algn="l">
              <a:spcBef>
                <a:spcPts val="800"/>
              </a:spcBef>
              <a:spcAft>
                <a:spcPts val="400"/>
              </a:spcAft>
              <a:defRPr sz="1100">
                <a:solidFill>
                  <a:srgbClr val="333333"/>
                </a:solidFill>
              </a:defRPr>
            </a:pPr>
            <a:r>
              <a:t>The conservation score at each column is calculated as the fraction of species sharing the most common amino acid at that position (ignoring gaps). A score of 1.0 means all species have the identical residue; lower values indicate divergence.</a:t>
            </a:r>
          </a:p>
          <a:p>
            <a:pPr algn="l">
              <a:spcBef>
                <a:spcPts val="800"/>
              </a:spcBef>
              <a:spcAft>
                <a:spcPts val="400"/>
              </a:spcAft>
              <a:defRPr sz="1100">
                <a:solidFill>
                  <a:srgbClr val="333333"/>
                </a:solidFill>
              </a:defRPr>
            </a:pPr>
            <a:r>
              <a:t>A sliding window average (typically 10-20 residues) smooths the signal to reveal broad conserved regions. Prominent peaks correspond to the UBR box (~120-190), the 400-600 region, and the RING domain (~1306-1364).</a:t>
            </a:r>
          </a:p>
          <a:p>
            <a:pPr algn="l">
              <a:spcBef>
                <a:spcPts val="800"/>
              </a:spcBef>
              <a:spcAft>
                <a:spcPts val="400"/>
              </a:spcAft>
              <a:defRPr sz="1100">
                <a:solidFill>
                  <a:srgbClr val="333333"/>
                </a:solidFill>
              </a:defRPr>
            </a:pPr>
            <a:r>
              <a:t>This plot was generated using Biopython to parse the Clustal Omega alignment and Matplotlib for visualization. Regions above the conservation threshold are highlighted, identifying candidate functional domains.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Conservation Heatmap</a:t>
            </a:r>
          </a:p>
        </p:txBody>
      </p:sp>
      <p:pic>
        <p:nvPicPr>
          <p:cNvPr id="3" name="Picture 2" descr="ubr3_conservation_heatmap.png"/>
          <p:cNvPicPr>
            <a:picLocks noChangeAspect="1"/>
          </p:cNvPicPr>
          <p:nvPr/>
        </p:nvPicPr>
        <p:blipFill>
          <a:blip r:embed="rId2"/>
          <a:stretch>
            <a:fillRect/>
          </a:stretch>
        </p:blipFill>
        <p:spPr>
          <a:xfrm>
            <a:off x="228600" y="2509879"/>
            <a:ext cx="7848295" cy="2158281"/>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heatmap visualizes the alignment as a 2D matrix where each row is a species and each column is an alignment position.</a:t>
            </a:r>
          </a:p>
          <a:p>
            <a:pPr algn="l">
              <a:spcBef>
                <a:spcPts val="800"/>
              </a:spcBef>
              <a:spcAft>
                <a:spcPts val="400"/>
              </a:spcAft>
              <a:defRPr sz="1100">
                <a:solidFill>
                  <a:srgbClr val="333333"/>
                </a:solidFill>
              </a:defRPr>
            </a:pPr>
            <a:r>
              <a:t>Colors represent amino acid conservation: darker/warmer colors indicate positions where the residue matches the consensus, while lighter/cooler colors indicate divergent positions. Gaps appear as a distinct color.</a:t>
            </a:r>
          </a:p>
          <a:p>
            <a:pPr algn="l">
              <a:spcBef>
                <a:spcPts val="800"/>
              </a:spcBef>
              <a:spcAft>
                <a:spcPts val="400"/>
              </a:spcAft>
              <a:defRPr sz="1100">
                <a:solidFill>
                  <a:srgbClr val="333333"/>
                </a:solidFill>
              </a:defRPr>
            </a:pPr>
            <a:r>
              <a:t>Vertical bands of consistent color reveal regions conserved across all species. The UBR box, 400-600 region, and RING domain stand out as prominent dark bands.</a:t>
            </a:r>
          </a:p>
          <a:p>
            <a:pPr algn="l">
              <a:spcBef>
                <a:spcPts val="800"/>
              </a:spcBef>
              <a:spcAft>
                <a:spcPts val="400"/>
              </a:spcAft>
              <a:defRPr sz="1100">
                <a:solidFill>
                  <a:srgbClr val="333333"/>
                </a:solidFill>
              </a:defRPr>
            </a:pPr>
            <a:r>
              <a:t>This view allows rapid visual identification of both globally conserved regions and species-specific insertions or deletions.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Regions Only – Heatmap</a:t>
            </a:r>
          </a:p>
        </p:txBody>
      </p:sp>
      <p:pic>
        <p:nvPicPr>
          <p:cNvPr id="3" name="Picture 2" descr="ubr3_conserved_only_heatmap.png"/>
          <p:cNvPicPr>
            <a:picLocks noChangeAspect="1"/>
          </p:cNvPicPr>
          <p:nvPr/>
        </p:nvPicPr>
        <p:blipFill>
          <a:blip r:embed="rId2"/>
          <a:stretch>
            <a:fillRect/>
          </a:stretch>
        </p:blipFill>
        <p:spPr>
          <a:xfrm>
            <a:off x="228600" y="2971419"/>
            <a:ext cx="7848295" cy="1235201"/>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heatmap is filtered to show only the alignment columns that exceed a 70% conservation threshold, removing variable regions.</a:t>
            </a:r>
          </a:p>
          <a:p>
            <a:pPr algn="l">
              <a:spcBef>
                <a:spcPts val="800"/>
              </a:spcBef>
              <a:spcAft>
                <a:spcPts val="400"/>
              </a:spcAft>
              <a:defRPr sz="1100">
                <a:solidFill>
                  <a:srgbClr val="333333"/>
                </a:solidFill>
              </a:defRPr>
            </a:pPr>
            <a:r>
              <a:t>By excluding poorly conserved positions, this view concentrates on the functionally important residues and makes it easier to see which species diverge at specific conserved sites.</a:t>
            </a:r>
          </a:p>
          <a:p>
            <a:pPr algn="l">
              <a:spcBef>
                <a:spcPts val="800"/>
              </a:spcBef>
              <a:spcAft>
                <a:spcPts val="400"/>
              </a:spcAft>
              <a:defRPr sz="1100">
                <a:solidFill>
                  <a:srgbClr val="333333"/>
                </a:solidFill>
              </a:defRPr>
            </a:pPr>
            <a:r>
              <a:t>The remaining columns cluster into the known functional domains and reveal additional short conserved motifs scattered throughout the protein.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Regions Map</a:t>
            </a:r>
          </a:p>
        </p:txBody>
      </p:sp>
      <p:pic>
        <p:nvPicPr>
          <p:cNvPr id="3" name="Picture 2" descr="ubr3_conserved_regions_map.png"/>
          <p:cNvPicPr>
            <a:picLocks noChangeAspect="1"/>
          </p:cNvPicPr>
          <p:nvPr/>
        </p:nvPicPr>
        <p:blipFill>
          <a:blip r:embed="rId2"/>
          <a:stretch>
            <a:fillRect/>
          </a:stretch>
        </p:blipFill>
        <p:spPr>
          <a:xfrm>
            <a:off x="228600" y="3020532"/>
            <a:ext cx="7848295" cy="1136976"/>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figure maps all identified conserved regions onto the UBR3 protein length, showing their positions and extent.</a:t>
            </a:r>
          </a:p>
          <a:p>
            <a:pPr algn="l">
              <a:spcBef>
                <a:spcPts val="800"/>
              </a:spcBef>
              <a:spcAft>
                <a:spcPts val="400"/>
              </a:spcAft>
              <a:defRPr sz="1100">
                <a:solidFill>
                  <a:srgbClr val="333333"/>
                </a:solidFill>
              </a:defRPr>
            </a:pPr>
            <a:r>
              <a:t>Each conserved region is defined as a stretch of consecutive alignment columns where the conservation score exceeds 70% for at least a minimum number of consecutive positions.</a:t>
            </a:r>
          </a:p>
          <a:p>
            <a:pPr algn="l">
              <a:spcBef>
                <a:spcPts val="800"/>
              </a:spcBef>
              <a:spcAft>
                <a:spcPts val="400"/>
              </a:spcAft>
              <a:defRPr sz="1100">
                <a:solidFill>
                  <a:srgbClr val="333333"/>
                </a:solidFill>
              </a:defRPr>
            </a:pPr>
            <a:r>
              <a:t>The map reveals that conservation is not uniformly distributed: it clusters heavily in the N-terminal UBR box, the central 400-600 region, and the C-terminal RING domain, with scattered smaller motifs in between.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Top Conserved Regions with Amino Acid Annotations</a:t>
            </a:r>
          </a:p>
        </p:txBody>
      </p:sp>
      <p:pic>
        <p:nvPicPr>
          <p:cNvPr id="3" name="Picture 2" descr="ubr3_top_regions_annotated.png"/>
          <p:cNvPicPr>
            <a:picLocks noChangeAspect="1"/>
          </p:cNvPicPr>
          <p:nvPr/>
        </p:nvPicPr>
        <p:blipFill>
          <a:blip r:embed="rId2"/>
          <a:stretch>
            <a:fillRect/>
          </a:stretch>
        </p:blipFill>
        <p:spPr>
          <a:xfrm>
            <a:off x="228600" y="594360"/>
            <a:ext cx="6740107"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bar chart ranks the most conserved regions by their average conservation score, with the actual amino acid consensus sequence annotated.</a:t>
            </a:r>
          </a:p>
          <a:p>
            <a:pPr algn="l">
              <a:spcBef>
                <a:spcPts val="800"/>
              </a:spcBef>
              <a:spcAft>
                <a:spcPts val="400"/>
              </a:spcAft>
              <a:defRPr sz="1100">
                <a:solidFill>
                  <a:srgbClr val="333333"/>
                </a:solidFill>
              </a:defRPr>
            </a:pPr>
            <a:r>
              <a:t>For each top region, the consensus amino acid sequence is shown, revealing the specific residues under strongest evolutionary constraint.</a:t>
            </a:r>
          </a:p>
          <a:p>
            <a:pPr algn="l">
              <a:spcBef>
                <a:spcPts val="800"/>
              </a:spcBef>
              <a:spcAft>
                <a:spcPts val="400"/>
              </a:spcAft>
              <a:defRPr sz="1100">
                <a:solidFill>
                  <a:srgbClr val="333333"/>
                </a:solidFill>
              </a:defRPr>
            </a:pPr>
            <a:r>
              <a:t>Residues that are 100% conserved across all 13 species are likely essential for protein function – mutations at these positions would be expected to disrupt UBR3 activity.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Domain Analysis</a:t>
            </a:r>
          </a:p>
          <a:p>
            <a:pPr algn="ctr">
              <a:spcBef>
                <a:spcPts val="1600"/>
              </a:spcBef>
              <a:defRPr sz="1800">
                <a:solidFill>
                  <a:srgbClr val="BBDEFB"/>
                </a:solidFill>
              </a:defRPr>
            </a:pPr>
            <a:r>
              <a:t>Functional domain comparison and pairwise identity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Domain Architecture Diagram</a:t>
            </a:r>
          </a:p>
        </p:txBody>
      </p:sp>
      <p:pic>
        <p:nvPicPr>
          <p:cNvPr id="3" name="Picture 2" descr="ubr3_pub_domain_architecture.png"/>
          <p:cNvPicPr>
            <a:picLocks noChangeAspect="1"/>
          </p:cNvPicPr>
          <p:nvPr/>
        </p:nvPicPr>
        <p:blipFill>
          <a:blip r:embed="rId2"/>
          <a:stretch>
            <a:fillRect/>
          </a:stretch>
        </p:blipFill>
        <p:spPr>
          <a:xfrm>
            <a:off x="228600" y="687990"/>
            <a:ext cx="7848295" cy="580205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schematic shows the linear domain architecture of UBR3 across all 13 species, with species names color-coded by taxonomic group.</a:t>
            </a:r>
          </a:p>
          <a:p>
            <a:pPr algn="l">
              <a:spcBef>
                <a:spcPts val="800"/>
              </a:spcBef>
              <a:spcAft>
                <a:spcPts val="400"/>
              </a:spcAft>
              <a:defRPr sz="1100">
                <a:solidFill>
                  <a:srgbClr val="333333"/>
                </a:solidFill>
              </a:defRPr>
            </a:pPr>
            <a:r>
              <a:t>The protein backbone is shown as a gray bar proportional to the sequence length. Colored blocks mark the three characterized domains: UBR box (purple), conserved region 400-600 (blue), and RING domain (orange).</a:t>
            </a:r>
          </a:p>
          <a:p>
            <a:pPr algn="l">
              <a:spcBef>
                <a:spcPts val="800"/>
              </a:spcBef>
              <a:spcAft>
                <a:spcPts val="400"/>
              </a:spcAft>
              <a:defRPr sz="1100">
                <a:solidFill>
                  <a:srgbClr val="333333"/>
                </a:solidFill>
              </a:defRPr>
            </a:pPr>
            <a:r>
              <a:t>Domain boundaries in each ortholog are determined by mapping the human domain coordinates through the multiple sequence alignment to find the corresponding positions in each species.</a:t>
            </a:r>
          </a:p>
          <a:p>
            <a:pPr algn="l">
              <a:spcBef>
                <a:spcPts val="800"/>
              </a:spcBef>
              <a:spcAft>
                <a:spcPts val="400"/>
              </a:spcAft>
              <a:defRPr sz="1100">
                <a:solidFill>
                  <a:srgbClr val="333333"/>
                </a:solidFill>
              </a:defRPr>
            </a:pPr>
            <a:r>
              <a:t>The consistent domain organization across all species – from human to sea anemone – indicates strong purifying selection on UBR3 structure.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Domain-Specific Conservation</a:t>
            </a:r>
          </a:p>
        </p:txBody>
      </p:sp>
      <p:pic>
        <p:nvPicPr>
          <p:cNvPr id="3" name="Picture 2" descr="ubr3_domain_conservation.png"/>
          <p:cNvPicPr>
            <a:picLocks noChangeAspect="1"/>
          </p:cNvPicPr>
          <p:nvPr/>
        </p:nvPicPr>
        <p:blipFill>
          <a:blip r:embed="rId2"/>
          <a:stretch>
            <a:fillRect/>
          </a:stretch>
        </p:blipFill>
        <p:spPr>
          <a:xfrm>
            <a:off x="228600" y="2019361"/>
            <a:ext cx="7848295" cy="3139318"/>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figure compares the average conservation score within each functional domain versus the overall protein average.</a:t>
            </a:r>
          </a:p>
          <a:p>
            <a:pPr algn="l">
              <a:spcBef>
                <a:spcPts val="800"/>
              </a:spcBef>
              <a:spcAft>
                <a:spcPts val="400"/>
              </a:spcAft>
              <a:defRPr sz="1100">
                <a:solidFill>
                  <a:srgbClr val="333333"/>
                </a:solidFill>
              </a:defRPr>
            </a:pPr>
            <a:r>
              <a:t>The UBR box and RING domains typically show significantly higher conservation than the protein average, consistent with their critical enzymatic functions.</a:t>
            </a:r>
          </a:p>
          <a:p>
            <a:pPr algn="l">
              <a:spcBef>
                <a:spcPts val="800"/>
              </a:spcBef>
              <a:spcAft>
                <a:spcPts val="400"/>
              </a:spcAft>
              <a:defRPr sz="1100">
                <a:solidFill>
                  <a:srgbClr val="333333"/>
                </a:solidFill>
              </a:defRPr>
            </a:pPr>
            <a:r>
              <a:t>The 400-600 region also shows elevated conservation, suggesting it plays an important but still uncharacterized role in UBR3 function – possibly mediating protein-protein interactions or structural stability.</a:t>
            </a:r>
          </a:p>
          <a:p>
            <a:pPr algn="l">
              <a:spcBef>
                <a:spcPts val="800"/>
              </a:spcBef>
              <a:spcAft>
                <a:spcPts val="400"/>
              </a:spcAft>
              <a:defRPr sz="1100">
                <a:solidFill>
                  <a:srgbClr val="333333"/>
                </a:solidFill>
              </a:defRPr>
            </a:pPr>
            <a:r>
              <a:t>Inter-domain linker regions show the lowest conservation, consistent with their role as flexible spacers rather than functional elements.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Pairwise Sequence Identity Matrix</a:t>
            </a:r>
          </a:p>
        </p:txBody>
      </p:sp>
      <p:pic>
        <p:nvPicPr>
          <p:cNvPr id="3" name="Picture 2" descr="ubr3_identity_matrix.png"/>
          <p:cNvPicPr>
            <a:picLocks noChangeAspect="1"/>
          </p:cNvPicPr>
          <p:nvPr/>
        </p:nvPicPr>
        <p:blipFill>
          <a:blip r:embed="rId2"/>
          <a:stretch>
            <a:fillRect/>
          </a:stretch>
        </p:blipFill>
        <p:spPr>
          <a:xfrm>
            <a:off x="228600" y="594360"/>
            <a:ext cx="6737985"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matrix shows the percent sequence identity between every pair of species in the alignment, displayed as a color-coded heatmap.</a:t>
            </a:r>
          </a:p>
          <a:p>
            <a:pPr algn="l">
              <a:spcBef>
                <a:spcPts val="800"/>
              </a:spcBef>
              <a:spcAft>
                <a:spcPts val="400"/>
              </a:spcAft>
              <a:defRPr sz="1100">
                <a:solidFill>
                  <a:srgbClr val="333333"/>
                </a:solidFill>
              </a:defRPr>
            </a:pPr>
            <a:r>
              <a:t>Closely related species (e.g., Human vs. Mouse) share high identity (typically &gt;80%), while distant comparisons (e.g., Human vs. Hydra) show lower identity (typically 25-40%).</a:t>
            </a:r>
          </a:p>
          <a:p>
            <a:pPr algn="l">
              <a:spcBef>
                <a:spcPts val="800"/>
              </a:spcBef>
              <a:spcAft>
                <a:spcPts val="400"/>
              </a:spcAft>
              <a:defRPr sz="1100">
                <a:solidFill>
                  <a:srgbClr val="333333"/>
                </a:solidFill>
              </a:defRPr>
            </a:pPr>
            <a:r>
              <a:t>The fact that even the most distant species pairs retain &gt;20% identity across a ~1900 amino acid protein is remarkable and indicates strong functional constraint on UBR3 throughout animal evolution.</a:t>
            </a:r>
          </a:p>
          <a:p>
            <a:pPr algn="l">
              <a:spcBef>
                <a:spcPts val="800"/>
              </a:spcBef>
              <a:spcAft>
                <a:spcPts val="400"/>
              </a:spcAft>
              <a:defRPr sz="1100">
                <a:solidFill>
                  <a:srgbClr val="333333"/>
                </a:solidFill>
              </a:defRPr>
            </a:pPr>
            <a:r>
              <a:t>The matrix was computed from the Clustal Omega multiple sequence alignment by counting identical residue pairs at each aligned position (excluding gaps).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Publication Alignments</a:t>
            </a:r>
          </a:p>
          <a:p>
            <a:pPr algn="ctr">
              <a:spcBef>
                <a:spcPts val="1600"/>
              </a:spcBef>
              <a:defRPr sz="1800">
                <a:solidFill>
                  <a:srgbClr val="BBDEFB"/>
                </a:solidFill>
              </a:defRPr>
            </a:pPr>
            <a:r>
              <a:t>ClustalW-style alignments of the three major conserved domains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UBR Box Domain Alignment (aa 118-189)</a:t>
            </a:r>
          </a:p>
        </p:txBody>
      </p:sp>
      <p:pic>
        <p:nvPicPr>
          <p:cNvPr id="3" name="Picture 2" descr="ubr3_pub_ubr_box.png"/>
          <p:cNvPicPr>
            <a:picLocks noChangeAspect="1"/>
          </p:cNvPicPr>
          <p:nvPr/>
        </p:nvPicPr>
        <p:blipFill>
          <a:blip r:embed="rId2"/>
          <a:stretch>
            <a:fillRect/>
          </a:stretch>
        </p:blipFill>
        <p:spPr>
          <a:xfrm>
            <a:off x="228600" y="1189278"/>
            <a:ext cx="7848295" cy="4799484"/>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ClustalW-style alignment of the UBR box domain (human residues 118-189) across all 13 species.</a:t>
            </a:r>
          </a:p>
          <a:p>
            <a:pPr algn="l">
              <a:spcBef>
                <a:spcPts val="800"/>
              </a:spcBef>
              <a:spcAft>
                <a:spcPts val="400"/>
              </a:spcAft>
              <a:defRPr sz="1100">
                <a:solidFill>
                  <a:srgbClr val="333333"/>
                </a:solidFill>
              </a:defRPr>
            </a:pPr>
            <a:r>
              <a:t>The UBR box is the substrate-recognition domain of UBR-family E3 ligases. It binds N-terminal destabilizing residues (N-degrons) of target proteins, marking them for proteasomal degradation via the N-end rule pathway.</a:t>
            </a:r>
          </a:p>
          <a:p>
            <a:pPr algn="l">
              <a:spcBef>
                <a:spcPts val="800"/>
              </a:spcBef>
              <a:spcAft>
                <a:spcPts val="400"/>
              </a:spcAft>
              <a:defRPr sz="1100">
                <a:solidFill>
                  <a:srgbClr val="333333"/>
                </a:solidFill>
              </a:defRPr>
            </a:pPr>
            <a:r>
              <a:t>Residues with identical amino acids across all species are highlighted with colored backgrounds grouped by biochemical property. Conservation symbols: '*' = identical in all species, ':' = strongly similar (conserved biochemical property), '.' = weakly similar.</a:t>
            </a:r>
          </a:p>
          <a:p>
            <a:pPr algn="l">
              <a:spcBef>
                <a:spcPts val="800"/>
              </a:spcBef>
              <a:spcAft>
                <a:spcPts val="400"/>
              </a:spcAft>
              <a:defRPr sz="1100">
                <a:solidFill>
                  <a:srgbClr val="333333"/>
                </a:solidFill>
              </a:defRPr>
            </a:pPr>
            <a:r>
              <a:t>The high density of fully conserved positions (marked with '*') indicates that the substrate-binding interface has been under very strong purifying selection. Key zinc-coordinating cysteines and histidines are 100% conserved.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Alignment (aa 400-600)</a:t>
            </a:r>
          </a:p>
        </p:txBody>
      </p:sp>
      <p:pic>
        <p:nvPicPr>
          <p:cNvPr id="3" name="Picture 2" descr="ubr3_pub_region_400_600.png"/>
          <p:cNvPicPr>
            <a:picLocks noChangeAspect="1"/>
          </p:cNvPicPr>
          <p:nvPr/>
        </p:nvPicPr>
        <p:blipFill>
          <a:blip r:embed="rId2"/>
          <a:stretch>
            <a:fillRect/>
          </a:stretch>
        </p:blipFill>
        <p:spPr>
          <a:xfrm>
            <a:off x="228600" y="594360"/>
            <a:ext cx="5591383"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ClustalW-style alignment of the conserved region spanning human residues 400-600 across all 13 species.</a:t>
            </a:r>
          </a:p>
          <a:p>
            <a:pPr algn="l">
              <a:spcBef>
                <a:spcPts val="800"/>
              </a:spcBef>
              <a:spcAft>
                <a:spcPts val="400"/>
              </a:spcAft>
              <a:defRPr sz="1100">
                <a:solidFill>
                  <a:srgbClr val="333333"/>
                </a:solidFill>
              </a:defRPr>
            </a:pPr>
            <a:r>
              <a:t>This ~200 amino acid region shows unexpectedly high conservation despite having no currently characterized function in the literature. Its conservation level rivals that of the known functional domains.</a:t>
            </a:r>
          </a:p>
          <a:p>
            <a:pPr algn="l">
              <a:spcBef>
                <a:spcPts val="800"/>
              </a:spcBef>
              <a:spcAft>
                <a:spcPts val="400"/>
              </a:spcAft>
              <a:defRPr sz="1100">
                <a:solidFill>
                  <a:srgbClr val="333333"/>
                </a:solidFill>
              </a:defRPr>
            </a:pPr>
            <a:r>
              <a:t>The alignment reveals numerous fully conserved positions scattered throughout this region, suggesting it plays an important structural or functional role that has not yet been experimentally characterized.</a:t>
            </a:r>
          </a:p>
          <a:p>
            <a:pPr algn="l">
              <a:spcBef>
                <a:spcPts val="800"/>
              </a:spcBef>
              <a:spcAft>
                <a:spcPts val="400"/>
              </a:spcAft>
              <a:defRPr sz="1100">
                <a:solidFill>
                  <a:srgbClr val="333333"/>
                </a:solidFill>
              </a:defRPr>
            </a:pPr>
            <a:r>
              <a:t>This region may represent a novel functional domain, a protein-protein interaction surface, or a structural scaffold essential for UBR3 folding. It represents a promising target for future mutagenesis studies.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RING Domain Alignment (aa 1306-1364)</a:t>
            </a:r>
          </a:p>
        </p:txBody>
      </p:sp>
      <p:pic>
        <p:nvPicPr>
          <p:cNvPr id="3" name="Picture 2" descr="ubr3_pub_ring_domain.png"/>
          <p:cNvPicPr>
            <a:picLocks noChangeAspect="1"/>
          </p:cNvPicPr>
          <p:nvPr/>
        </p:nvPicPr>
        <p:blipFill>
          <a:blip r:embed="rId2"/>
          <a:stretch>
            <a:fillRect/>
          </a:stretch>
        </p:blipFill>
        <p:spPr>
          <a:xfrm>
            <a:off x="228600" y="1189278"/>
            <a:ext cx="7848295" cy="4799484"/>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ClustalW-style alignment of the RING finger domain (human residues 1306-1364) across all 13 species.</a:t>
            </a:r>
          </a:p>
          <a:p>
            <a:pPr algn="l">
              <a:spcBef>
                <a:spcPts val="800"/>
              </a:spcBef>
              <a:spcAft>
                <a:spcPts val="400"/>
              </a:spcAft>
              <a:defRPr sz="1100">
                <a:solidFill>
                  <a:srgbClr val="333333"/>
                </a:solidFill>
              </a:defRPr>
            </a:pPr>
            <a:r>
              <a:t>The RING domain is the catalytic core of UBR3's E3 ubiquitin ligase activity. It coordinates two zinc ions through a conserved pattern of cysteine and histidine residues (C3HC4 or C3H2C3 type) and directly mediates the transfer of ubiquitin from E2 conjugating enzymes to substrate proteins.</a:t>
            </a:r>
          </a:p>
          <a:p>
            <a:pPr algn="l">
              <a:spcBef>
                <a:spcPts val="800"/>
              </a:spcBef>
              <a:spcAft>
                <a:spcPts val="400"/>
              </a:spcAft>
              <a:defRPr sz="1100">
                <a:solidFill>
                  <a:srgbClr val="333333"/>
                </a:solidFill>
              </a:defRPr>
            </a:pPr>
            <a:r>
              <a:t>The zinc-coordinating residues (cysteines and histidines) are 100% conserved across all 13 species, reflecting their absolute requirement for RING domain structure and function.</a:t>
            </a:r>
          </a:p>
          <a:p>
            <a:pPr algn="l">
              <a:spcBef>
                <a:spcPts val="800"/>
              </a:spcBef>
              <a:spcAft>
                <a:spcPts val="400"/>
              </a:spcAft>
              <a:defRPr sz="1100">
                <a:solidFill>
                  <a:srgbClr val="333333"/>
                </a:solidFill>
              </a:defRPr>
            </a:pPr>
            <a:r>
              <a:t>Even non-zinc-coordinating positions show high conservation, indicating that the overall fold and E2-interaction surface are under strong selection.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Full Alignment Blocks</a:t>
            </a:r>
          </a:p>
          <a:p>
            <a:pPr algn="ctr">
              <a:spcBef>
                <a:spcPts val="1600"/>
              </a:spcBef>
              <a:defRPr sz="1800">
                <a:solidFill>
                  <a:srgbClr val="BBDEFB"/>
                </a:solidFill>
              </a:defRPr>
            </a:pPr>
            <a:r>
              <a:t>Complete annotated multiple sequence alignment in sequential blocks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1</a:t>
            </a:r>
          </a:p>
        </p:txBody>
      </p:sp>
      <p:pic>
        <p:nvPicPr>
          <p:cNvPr id="3" name="Picture 2" descr="ubr3_annotated_block_01.png"/>
          <p:cNvPicPr>
            <a:picLocks noChangeAspect="1"/>
          </p:cNvPicPr>
          <p:nvPr/>
        </p:nvPicPr>
        <p:blipFill>
          <a:blip r:embed="rId2"/>
          <a:stretch>
            <a:fillRect/>
          </a:stretch>
        </p:blipFill>
        <p:spPr>
          <a:xfrm>
            <a:off x="228600" y="2466626"/>
            <a:ext cx="7848295" cy="2244788"/>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2</a:t>
            </a:r>
          </a:p>
        </p:txBody>
      </p:sp>
      <p:pic>
        <p:nvPicPr>
          <p:cNvPr id="3" name="Picture 2" descr="ubr3_annotated_block_02.png"/>
          <p:cNvPicPr>
            <a:picLocks noChangeAspect="1"/>
          </p:cNvPicPr>
          <p:nvPr/>
        </p:nvPicPr>
        <p:blipFill>
          <a:blip r:embed="rId2"/>
          <a:stretch>
            <a:fillRect/>
          </a:stretch>
        </p:blipFill>
        <p:spPr>
          <a:xfrm>
            <a:off x="228600" y="2446840"/>
            <a:ext cx="7848295" cy="228435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3</a:t>
            </a:r>
          </a:p>
        </p:txBody>
      </p:sp>
      <p:pic>
        <p:nvPicPr>
          <p:cNvPr id="3" name="Picture 2" descr="ubr3_annotated_block_03.png"/>
          <p:cNvPicPr>
            <a:picLocks noChangeAspect="1"/>
          </p:cNvPicPr>
          <p:nvPr/>
        </p:nvPicPr>
        <p:blipFill>
          <a:blip r:embed="rId2"/>
          <a:stretch>
            <a:fillRect/>
          </a:stretch>
        </p:blipFill>
        <p:spPr>
          <a:xfrm>
            <a:off x="228600" y="2659579"/>
            <a:ext cx="7848295" cy="1858882"/>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4</a:t>
            </a:r>
          </a:p>
        </p:txBody>
      </p:sp>
      <p:pic>
        <p:nvPicPr>
          <p:cNvPr id="3" name="Picture 2" descr="ubr3_annotated_block_04.png"/>
          <p:cNvPicPr>
            <a:picLocks noChangeAspect="1"/>
          </p:cNvPicPr>
          <p:nvPr/>
        </p:nvPicPr>
        <p:blipFill>
          <a:blip r:embed="rId2"/>
          <a:stretch>
            <a:fillRect/>
          </a:stretch>
        </p:blipFill>
        <p:spPr>
          <a:xfrm>
            <a:off x="228600" y="1819744"/>
            <a:ext cx="7848295" cy="3538551"/>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5</a:t>
            </a:r>
          </a:p>
        </p:txBody>
      </p:sp>
      <p:pic>
        <p:nvPicPr>
          <p:cNvPr id="3" name="Picture 2" descr="ubr3_annotated_block_05.png"/>
          <p:cNvPicPr>
            <a:picLocks noChangeAspect="1"/>
          </p:cNvPicPr>
          <p:nvPr/>
        </p:nvPicPr>
        <p:blipFill>
          <a:blip r:embed="rId2"/>
          <a:stretch>
            <a:fillRect/>
          </a:stretch>
        </p:blipFill>
        <p:spPr>
          <a:xfrm>
            <a:off x="228600" y="2587617"/>
            <a:ext cx="7848295" cy="2002806"/>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6</a:t>
            </a:r>
          </a:p>
        </p:txBody>
      </p:sp>
      <p:pic>
        <p:nvPicPr>
          <p:cNvPr id="3" name="Picture 2" descr="ubr3_annotated_block_06.png"/>
          <p:cNvPicPr>
            <a:picLocks noChangeAspect="1"/>
          </p:cNvPicPr>
          <p:nvPr/>
        </p:nvPicPr>
        <p:blipFill>
          <a:blip r:embed="rId2"/>
          <a:stretch>
            <a:fillRect/>
          </a:stretch>
        </p:blipFill>
        <p:spPr>
          <a:xfrm>
            <a:off x="228600" y="2521236"/>
            <a:ext cx="7848295" cy="2135568"/>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7</a:t>
            </a:r>
          </a:p>
        </p:txBody>
      </p:sp>
      <p:pic>
        <p:nvPicPr>
          <p:cNvPr id="3" name="Picture 2" descr="ubr3_annotated_block_07.png"/>
          <p:cNvPicPr>
            <a:picLocks noChangeAspect="1"/>
          </p:cNvPicPr>
          <p:nvPr/>
        </p:nvPicPr>
        <p:blipFill>
          <a:blip r:embed="rId2"/>
          <a:stretch>
            <a:fillRect/>
          </a:stretch>
        </p:blipFill>
        <p:spPr>
          <a:xfrm>
            <a:off x="228600" y="2446840"/>
            <a:ext cx="7848295" cy="228435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8</a:t>
            </a:r>
          </a:p>
        </p:txBody>
      </p:sp>
      <p:pic>
        <p:nvPicPr>
          <p:cNvPr id="3" name="Picture 2" descr="ubr3_annotated_block_08.png"/>
          <p:cNvPicPr>
            <a:picLocks noChangeAspect="1"/>
          </p:cNvPicPr>
          <p:nvPr/>
        </p:nvPicPr>
        <p:blipFill>
          <a:blip r:embed="rId2"/>
          <a:stretch>
            <a:fillRect/>
          </a:stretch>
        </p:blipFill>
        <p:spPr>
          <a:xfrm>
            <a:off x="228600" y="2632252"/>
            <a:ext cx="7848295" cy="1913536"/>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9</a:t>
            </a:r>
          </a:p>
        </p:txBody>
      </p:sp>
      <p:pic>
        <p:nvPicPr>
          <p:cNvPr id="3" name="Picture 2" descr="ubr3_annotated_block_09.png"/>
          <p:cNvPicPr>
            <a:picLocks noChangeAspect="1"/>
          </p:cNvPicPr>
          <p:nvPr/>
        </p:nvPicPr>
        <p:blipFill>
          <a:blip r:embed="rId2"/>
          <a:stretch>
            <a:fillRect/>
          </a:stretch>
        </p:blipFill>
        <p:spPr>
          <a:xfrm>
            <a:off x="228600" y="2632252"/>
            <a:ext cx="7848295" cy="1913536"/>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10</a:t>
            </a:r>
          </a:p>
        </p:txBody>
      </p:sp>
      <p:pic>
        <p:nvPicPr>
          <p:cNvPr id="3" name="Picture 2" descr="ubr3_annotated_block_10.png"/>
          <p:cNvPicPr>
            <a:picLocks noChangeAspect="1"/>
          </p:cNvPicPr>
          <p:nvPr/>
        </p:nvPicPr>
        <p:blipFill>
          <a:blip r:embed="rId2"/>
          <a:stretch>
            <a:fillRect/>
          </a:stretch>
        </p:blipFill>
        <p:spPr>
          <a:xfrm>
            <a:off x="228600" y="2485275"/>
            <a:ext cx="7848295" cy="220748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11</a:t>
            </a:r>
          </a:p>
        </p:txBody>
      </p:sp>
      <p:pic>
        <p:nvPicPr>
          <p:cNvPr id="3" name="Picture 2" descr="ubr3_annotated_block_11.png"/>
          <p:cNvPicPr>
            <a:picLocks noChangeAspect="1"/>
          </p:cNvPicPr>
          <p:nvPr/>
        </p:nvPicPr>
        <p:blipFill>
          <a:blip r:embed="rId2"/>
          <a:stretch>
            <a:fillRect/>
          </a:stretch>
        </p:blipFill>
        <p:spPr>
          <a:xfrm>
            <a:off x="228600" y="2521743"/>
            <a:ext cx="7848295" cy="2134554"/>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Annotated Alignment Block 12</a:t>
            </a:r>
          </a:p>
        </p:txBody>
      </p:sp>
      <p:pic>
        <p:nvPicPr>
          <p:cNvPr id="3" name="Picture 2" descr="ubr3_annotated_block_12.png"/>
          <p:cNvPicPr>
            <a:picLocks noChangeAspect="1"/>
          </p:cNvPicPr>
          <p:nvPr/>
        </p:nvPicPr>
        <p:blipFill>
          <a:blip r:embed="rId2"/>
          <a:stretch>
            <a:fillRect/>
          </a:stretch>
        </p:blipFill>
        <p:spPr>
          <a:xfrm>
            <a:off x="228600" y="2505326"/>
            <a:ext cx="7848295" cy="2167387"/>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portion of the full multiple sequence alignment of UBR3 across 13 species, displayed in blocks of ~60 residues per line.</a:t>
            </a:r>
          </a:p>
          <a:p>
            <a:pPr algn="l">
              <a:spcBef>
                <a:spcPts val="800"/>
              </a:spcBef>
              <a:spcAft>
                <a:spcPts val="400"/>
              </a:spcAft>
              <a:defRPr sz="1100">
                <a:solidFill>
                  <a:srgbClr val="333333"/>
                </a:solidFill>
              </a:defRPr>
            </a:pPr>
            <a:r>
              <a:t>Each row represents one species. Amino acids are colored by conservation: positions identical across all species are highlighted with colored backgrounds matching their biochemical group. Gaps (insertions/deletions) are shown as '-'.</a:t>
            </a:r>
          </a:p>
          <a:p>
            <a:pPr algn="l">
              <a:spcBef>
                <a:spcPts val="800"/>
              </a:spcBef>
              <a:spcAft>
                <a:spcPts val="400"/>
              </a:spcAft>
              <a:defRPr sz="1100">
                <a:solidFill>
                  <a:srgbClr val="333333"/>
                </a:solidFill>
              </a:defRPr>
            </a:pPr>
            <a:r>
              <a:t>Human residue numbers are marked at the top of each block for reference. Conservation symbols below each block indicate: '*' = fully conserved, ':' = strongly similar, '.' = weakly similar.</a:t>
            </a:r>
          </a:p>
          <a:p>
            <a:pPr algn="l">
              <a:spcBef>
                <a:spcPts val="800"/>
              </a:spcBef>
              <a:spcAft>
                <a:spcPts val="400"/>
              </a:spcAft>
              <a:defRPr sz="1100">
                <a:solidFill>
                  <a:srgbClr val="333333"/>
                </a:solidFill>
              </a:defRPr>
            </a:pPr>
            <a:r>
              <a:t>These blocks collectively show the full-length alignment, allowing detailed inspection of any region of interest.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Individual Conserved Regions</a:t>
            </a:r>
          </a:p>
          <a:p>
            <a:pPr algn="ctr">
              <a:spcBef>
                <a:spcPts val="1600"/>
              </a:spcBef>
              <a:defRPr sz="1800">
                <a:solidFill>
                  <a:srgbClr val="BBDEFB"/>
                </a:solidFill>
              </a:defRPr>
            </a:pPr>
            <a:r>
              <a:t>Zoomed-in views of each conserved region identified by the analysis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 Human Position 120-149</a:t>
            </a:r>
          </a:p>
        </p:txBody>
      </p:sp>
      <p:pic>
        <p:nvPicPr>
          <p:cNvPr id="3" name="Picture 2" descr="ubr3_region_01_h120-149.png"/>
          <p:cNvPicPr>
            <a:picLocks noChangeAspect="1"/>
          </p:cNvPicPr>
          <p:nvPr/>
        </p:nvPicPr>
        <p:blipFill>
          <a:blip r:embed="rId2"/>
          <a:stretch>
            <a:fillRect/>
          </a:stretch>
        </p:blipFill>
        <p:spPr>
          <a:xfrm>
            <a:off x="228600" y="1859437"/>
            <a:ext cx="7848294" cy="3459165"/>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2: Human Position 156-174</a:t>
            </a:r>
          </a:p>
        </p:txBody>
      </p:sp>
      <p:pic>
        <p:nvPicPr>
          <p:cNvPr id="3" name="Picture 2" descr="ubr3_region_02_h156-174.png"/>
          <p:cNvPicPr>
            <a:picLocks noChangeAspect="1"/>
          </p:cNvPicPr>
          <p:nvPr/>
        </p:nvPicPr>
        <p:blipFill>
          <a:blip r:embed="rId2"/>
          <a:stretch>
            <a:fillRect/>
          </a:stretch>
        </p:blipFill>
        <p:spPr>
          <a:xfrm>
            <a:off x="228600" y="975236"/>
            <a:ext cx="7848295" cy="5227568"/>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3: Human Position 393-409</a:t>
            </a:r>
          </a:p>
        </p:txBody>
      </p:sp>
      <p:pic>
        <p:nvPicPr>
          <p:cNvPr id="3" name="Picture 2" descr="ubr3_region_03_h393-409.png"/>
          <p:cNvPicPr>
            <a:picLocks noChangeAspect="1"/>
          </p:cNvPicPr>
          <p:nvPr/>
        </p:nvPicPr>
        <p:blipFill>
          <a:blip r:embed="rId2"/>
          <a:stretch>
            <a:fillRect/>
          </a:stretch>
        </p:blipFill>
        <p:spPr>
          <a:xfrm>
            <a:off x="228600" y="705237"/>
            <a:ext cx="7848295" cy="5767566"/>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4: Human Position 415-430</a:t>
            </a:r>
          </a:p>
        </p:txBody>
      </p:sp>
      <p:pic>
        <p:nvPicPr>
          <p:cNvPr id="3" name="Picture 2" descr="ubr3_region_04_h415-430.png"/>
          <p:cNvPicPr>
            <a:picLocks noChangeAspect="1"/>
          </p:cNvPicPr>
          <p:nvPr/>
        </p:nvPicPr>
        <p:blipFill>
          <a:blip r:embed="rId2"/>
          <a:stretch>
            <a:fillRect/>
          </a:stretch>
        </p:blipFill>
        <p:spPr>
          <a:xfrm>
            <a:off x="228600" y="594360"/>
            <a:ext cx="7728154"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5: Human Position 435-458</a:t>
            </a:r>
          </a:p>
        </p:txBody>
      </p:sp>
      <p:pic>
        <p:nvPicPr>
          <p:cNvPr id="3" name="Picture 2" descr="ubr3_region_05_h435-458.png"/>
          <p:cNvPicPr>
            <a:picLocks noChangeAspect="1"/>
          </p:cNvPicPr>
          <p:nvPr/>
        </p:nvPicPr>
        <p:blipFill>
          <a:blip r:embed="rId2"/>
          <a:stretch>
            <a:fillRect/>
          </a:stretch>
        </p:blipFill>
        <p:spPr>
          <a:xfrm>
            <a:off x="228600" y="1469980"/>
            <a:ext cx="7848295" cy="423807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6: Human Position 469-483</a:t>
            </a:r>
          </a:p>
        </p:txBody>
      </p:sp>
      <p:pic>
        <p:nvPicPr>
          <p:cNvPr id="3" name="Picture 2" descr="ubr3_region_06_h469-483.png"/>
          <p:cNvPicPr>
            <a:picLocks noChangeAspect="1"/>
          </p:cNvPicPr>
          <p:nvPr/>
        </p:nvPicPr>
        <p:blipFill>
          <a:blip r:embed="rId2"/>
          <a:stretch>
            <a:fillRect/>
          </a:stretch>
        </p:blipFill>
        <p:spPr>
          <a:xfrm>
            <a:off x="228600" y="594360"/>
            <a:ext cx="7306260"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7: Human Position 504-527</a:t>
            </a:r>
          </a:p>
        </p:txBody>
      </p:sp>
      <p:pic>
        <p:nvPicPr>
          <p:cNvPr id="3" name="Picture 2" descr="ubr3_region_07_h504-527.png"/>
          <p:cNvPicPr>
            <a:picLocks noChangeAspect="1"/>
          </p:cNvPicPr>
          <p:nvPr/>
        </p:nvPicPr>
        <p:blipFill>
          <a:blip r:embed="rId2"/>
          <a:stretch>
            <a:fillRect/>
          </a:stretch>
        </p:blipFill>
        <p:spPr>
          <a:xfrm>
            <a:off x="228600" y="1469980"/>
            <a:ext cx="7848295" cy="423807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8: Human Position 547-587</a:t>
            </a:r>
          </a:p>
        </p:txBody>
      </p:sp>
      <p:pic>
        <p:nvPicPr>
          <p:cNvPr id="3" name="Picture 2" descr="ubr3_region_08_h547-587.png"/>
          <p:cNvPicPr>
            <a:picLocks noChangeAspect="1"/>
          </p:cNvPicPr>
          <p:nvPr/>
        </p:nvPicPr>
        <p:blipFill>
          <a:blip r:embed="rId2"/>
          <a:stretch>
            <a:fillRect/>
          </a:stretch>
        </p:blipFill>
        <p:spPr>
          <a:xfrm>
            <a:off x="228600" y="2293689"/>
            <a:ext cx="7848295" cy="2590661"/>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9: Human Position 626-637</a:t>
            </a:r>
          </a:p>
        </p:txBody>
      </p:sp>
      <p:pic>
        <p:nvPicPr>
          <p:cNvPr id="3" name="Picture 2" descr="ubr3_region_09_h626-637.png"/>
          <p:cNvPicPr>
            <a:picLocks noChangeAspect="1"/>
          </p:cNvPicPr>
          <p:nvPr/>
        </p:nvPicPr>
        <p:blipFill>
          <a:blip r:embed="rId2"/>
          <a:stretch>
            <a:fillRect/>
          </a:stretch>
        </p:blipFill>
        <p:spPr>
          <a:xfrm>
            <a:off x="228600" y="594360"/>
            <a:ext cx="6040578"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10: Human Position 684-699</a:t>
            </a:r>
          </a:p>
        </p:txBody>
      </p:sp>
      <p:pic>
        <p:nvPicPr>
          <p:cNvPr id="3" name="Picture 2" descr="ubr3_region_10_h684-699.png"/>
          <p:cNvPicPr>
            <a:picLocks noChangeAspect="1"/>
          </p:cNvPicPr>
          <p:nvPr/>
        </p:nvPicPr>
        <p:blipFill>
          <a:blip r:embed="rId2"/>
          <a:stretch>
            <a:fillRect/>
          </a:stretch>
        </p:blipFill>
        <p:spPr>
          <a:xfrm>
            <a:off x="228600" y="594360"/>
            <a:ext cx="7728154"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11: Human Position 975-974</a:t>
            </a:r>
          </a:p>
        </p:txBody>
      </p:sp>
      <p:pic>
        <p:nvPicPr>
          <p:cNvPr id="3" name="Picture 2" descr="ubr3_region_11_h975-974.png"/>
          <p:cNvPicPr>
            <a:picLocks noChangeAspect="1"/>
          </p:cNvPicPr>
          <p:nvPr/>
        </p:nvPicPr>
        <p:blipFill>
          <a:blip r:embed="rId2"/>
          <a:stretch>
            <a:fillRect/>
          </a:stretch>
        </p:blipFill>
        <p:spPr>
          <a:xfrm>
            <a:off x="228600" y="594360"/>
            <a:ext cx="5662056"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12: Human Position 1015-1014</a:t>
            </a:r>
          </a:p>
        </p:txBody>
      </p:sp>
      <p:pic>
        <p:nvPicPr>
          <p:cNvPr id="3" name="Picture 2" descr="ubr3_region_12_h1015-1014.png"/>
          <p:cNvPicPr>
            <a:picLocks noChangeAspect="1"/>
          </p:cNvPicPr>
          <p:nvPr/>
        </p:nvPicPr>
        <p:blipFill>
          <a:blip r:embed="rId2"/>
          <a:stretch>
            <a:fillRect/>
          </a:stretch>
        </p:blipFill>
        <p:spPr>
          <a:xfrm>
            <a:off x="228600" y="594360"/>
            <a:ext cx="6462472"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13: Human Position 1048-1047</a:t>
            </a:r>
          </a:p>
        </p:txBody>
      </p:sp>
      <p:pic>
        <p:nvPicPr>
          <p:cNvPr id="3" name="Picture 2" descr="ubr3_region_13_h1048-1047.png"/>
          <p:cNvPicPr>
            <a:picLocks noChangeAspect="1"/>
          </p:cNvPicPr>
          <p:nvPr/>
        </p:nvPicPr>
        <p:blipFill>
          <a:blip r:embed="rId2"/>
          <a:stretch>
            <a:fillRect/>
          </a:stretch>
        </p:blipFill>
        <p:spPr>
          <a:xfrm>
            <a:off x="228600" y="2127381"/>
            <a:ext cx="7848295" cy="2923277"/>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14: Human Position 1050-1049</a:t>
            </a:r>
          </a:p>
        </p:txBody>
      </p:sp>
      <p:pic>
        <p:nvPicPr>
          <p:cNvPr id="3" name="Picture 2" descr="ubr3_region_14_h1050-1049.png"/>
          <p:cNvPicPr>
            <a:picLocks noChangeAspect="1"/>
          </p:cNvPicPr>
          <p:nvPr/>
        </p:nvPicPr>
        <p:blipFill>
          <a:blip r:embed="rId2"/>
          <a:stretch>
            <a:fillRect/>
          </a:stretch>
        </p:blipFill>
        <p:spPr>
          <a:xfrm>
            <a:off x="228600" y="594360"/>
            <a:ext cx="6462472"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15: Human Position 1065-1064</a:t>
            </a:r>
          </a:p>
        </p:txBody>
      </p:sp>
      <p:pic>
        <p:nvPicPr>
          <p:cNvPr id="3" name="Picture 2" descr="ubr3_region_15_h1065-1064.png"/>
          <p:cNvPicPr>
            <a:picLocks noChangeAspect="1"/>
          </p:cNvPicPr>
          <p:nvPr/>
        </p:nvPicPr>
        <p:blipFill>
          <a:blip r:embed="rId2"/>
          <a:stretch>
            <a:fillRect/>
          </a:stretch>
        </p:blipFill>
        <p:spPr>
          <a:xfrm>
            <a:off x="228600" y="1093060"/>
            <a:ext cx="7848295" cy="499191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16: Human Position 1119-1118</a:t>
            </a:r>
          </a:p>
        </p:txBody>
      </p:sp>
      <p:pic>
        <p:nvPicPr>
          <p:cNvPr id="3" name="Picture 2" descr="ubr3_region_16_h1119-1118.png"/>
          <p:cNvPicPr>
            <a:picLocks noChangeAspect="1"/>
          </p:cNvPicPr>
          <p:nvPr/>
        </p:nvPicPr>
        <p:blipFill>
          <a:blip r:embed="rId2"/>
          <a:stretch>
            <a:fillRect/>
          </a:stretch>
        </p:blipFill>
        <p:spPr>
          <a:xfrm>
            <a:off x="228600" y="2048243"/>
            <a:ext cx="7848295" cy="3081553"/>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17: Human Position 1252-1264</a:t>
            </a:r>
          </a:p>
        </p:txBody>
      </p:sp>
      <p:pic>
        <p:nvPicPr>
          <p:cNvPr id="3" name="Picture 2" descr="ubr3_region_17_h1252-1264.png"/>
          <p:cNvPicPr>
            <a:picLocks noChangeAspect="1"/>
          </p:cNvPicPr>
          <p:nvPr/>
        </p:nvPicPr>
        <p:blipFill>
          <a:blip r:embed="rId2"/>
          <a:stretch>
            <a:fillRect/>
          </a:stretch>
        </p:blipFill>
        <p:spPr>
          <a:xfrm>
            <a:off x="228600" y="594360"/>
            <a:ext cx="6462472"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18: Human Position 1590-1589</a:t>
            </a:r>
          </a:p>
        </p:txBody>
      </p:sp>
      <p:pic>
        <p:nvPicPr>
          <p:cNvPr id="3" name="Picture 2" descr="ubr3_region_18_h1590-1589.png"/>
          <p:cNvPicPr>
            <a:picLocks noChangeAspect="1"/>
          </p:cNvPicPr>
          <p:nvPr/>
        </p:nvPicPr>
        <p:blipFill>
          <a:blip r:embed="rId2"/>
          <a:stretch>
            <a:fillRect/>
          </a:stretch>
        </p:blipFill>
        <p:spPr>
          <a:xfrm>
            <a:off x="228600" y="1911083"/>
            <a:ext cx="7848295" cy="3355873"/>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19: Human Position 1615-1615</a:t>
            </a:r>
          </a:p>
        </p:txBody>
      </p:sp>
      <p:pic>
        <p:nvPicPr>
          <p:cNvPr id="3" name="Picture 2" descr="ubr3_region_19_h1615-1615.png"/>
          <p:cNvPicPr>
            <a:picLocks noChangeAspect="1"/>
          </p:cNvPicPr>
          <p:nvPr/>
        </p:nvPicPr>
        <p:blipFill>
          <a:blip r:embed="rId2"/>
          <a:stretch>
            <a:fillRect/>
          </a:stretch>
        </p:blipFill>
        <p:spPr>
          <a:xfrm>
            <a:off x="228600" y="594360"/>
            <a:ext cx="5709371"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Conserved Region 20: Human Position 1623-1622</a:t>
            </a:r>
          </a:p>
        </p:txBody>
      </p:sp>
      <p:pic>
        <p:nvPicPr>
          <p:cNvPr id="3" name="Picture 2" descr="ubr3_region_20_h1623-1622.png"/>
          <p:cNvPicPr>
            <a:picLocks noChangeAspect="1"/>
          </p:cNvPicPr>
          <p:nvPr/>
        </p:nvPicPr>
        <p:blipFill>
          <a:blip r:embed="rId2"/>
          <a:stretch>
            <a:fillRect/>
          </a:stretch>
        </p:blipFill>
        <p:spPr>
          <a:xfrm>
            <a:off x="228600" y="594360"/>
            <a:ext cx="5547711"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panel shows a zoomed-in view of a specific conserved region identified by the conservation analysis (regions exceeding 70% average conservation score).</a:t>
            </a:r>
          </a:p>
          <a:p>
            <a:pPr algn="l">
              <a:spcBef>
                <a:spcPts val="800"/>
              </a:spcBef>
              <a:spcAft>
                <a:spcPts val="400"/>
              </a:spcAft>
              <a:defRPr sz="1100">
                <a:solidFill>
                  <a:srgbClr val="333333"/>
                </a:solidFill>
              </a:defRPr>
            </a:pPr>
            <a:r>
              <a:t>The alignment is displayed for only the columns within this region, making it easy to inspect which specific amino acids are conserved and which species diverge at each position.</a:t>
            </a:r>
          </a:p>
          <a:p>
            <a:pPr algn="l">
              <a:spcBef>
                <a:spcPts val="800"/>
              </a:spcBef>
              <a:spcAft>
                <a:spcPts val="400"/>
              </a:spcAft>
              <a:defRPr sz="1100">
                <a:solidFill>
                  <a:srgbClr val="333333"/>
                </a:solidFill>
              </a:defRPr>
            </a:pPr>
            <a:r>
              <a:t>These small conserved motifs may represent functional elements such as phosphorylation sites, protein-protein interaction motifs, post-translational modification sites, or structural elements critical for protein folding.</a:t>
            </a:r>
          </a:p>
          <a:p>
            <a:pPr algn="l">
              <a:spcBef>
                <a:spcPts val="800"/>
              </a:spcBef>
              <a:spcAft>
                <a:spcPts val="400"/>
              </a:spcAft>
              <a:defRPr sz="1100">
                <a:solidFill>
                  <a:srgbClr val="333333"/>
                </a:solidFill>
              </a:defRPr>
            </a:pPr>
            <a:r>
              <a:t>The human residue positions are indicated in the title, allowing cross-reference with protein databases (UniProt, PDB) for further functional annotation.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