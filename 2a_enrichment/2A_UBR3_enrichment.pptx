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28800"/>
            <a:ext cx="10607040" cy="3108960"/>
          </a:xfrm>
          <a:prstGeom prst="rect">
            <a:avLst/>
          </a:prstGeom>
          <a:noFill/>
        </p:spPr>
        <p:txBody>
          <a:bodyPr wrap="square">
            <a:spAutoFit/>
          </a:bodyPr>
          <a:lstStyle/>
          <a:p>
            <a:pPr algn="l">
              <a:spcAft>
                <a:spcPts val="200"/>
              </a:spcAft>
            </a:pPr>
            <a:r>
              <a:rPr sz="4000" b="1" i="0">
                <a:solidFill>
                  <a:srgbClr val="0B0B0B"/>
                </a:solidFill>
                <a:latin typeface="Calibri"/>
              </a:rPr>
              <a:t>Is the UBR3 P–[D/E] motif enriched</a:t>
            </a:r>
          </a:p>
          <a:p>
            <a:pPr algn="l">
              <a:spcAft>
                <a:spcPts val="1800"/>
              </a:spcAft>
            </a:pPr>
            <a:r>
              <a:rPr sz="4000" b="1" i="0">
                <a:solidFill>
                  <a:srgbClr val="2A78D6"/>
                </a:solidFill>
                <a:latin typeface="Calibri"/>
              </a:rPr>
              <a:t>after the 2A ribosomal skip?</a:t>
            </a:r>
          </a:p>
          <a:p>
            <a:pPr algn="l">
              <a:spcAft>
                <a:spcPts val="200"/>
              </a:spcAft>
            </a:pPr>
            <a:r>
              <a:rPr sz="1700" b="0" i="0">
                <a:solidFill>
                  <a:srgbClr val="52514E"/>
                </a:solidFill>
                <a:latin typeface="Calibri"/>
              </a:rPr>
              <a:t>Amino-acid enrichment at position 2 of 2A downstream products,</a:t>
            </a:r>
          </a:p>
          <a:p>
            <a:pPr algn="l">
              <a:spcAft>
                <a:spcPts val="2000"/>
              </a:spcAft>
            </a:pPr>
            <a:r>
              <a:rPr sz="1700" b="0" i="0">
                <a:solidFill>
                  <a:srgbClr val="52514E"/>
                </a:solidFill>
                <a:latin typeface="Calibri"/>
              </a:rPr>
              <a:t>tested against three backgrounds built from 17,517 viral proteins</a:t>
            </a:r>
          </a:p>
          <a:p>
            <a:pPr algn="l">
              <a:spcAft>
                <a:spcPts val="0"/>
              </a:spcAft>
            </a:pPr>
            <a:r>
              <a:rPr sz="1200" b="0" i="0">
                <a:solidFill>
                  <a:srgbClr val="8A8880"/>
                </a:solidFill>
                <a:latin typeface="Calibri"/>
              </a:rPr>
              <a:t>Foreground: Rao et al. 2025 combined 2A set · 35,573 instances → 2,693 distinct downstream contexts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155680" cy="914400"/>
          </a:xfrm>
          <a:prstGeom prst="rect">
            <a:avLst/>
          </a:prstGeom>
          <a:noFill/>
        </p:spPr>
        <p:txBody>
          <a:bodyPr wrap="square">
            <a:spAutoFit/>
          </a:bodyPr>
          <a:lstStyle/>
          <a:p>
            <a:pPr algn="l">
              <a:spcAft>
                <a:spcPts val="200"/>
              </a:spcAft>
            </a:pPr>
            <a:r>
              <a:rPr sz="3000" b="1" i="0">
                <a:solidFill>
                  <a:srgbClr val="0B0B0B"/>
                </a:solidFill>
                <a:latin typeface="Calibri"/>
              </a:rPr>
              <a:t>The question</a:t>
            </a:r>
          </a:p>
          <a:p>
            <a:pPr algn="l">
              <a:spcAft>
                <a:spcPts val="0"/>
              </a:spcAft>
            </a:pPr>
            <a:r>
              <a:rPr sz="1400" b="0" i="0">
                <a:solidFill>
                  <a:srgbClr val="52514E"/>
                </a:solidFill>
                <a:latin typeface="Calibri"/>
              </a:rPr>
              <a:t>What the 2A skip produces, and what UBR3 reads</a:t>
            </a:r>
          </a:p>
        </p:txBody>
      </p:sp>
      <p:sp>
        <p:nvSpPr>
          <p:cNvPr id="3" name="Rectangle 2"/>
          <p:cNvSpPr/>
          <p:nvPr/>
        </p:nvSpPr>
        <p:spPr>
          <a:xfrm>
            <a:off x="548640" y="1207008"/>
            <a:ext cx="1371600" cy="444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554480"/>
            <a:ext cx="5669280" cy="4480560"/>
          </a:xfrm>
          <a:prstGeom prst="rect">
            <a:avLst/>
          </a:prstGeom>
          <a:noFill/>
        </p:spPr>
        <p:txBody>
          <a:bodyPr wrap="square">
            <a:spAutoFit/>
          </a:bodyPr>
          <a:lstStyle/>
          <a:p>
            <a:pPr algn="l">
              <a:spcAft>
                <a:spcPts val="800"/>
              </a:spcAft>
            </a:pPr>
            <a:r>
              <a:rPr sz="1900" b="1" i="0">
                <a:solidFill>
                  <a:srgbClr val="2A78D6"/>
                </a:solidFill>
                <a:latin typeface="Calibri"/>
              </a:rPr>
              <a:t>The 2A ribosomal skip</a:t>
            </a:r>
          </a:p>
          <a:p>
            <a:pPr algn="l">
              <a:spcAft>
                <a:spcPts val="1200"/>
              </a:spcAft>
            </a:pPr>
            <a:r>
              <a:rPr sz="1500" b="0" i="0">
                <a:solidFill>
                  <a:srgbClr val="0B0B0B"/>
                </a:solidFill>
                <a:latin typeface="Calibri"/>
              </a:rPr>
              <a:t>2A peptides end in a conserved …D(V/I)ExNPG↓P motif. The ribosome skips forming the peptide bond between the terminal glycine and the following proline, releasing the upstream protein and continuing translation.</a:t>
            </a:r>
          </a:p>
          <a:p>
            <a:pPr algn="l">
              <a:spcAft>
                <a:spcPts val="1600"/>
              </a:spcAft>
            </a:pPr>
            <a:r>
              <a:rPr sz="1500" b="0" i="0">
                <a:solidFill>
                  <a:srgbClr val="0B0B0B"/>
                </a:solidFill>
                <a:latin typeface="Calibri"/>
              </a:rPr>
              <a:t>The consequence: every downstream product begins with that proline. Position 1 is P, always — it is built into the mechanism.</a:t>
            </a:r>
          </a:p>
          <a:p>
            <a:pPr algn="l">
              <a:spcAft>
                <a:spcPts val="800"/>
              </a:spcAft>
            </a:pPr>
            <a:r>
              <a:rPr sz="1900" b="1" i="0">
                <a:solidFill>
                  <a:srgbClr val="2A78D6"/>
                </a:solidFill>
                <a:latin typeface="Calibri"/>
              </a:rPr>
              <a:t>What UBR3 recognises</a:t>
            </a:r>
          </a:p>
          <a:p>
            <a:pPr algn="l">
              <a:spcAft>
                <a:spcPts val="1200"/>
              </a:spcAft>
            </a:pPr>
            <a:r>
              <a:rPr sz="1500" b="0" i="0">
                <a:solidFill>
                  <a:srgbClr val="0B0B0B"/>
                </a:solidFill>
                <a:latin typeface="Calibri"/>
              </a:rPr>
              <a:t>UBR3 is an N-recognin E3 ligase. The motif of interest is a proline at position 1 followed by an acidic residue — aspartate (D) or glutamate (E) — at position 2.</a:t>
            </a:r>
          </a:p>
          <a:p>
            <a:pPr algn="l">
              <a:spcAft>
                <a:spcPts val="0"/>
              </a:spcAft>
            </a:pPr>
            <a:r>
              <a:rPr sz="1500" b="0" i="0">
                <a:solidFill>
                  <a:srgbClr val="0B0B0B"/>
                </a:solidFill>
                <a:latin typeface="Calibri"/>
              </a:rPr>
              <a:t>Position 2 is therefore the only variable position, and it is contributed by the protein downstream of the skip site — not by the 2A peptide itself. That fact drives the whole analysis.</a:t>
            </a:r>
          </a:p>
        </p:txBody>
      </p:sp>
      <p:sp>
        <p:nvSpPr>
          <p:cNvPr id="5" name="Rounded Rectangle 4"/>
          <p:cNvSpPr/>
          <p:nvPr/>
        </p:nvSpPr>
        <p:spPr>
          <a:xfrm>
            <a:off x="6492240" y="1600200"/>
            <a:ext cx="5212080" cy="2286000"/>
          </a:xfrm>
          <a:prstGeom prst="round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20840" y="1783080"/>
            <a:ext cx="4754880" cy="2011680"/>
          </a:xfrm>
          <a:prstGeom prst="rect">
            <a:avLst/>
          </a:prstGeom>
          <a:noFill/>
        </p:spPr>
        <p:txBody>
          <a:bodyPr wrap="square">
            <a:spAutoFit/>
          </a:bodyPr>
          <a:lstStyle/>
          <a:p>
            <a:pPr algn="ctr">
              <a:spcAft>
                <a:spcPts val="1000"/>
              </a:spcAft>
            </a:pPr>
            <a:r>
              <a:rPr sz="2200" b="1" i="0">
                <a:solidFill>
                  <a:srgbClr val="0B0B0B"/>
                </a:solidFill>
                <a:latin typeface="Calibri"/>
              </a:rPr>
              <a:t>…  D V E x N P G   ↓   P  ·  X  …</a:t>
            </a:r>
          </a:p>
          <a:p>
            <a:pPr algn="ctr">
              <a:spcAft>
                <a:spcPts val="600"/>
              </a:spcAft>
            </a:pPr>
            <a:r>
              <a:rPr sz="1300" b="0" i="0">
                <a:solidFill>
                  <a:srgbClr val="52514E"/>
                </a:solidFill>
                <a:latin typeface="Calibri"/>
              </a:rPr>
              <a:t>skip happens here  →  P is position 1</a:t>
            </a:r>
          </a:p>
          <a:p>
            <a:pPr algn="ctr">
              <a:spcAft>
                <a:spcPts val="0"/>
              </a:spcAft>
            </a:pPr>
            <a:r>
              <a:rPr sz="1300" b="1" i="0">
                <a:solidFill>
                  <a:srgbClr val="B06D00"/>
                </a:solidFill>
                <a:latin typeface="Calibri"/>
              </a:rPr>
              <a:t>X is position 2 — D or E = UBR3 motif</a:t>
            </a:r>
          </a:p>
        </p:txBody>
      </p:sp>
      <p:sp>
        <p:nvSpPr>
          <p:cNvPr id="7" name="TextBox 6"/>
          <p:cNvSpPr txBox="1"/>
          <p:nvPr/>
        </p:nvSpPr>
        <p:spPr>
          <a:xfrm>
            <a:off x="6492240" y="4114800"/>
            <a:ext cx="5212080" cy="2011680"/>
          </a:xfrm>
          <a:prstGeom prst="rect">
            <a:avLst/>
          </a:prstGeom>
          <a:noFill/>
        </p:spPr>
        <p:txBody>
          <a:bodyPr wrap="square">
            <a:spAutoFit/>
          </a:bodyPr>
          <a:lstStyle/>
          <a:p>
            <a:pPr algn="l">
              <a:spcAft>
                <a:spcPts val="800"/>
              </a:spcAft>
            </a:pPr>
            <a:r>
              <a:rPr sz="1700" b="1" i="0">
                <a:solidFill>
                  <a:srgbClr val="0B0B0B"/>
                </a:solidFill>
                <a:latin typeface="Calibri"/>
              </a:rPr>
              <a:t>The question in one line</a:t>
            </a:r>
          </a:p>
          <a:p>
            <a:pPr algn="l">
              <a:spcAft>
                <a:spcPts val="0"/>
              </a:spcAft>
            </a:pPr>
            <a:r>
              <a:rPr sz="1500" b="0" i="0">
                <a:solidFill>
                  <a:srgbClr val="0B0B0B"/>
                </a:solidFill>
                <a:latin typeface="Calibri"/>
              </a:rPr>
              <a:t>Does D/E turn up at position 2 more often than chance would put it there — i.e. is the 2A skip site biased toward or against creating UBR3 substrates?</a:t>
            </a:r>
          </a:p>
        </p:txBody>
      </p:sp>
      <p:sp>
        <p:nvSpPr>
          <p:cNvPr id="8" name="TextBox 7"/>
          <p:cNvSpPr txBox="1"/>
          <p:nvPr/>
        </p:nvSpPr>
        <p:spPr>
          <a:xfrm>
            <a:off x="548640" y="6355080"/>
            <a:ext cx="11155680" cy="365760"/>
          </a:xfrm>
          <a:prstGeom prst="rect">
            <a:avLst/>
          </a:prstGeom>
          <a:noFill/>
        </p:spPr>
        <p:txBody>
          <a:bodyPr wrap="square">
            <a:spAutoFit/>
          </a:bodyPr>
          <a:lstStyle/>
          <a:p>
            <a:pPr algn="l">
              <a:spcAft>
                <a:spcPts val="0"/>
              </a:spcAft>
            </a:pPr>
            <a:r>
              <a:rPr sz="1000" b="0" i="0">
                <a:solidFill>
                  <a:srgbClr val="8A8880"/>
                </a:solidFill>
                <a:latin typeface="Calibri"/>
              </a:rPr>
              <a:t>2A definition and dataset: Rao et al. (2025) Cell Reports, doi:10.1016/j.celrep.2025.115822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155680" cy="914400"/>
          </a:xfrm>
          <a:prstGeom prst="rect">
            <a:avLst/>
          </a:prstGeom>
          <a:noFill/>
        </p:spPr>
        <p:txBody>
          <a:bodyPr wrap="square">
            <a:spAutoFit/>
          </a:bodyPr>
          <a:lstStyle/>
          <a:p>
            <a:pPr algn="l">
              <a:spcAft>
                <a:spcPts val="200"/>
              </a:spcAft>
            </a:pPr>
            <a:r>
              <a:rPr sz="3000" b="1" i="0">
                <a:solidFill>
                  <a:srgbClr val="0B0B0B"/>
                </a:solidFill>
                <a:latin typeface="Calibri"/>
              </a:rPr>
              <a:t>Data and the three backgrounds</a:t>
            </a:r>
          </a:p>
          <a:p>
            <a:pPr algn="l">
              <a:spcAft>
                <a:spcPts val="0"/>
              </a:spcAft>
            </a:pPr>
            <a:r>
              <a:rPr sz="1400" b="0" i="0">
                <a:solidFill>
                  <a:srgbClr val="52514E"/>
                </a:solidFill>
                <a:latin typeface="Calibri"/>
              </a:rPr>
              <a:t>A percentage means nothing without stating what it is compared to</a:t>
            </a:r>
          </a:p>
        </p:txBody>
      </p:sp>
      <p:sp>
        <p:nvSpPr>
          <p:cNvPr id="3" name="Rectangle 2"/>
          <p:cNvSpPr/>
          <p:nvPr/>
        </p:nvSpPr>
        <p:spPr>
          <a:xfrm>
            <a:off x="548640" y="1207008"/>
            <a:ext cx="1371600" cy="444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508760"/>
            <a:ext cx="5120640" cy="4480560"/>
          </a:xfrm>
          <a:prstGeom prst="rect">
            <a:avLst/>
          </a:prstGeom>
          <a:noFill/>
        </p:spPr>
        <p:txBody>
          <a:bodyPr wrap="square">
            <a:spAutoFit/>
          </a:bodyPr>
          <a:lstStyle/>
          <a:p>
            <a:pPr algn="l">
              <a:spcAft>
                <a:spcPts val="800"/>
              </a:spcAft>
            </a:pPr>
            <a:r>
              <a:rPr sz="1900" b="1" i="0">
                <a:solidFill>
                  <a:srgbClr val="2A78D6"/>
                </a:solidFill>
                <a:latin typeface="Calibri"/>
              </a:rPr>
              <a:t>Foreground</a:t>
            </a:r>
          </a:p>
          <a:p>
            <a:pPr algn="l">
              <a:spcAft>
                <a:spcPts val="1000"/>
              </a:spcAft>
            </a:pPr>
            <a:r>
              <a:rPr sz="1500" b="0" i="0">
                <a:solidFill>
                  <a:srgbClr val="0B0B0B"/>
                </a:solidFill>
                <a:latin typeface="Calibri"/>
              </a:rPr>
              <a:t>The combined 2A set assembled earlier: Supplementary Table S2 plus the paper's repository search, merged and de-duplicated — 35,573 instances with a resolved position 2.</a:t>
            </a:r>
          </a:p>
          <a:p>
            <a:pPr algn="l">
              <a:spcAft>
                <a:spcPts val="1600"/>
              </a:spcAft>
            </a:pPr>
            <a:r>
              <a:rPr sz="1300" b="0" i="0">
                <a:solidFill>
                  <a:srgbClr val="52514E"/>
                </a:solidFill>
                <a:latin typeface="Calibri"/>
              </a:rPr>
              <a:t>Databases: UniParc, UniProtKB, MGnify, IMG/VR.</a:t>
            </a:r>
          </a:p>
          <a:p>
            <a:pPr algn="l">
              <a:spcAft>
                <a:spcPts val="800"/>
              </a:spcAft>
            </a:pPr>
            <a:r>
              <a:rPr sz="1900" b="1" i="0">
                <a:solidFill>
                  <a:srgbClr val="2A78D6"/>
                </a:solidFill>
                <a:latin typeface="Calibri"/>
              </a:rPr>
              <a:t>Background</a:t>
            </a:r>
          </a:p>
          <a:p>
            <a:pPr algn="l">
              <a:spcAft>
                <a:spcPts val="0"/>
              </a:spcAft>
            </a:pPr>
            <a:r>
              <a:rPr sz="1500" b="0" i="0">
                <a:solidFill>
                  <a:srgbClr val="0B0B0B"/>
                </a:solidFill>
                <a:latin typeface="Calibri"/>
              </a:rPr>
              <a:t>17,517 reviewed (Swiss-Prot) viral proteins, 7,989,533 residues. Viral, because 2A peptides are overwhelmingly of viral origin.</a:t>
            </a:r>
          </a:p>
        </p:txBody>
      </p:sp>
      <p:sp>
        <p:nvSpPr>
          <p:cNvPr id="5" name="TextBox 4"/>
          <p:cNvSpPr txBox="1"/>
          <p:nvPr/>
        </p:nvSpPr>
        <p:spPr>
          <a:xfrm>
            <a:off x="6035040" y="1508760"/>
            <a:ext cx="5669280" cy="457200"/>
          </a:xfrm>
          <a:prstGeom prst="rect">
            <a:avLst/>
          </a:prstGeom>
          <a:noFill/>
        </p:spPr>
        <p:txBody>
          <a:bodyPr wrap="square">
            <a:spAutoFit/>
          </a:bodyPr>
          <a:lstStyle/>
          <a:p>
            <a:pPr algn="l">
              <a:spcAft>
                <a:spcPts val="0"/>
              </a:spcAft>
            </a:pPr>
            <a:r>
              <a:rPr sz="1700" b="1" i="0">
                <a:solidFill>
                  <a:srgbClr val="0B0B0B"/>
                </a:solidFill>
                <a:latin typeface="Calibri"/>
              </a:rPr>
              <a:t>Three ways to ask 'what would you expect by chance?'</a:t>
            </a:r>
          </a:p>
        </p:txBody>
      </p:sp>
      <p:sp>
        <p:nvSpPr>
          <p:cNvPr id="6" name="Rounded Rectangle 5"/>
          <p:cNvSpPr/>
          <p:nvPr/>
        </p:nvSpPr>
        <p:spPr>
          <a:xfrm>
            <a:off x="6035040" y="2057400"/>
            <a:ext cx="5669280" cy="1170432"/>
          </a:xfrm>
          <a:prstGeom prst="round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0" y="2148840"/>
            <a:ext cx="4114800" cy="1005840"/>
          </a:xfrm>
          <a:prstGeom prst="rect">
            <a:avLst/>
          </a:prstGeom>
          <a:noFill/>
        </p:spPr>
        <p:txBody>
          <a:bodyPr wrap="square">
            <a:spAutoFit/>
          </a:bodyPr>
          <a:lstStyle/>
          <a:p>
            <a:pPr algn="l">
              <a:spcAft>
                <a:spcPts val="400"/>
              </a:spcAft>
            </a:pPr>
            <a:r>
              <a:rPr sz="1450" b="1" i="0">
                <a:solidFill>
                  <a:srgbClr val="8A8880"/>
                </a:solidFill>
                <a:latin typeface="Calibri"/>
              </a:rPr>
              <a:t>1 · All amino acids, all positions</a:t>
            </a:r>
          </a:p>
          <a:p>
            <a:pPr algn="l">
              <a:spcAft>
                <a:spcPts val="0"/>
              </a:spcAft>
            </a:pPr>
            <a:r>
              <a:rPr sz="1250" b="0" i="0">
                <a:solidFill>
                  <a:srgbClr val="52514E"/>
                </a:solidFill>
                <a:latin typeface="Calibri"/>
              </a:rPr>
              <a:t>How common are D and E in viral protein sequence at all? The crudest expectation.</a:t>
            </a:r>
          </a:p>
        </p:txBody>
      </p:sp>
      <p:sp>
        <p:nvSpPr>
          <p:cNvPr id="8" name="TextBox 7"/>
          <p:cNvSpPr txBox="1"/>
          <p:nvPr/>
        </p:nvSpPr>
        <p:spPr>
          <a:xfrm>
            <a:off x="10378440" y="2313432"/>
            <a:ext cx="1188720" cy="731520"/>
          </a:xfrm>
          <a:prstGeom prst="rect">
            <a:avLst/>
          </a:prstGeom>
          <a:noFill/>
        </p:spPr>
        <p:txBody>
          <a:bodyPr wrap="square">
            <a:spAutoFit/>
          </a:bodyPr>
          <a:lstStyle/>
          <a:p>
            <a:pPr algn="ctr">
              <a:spcAft>
                <a:spcPts val="0"/>
              </a:spcAft>
            </a:pPr>
            <a:r>
              <a:rPr sz="2200" b="1" i="0">
                <a:solidFill>
                  <a:srgbClr val="8A8880"/>
                </a:solidFill>
                <a:latin typeface="Calibri"/>
              </a:rPr>
              <a:t>11.1%</a:t>
            </a:r>
          </a:p>
        </p:txBody>
      </p:sp>
      <p:sp>
        <p:nvSpPr>
          <p:cNvPr id="9" name="Rounded Rectangle 8"/>
          <p:cNvSpPr/>
          <p:nvPr/>
        </p:nvSpPr>
        <p:spPr>
          <a:xfrm>
            <a:off x="6035040" y="3383280"/>
            <a:ext cx="5669280" cy="1170432"/>
          </a:xfrm>
          <a:prstGeom prst="round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3474720"/>
            <a:ext cx="4114800" cy="1005840"/>
          </a:xfrm>
          <a:prstGeom prst="rect">
            <a:avLst/>
          </a:prstGeom>
          <a:noFill/>
        </p:spPr>
        <p:txBody>
          <a:bodyPr wrap="square">
            <a:spAutoFit/>
          </a:bodyPr>
          <a:lstStyle/>
          <a:p>
            <a:pPr algn="l">
              <a:spcAft>
                <a:spcPts val="400"/>
              </a:spcAft>
            </a:pPr>
            <a:r>
              <a:rPr sz="1450" b="1" i="0">
                <a:solidFill>
                  <a:srgbClr val="EB6834"/>
                </a:solidFill>
                <a:latin typeface="Calibri"/>
              </a:rPr>
              <a:t>2 · Position 2 of viral proteins</a:t>
            </a:r>
          </a:p>
          <a:p>
            <a:pPr algn="l">
              <a:spcAft>
                <a:spcPts val="0"/>
              </a:spcAft>
            </a:pPr>
            <a:r>
              <a:rPr sz="1250" b="0" i="0">
                <a:solidFill>
                  <a:srgbClr val="52514E"/>
                </a:solidFill>
                <a:latin typeface="Calibri"/>
              </a:rPr>
              <a:t>The residue after the initiator Met. Controls for N-termini having their own composition, unlike the bulk average.</a:t>
            </a:r>
          </a:p>
        </p:txBody>
      </p:sp>
      <p:sp>
        <p:nvSpPr>
          <p:cNvPr id="11" name="TextBox 10"/>
          <p:cNvSpPr txBox="1"/>
          <p:nvPr/>
        </p:nvSpPr>
        <p:spPr>
          <a:xfrm>
            <a:off x="10378440" y="3639312"/>
            <a:ext cx="1188720" cy="731520"/>
          </a:xfrm>
          <a:prstGeom prst="rect">
            <a:avLst/>
          </a:prstGeom>
          <a:noFill/>
        </p:spPr>
        <p:txBody>
          <a:bodyPr wrap="square">
            <a:spAutoFit/>
          </a:bodyPr>
          <a:lstStyle/>
          <a:p>
            <a:pPr algn="ctr">
              <a:spcAft>
                <a:spcPts val="0"/>
              </a:spcAft>
            </a:pPr>
            <a:r>
              <a:rPr sz="2200" b="1" i="0">
                <a:solidFill>
                  <a:srgbClr val="EB6834"/>
                </a:solidFill>
                <a:latin typeface="Calibri"/>
              </a:rPr>
              <a:t>21.2%</a:t>
            </a:r>
          </a:p>
        </p:txBody>
      </p:sp>
      <p:sp>
        <p:nvSpPr>
          <p:cNvPr id="12" name="Rounded Rectangle 11"/>
          <p:cNvSpPr/>
          <p:nvPr/>
        </p:nvSpPr>
        <p:spPr>
          <a:xfrm>
            <a:off x="6035040" y="4709160"/>
            <a:ext cx="5669280" cy="1170432"/>
          </a:xfrm>
          <a:prstGeom prst="round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4800600"/>
            <a:ext cx="4114800" cy="1005840"/>
          </a:xfrm>
          <a:prstGeom prst="rect">
            <a:avLst/>
          </a:prstGeom>
          <a:noFill/>
        </p:spPr>
        <p:txBody>
          <a:bodyPr wrap="square">
            <a:spAutoFit/>
          </a:bodyPr>
          <a:lstStyle/>
          <a:p>
            <a:pPr algn="l">
              <a:spcAft>
                <a:spcPts val="400"/>
              </a:spcAft>
            </a:pPr>
            <a:r>
              <a:rPr sz="1450" b="1" i="0">
                <a:solidFill>
                  <a:srgbClr val="1BAF7A"/>
                </a:solidFill>
                <a:latin typeface="Calibri"/>
              </a:rPr>
              <a:t>3 · Residue after any proline</a:t>
            </a:r>
          </a:p>
          <a:p>
            <a:pPr algn="l">
              <a:spcAft>
                <a:spcPts val="0"/>
              </a:spcAft>
            </a:pPr>
            <a:r>
              <a:rPr sz="1250" b="0" i="0">
                <a:solidFill>
                  <a:srgbClr val="52514E"/>
                </a:solidFill>
                <a:latin typeface="Calibri"/>
              </a:rPr>
              <a:t>P2 sits directly after a proline, and proline constrains what follows it. The best-matched control.</a:t>
            </a:r>
          </a:p>
        </p:txBody>
      </p:sp>
      <p:sp>
        <p:nvSpPr>
          <p:cNvPr id="14" name="TextBox 13"/>
          <p:cNvSpPr txBox="1"/>
          <p:nvPr/>
        </p:nvSpPr>
        <p:spPr>
          <a:xfrm>
            <a:off x="10378440" y="4965192"/>
            <a:ext cx="1188720" cy="731520"/>
          </a:xfrm>
          <a:prstGeom prst="rect">
            <a:avLst/>
          </a:prstGeom>
          <a:noFill/>
        </p:spPr>
        <p:txBody>
          <a:bodyPr wrap="square">
            <a:spAutoFit/>
          </a:bodyPr>
          <a:lstStyle/>
          <a:p>
            <a:pPr algn="ctr">
              <a:spcAft>
                <a:spcPts val="0"/>
              </a:spcAft>
            </a:pPr>
            <a:r>
              <a:rPr sz="2200" b="1" i="0">
                <a:solidFill>
                  <a:srgbClr val="1BAF7A"/>
                </a:solidFill>
                <a:latin typeface="Calibri"/>
              </a:rPr>
              <a:t>11.1%</a:t>
            </a:r>
          </a:p>
        </p:txBody>
      </p:sp>
      <p:sp>
        <p:nvSpPr>
          <p:cNvPr id="15" name="TextBox 14"/>
          <p:cNvSpPr txBox="1"/>
          <p:nvPr/>
        </p:nvSpPr>
        <p:spPr>
          <a:xfrm>
            <a:off x="548640" y="6355080"/>
            <a:ext cx="11155680" cy="365760"/>
          </a:xfrm>
          <a:prstGeom prst="rect">
            <a:avLst/>
          </a:prstGeom>
          <a:noFill/>
        </p:spPr>
        <p:txBody>
          <a:bodyPr wrap="square">
            <a:spAutoFit/>
          </a:bodyPr>
          <a:lstStyle/>
          <a:p>
            <a:pPr algn="l">
              <a:spcAft>
                <a:spcPts val="0"/>
              </a:spcAft>
            </a:pPr>
            <a:r>
              <a:rPr sz="1000" b="0" i="0">
                <a:solidFill>
                  <a:srgbClr val="8A8880"/>
                </a:solidFill>
                <a:latin typeface="Calibri"/>
              </a:rPr>
              <a:t>Backgrounds computed from UniProt Swiss-Prot, taxonomy 10239 (Viruses), reviewed entries only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155680" cy="914400"/>
          </a:xfrm>
          <a:prstGeom prst="rect">
            <a:avLst/>
          </a:prstGeom>
          <a:noFill/>
        </p:spPr>
        <p:txBody>
          <a:bodyPr wrap="square">
            <a:spAutoFit/>
          </a:bodyPr>
          <a:lstStyle/>
          <a:p>
            <a:pPr algn="l">
              <a:spcAft>
                <a:spcPts val="200"/>
              </a:spcAft>
            </a:pPr>
            <a:r>
              <a:rPr sz="3000" b="1" i="0">
                <a:solidFill>
                  <a:srgbClr val="0B0B0B"/>
                </a:solidFill>
                <a:latin typeface="Calibri"/>
              </a:rPr>
              <a:t>First, a counting problem that decides the answer</a:t>
            </a:r>
          </a:p>
          <a:p>
            <a:pPr algn="l">
              <a:spcAft>
                <a:spcPts val="0"/>
              </a:spcAft>
            </a:pPr>
            <a:r>
              <a:rPr sz="1400" b="0" i="0">
                <a:solidFill>
                  <a:srgbClr val="52514E"/>
                </a:solidFill>
                <a:latin typeface="Calibri"/>
              </a:rPr>
              <a:t>The same number can read as 2.6% or 12.1% depending on what you count</a:t>
            </a:r>
          </a:p>
        </p:txBody>
      </p:sp>
      <p:sp>
        <p:nvSpPr>
          <p:cNvPr id="3" name="Rectangle 2"/>
          <p:cNvSpPr/>
          <p:nvPr/>
        </p:nvSpPr>
        <p:spPr>
          <a:xfrm>
            <a:off x="548640" y="1207008"/>
            <a:ext cx="1371600" cy="444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508760"/>
            <a:ext cx="5577840" cy="4206240"/>
          </a:xfrm>
          <a:prstGeom prst="rect">
            <a:avLst/>
          </a:prstGeom>
          <a:noFill/>
        </p:spPr>
        <p:txBody>
          <a:bodyPr wrap="square">
            <a:spAutoFit/>
          </a:bodyPr>
          <a:lstStyle/>
          <a:p>
            <a:pPr algn="l">
              <a:spcAft>
                <a:spcPts val="800"/>
              </a:spcAft>
            </a:pPr>
            <a:r>
              <a:rPr sz="1800" b="1" i="0">
                <a:solidFill>
                  <a:srgbClr val="EB6834"/>
                </a:solidFill>
                <a:latin typeface="Calibri"/>
              </a:rPr>
              <a:t>84% of the instances come from UniParc</a:t>
            </a:r>
          </a:p>
          <a:p>
            <a:pPr algn="l">
              <a:spcAft>
                <a:spcPts val="1200"/>
              </a:spcAft>
            </a:pPr>
            <a:r>
              <a:rPr sz="1500" b="0" i="0">
                <a:solidFill>
                  <a:srgbClr val="0B0B0B"/>
                </a:solidFill>
                <a:latin typeface="Calibri"/>
              </a:rPr>
              <a:t>UniParc archives every sequence variant separately, so a single protein can appear hundreds of times. Counting raw instances counts the same downstream context over and over.</a:t>
            </a:r>
          </a:p>
          <a:p>
            <a:pPr algn="l">
              <a:spcAft>
                <a:spcPts val="1400"/>
              </a:spcAft>
            </a:pPr>
            <a:r>
              <a:rPr sz="1500" b="0" i="0">
                <a:solidFill>
                  <a:srgbClr val="0B0B0B"/>
                </a:solidFill>
                <a:latin typeface="Calibri"/>
              </a:rPr>
              <a:t>The 35,573 instances collapse to just 2,693 distinct downstream contexts — a 12.3-fold duplication.</a:t>
            </a:r>
          </a:p>
          <a:p>
            <a:pPr algn="l">
              <a:spcAft>
                <a:spcPts val="800"/>
              </a:spcAft>
            </a:pPr>
            <a:r>
              <a:rPr sz="1800" b="1" i="0">
                <a:solidFill>
                  <a:srgbClr val="2A78D6"/>
                </a:solidFill>
                <a:latin typeface="Calibri"/>
              </a:rPr>
              <a:t>Which unit is right?</a:t>
            </a:r>
          </a:p>
          <a:p>
            <a:pPr algn="l">
              <a:spcAft>
                <a:spcPts val="0"/>
              </a:spcAft>
            </a:pPr>
            <a:r>
              <a:rPr sz="1500" b="0" i="0">
                <a:solidFill>
                  <a:srgbClr val="0B0B0B"/>
                </a:solidFill>
                <a:latin typeface="Calibri"/>
              </a:rPr>
              <a:t>Position 2 is a property of the protein that follows the skip site, not of the 2A peptide. So each distinct downstream context should count once. That is the unit used for every result that follows.</a:t>
            </a:r>
          </a:p>
        </p:txBody>
      </p:sp>
      <p:sp>
        <p:nvSpPr>
          <p:cNvPr id="5" name="Rounded Rectangle 4"/>
          <p:cNvSpPr/>
          <p:nvPr/>
        </p:nvSpPr>
        <p:spPr>
          <a:xfrm>
            <a:off x="6400800" y="1737360"/>
            <a:ext cx="2468880" cy="1371600"/>
          </a:xfrm>
          <a:prstGeom prst="round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37960" y="1865376"/>
            <a:ext cx="2194560" cy="1143000"/>
          </a:xfrm>
          <a:prstGeom prst="rect">
            <a:avLst/>
          </a:prstGeom>
          <a:noFill/>
        </p:spPr>
        <p:txBody>
          <a:bodyPr wrap="square">
            <a:spAutoFit/>
          </a:bodyPr>
          <a:lstStyle/>
          <a:p>
            <a:pPr algn="ctr">
              <a:spcAft>
                <a:spcPts val="200"/>
              </a:spcAft>
            </a:pPr>
            <a:r>
              <a:rPr sz="3200" b="1" i="0">
                <a:solidFill>
                  <a:srgbClr val="8A8880"/>
                </a:solidFill>
                <a:latin typeface="Calibri"/>
              </a:rPr>
              <a:t>2.6%</a:t>
            </a:r>
          </a:p>
          <a:p>
            <a:pPr algn="ctr">
              <a:spcAft>
                <a:spcPts val="0"/>
              </a:spcAft>
            </a:pPr>
            <a:r>
              <a:rPr sz="1150" b="0" i="0">
                <a:solidFill>
                  <a:srgbClr val="52514E"/>
                </a:solidFill>
                <a:latin typeface="Calibri"/>
              </a:rPr>
              <a:t>counting raw instances
(redundancy included)</a:t>
            </a:r>
          </a:p>
        </p:txBody>
      </p:sp>
      <p:sp>
        <p:nvSpPr>
          <p:cNvPr id="7" name="Rounded Rectangle 6"/>
          <p:cNvSpPr/>
          <p:nvPr/>
        </p:nvSpPr>
        <p:spPr>
          <a:xfrm>
            <a:off x="9144000" y="1737360"/>
            <a:ext cx="2468880" cy="1371600"/>
          </a:xfrm>
          <a:prstGeom prst="round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81160" y="1865376"/>
            <a:ext cx="2194560" cy="1143000"/>
          </a:xfrm>
          <a:prstGeom prst="rect">
            <a:avLst/>
          </a:prstGeom>
          <a:noFill/>
        </p:spPr>
        <p:txBody>
          <a:bodyPr wrap="square">
            <a:spAutoFit/>
          </a:bodyPr>
          <a:lstStyle/>
          <a:p>
            <a:pPr algn="ctr">
              <a:spcAft>
                <a:spcPts val="200"/>
              </a:spcAft>
            </a:pPr>
            <a:r>
              <a:rPr sz="3200" b="1" i="0">
                <a:solidFill>
                  <a:srgbClr val="2A78D6"/>
                </a:solidFill>
                <a:latin typeface="Calibri"/>
              </a:rPr>
              <a:t>12.1%</a:t>
            </a:r>
          </a:p>
          <a:p>
            <a:pPr algn="ctr">
              <a:spcAft>
                <a:spcPts val="0"/>
              </a:spcAft>
            </a:pPr>
            <a:r>
              <a:rPr sz="1150" b="0" i="0">
                <a:solidFill>
                  <a:srgbClr val="52514E"/>
                </a:solidFill>
                <a:latin typeface="Calibri"/>
              </a:rPr>
              <a:t>counting distinct
downstream contexts</a:t>
            </a:r>
          </a:p>
        </p:txBody>
      </p:sp>
      <p:sp>
        <p:nvSpPr>
          <p:cNvPr id="9" name="TextBox 8"/>
          <p:cNvSpPr txBox="1"/>
          <p:nvPr/>
        </p:nvSpPr>
        <p:spPr>
          <a:xfrm>
            <a:off x="6400800" y="3383280"/>
            <a:ext cx="5212080" cy="2377440"/>
          </a:xfrm>
          <a:prstGeom prst="rect">
            <a:avLst/>
          </a:prstGeom>
          <a:noFill/>
        </p:spPr>
        <p:txBody>
          <a:bodyPr wrap="square">
            <a:spAutoFit/>
          </a:bodyPr>
          <a:lstStyle/>
          <a:p>
            <a:pPr algn="l">
              <a:spcAft>
                <a:spcPts val="800"/>
              </a:spcAft>
            </a:pPr>
            <a:r>
              <a:rPr sz="1700" b="1" i="0">
                <a:solidFill>
                  <a:srgbClr val="0B0B0B"/>
                </a:solidFill>
                <a:latin typeface="Calibri"/>
              </a:rPr>
              <a:t>Why this matters</a:t>
            </a:r>
          </a:p>
          <a:p>
            <a:pPr algn="l">
              <a:spcAft>
                <a:spcPts val="800"/>
              </a:spcAft>
            </a:pPr>
            <a:r>
              <a:rPr sz="1450" b="0" i="0">
                <a:solidFill>
                  <a:srgbClr val="0B0B0B"/>
                </a:solidFill>
                <a:latin typeface="Calibri"/>
              </a:rPr>
              <a:t>The 2.4–2.6% figure reported previously is a database-redundancy artefact, not a biological depletion. It reflects how often a handful of well-deposited 2A peptides were sequenced, not how often the motif occurs.</a:t>
            </a:r>
          </a:p>
          <a:p>
            <a:pPr algn="l">
              <a:spcAft>
                <a:spcPts val="0"/>
              </a:spcAft>
            </a:pPr>
            <a:r>
              <a:rPr sz="1450" b="1" i="0">
                <a:solidFill>
                  <a:srgbClr val="B06D00"/>
                </a:solidFill>
                <a:latin typeface="Calibri"/>
              </a:rPr>
              <a:t>This corrects the earlier conclusion in 2a_combined_UBR3.</a:t>
            </a:r>
          </a:p>
        </p:txBody>
      </p:sp>
      <p:sp>
        <p:nvSpPr>
          <p:cNvPr id="10" name="TextBox 9"/>
          <p:cNvSpPr txBox="1"/>
          <p:nvPr/>
        </p:nvSpPr>
        <p:spPr>
          <a:xfrm>
            <a:off x="548640" y="6355080"/>
            <a:ext cx="11155680" cy="365760"/>
          </a:xfrm>
          <a:prstGeom prst="rect">
            <a:avLst/>
          </a:prstGeom>
          <a:noFill/>
        </p:spPr>
        <p:txBody>
          <a:bodyPr wrap="square">
            <a:spAutoFit/>
          </a:bodyPr>
          <a:lstStyle/>
          <a:p>
            <a:pPr algn="l">
              <a:spcAft>
                <a:spcPts val="0"/>
              </a:spcAft>
            </a:pPr>
            <a:r>
              <a:rPr sz="1000" b="0" i="0">
                <a:solidFill>
                  <a:srgbClr val="8A8880"/>
                </a:solidFill>
                <a:latin typeface="Calibri"/>
              </a:rPr>
              <a:t>Redundancy measured on the combined instance table; see enrichment_summary.json → redundancy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155680" cy="914400"/>
          </a:xfrm>
          <a:prstGeom prst="rect">
            <a:avLst/>
          </a:prstGeom>
          <a:noFill/>
        </p:spPr>
        <p:txBody>
          <a:bodyPr wrap="square">
            <a:spAutoFit/>
          </a:bodyPr>
          <a:lstStyle/>
          <a:p>
            <a:pPr algn="l">
              <a:spcAft>
                <a:spcPts val="200"/>
              </a:spcAft>
            </a:pPr>
            <a:r>
              <a:rPr sz="3000" b="1" i="0">
                <a:solidFill>
                  <a:srgbClr val="0B0B0B"/>
                </a:solidFill>
                <a:latin typeface="Calibri"/>
              </a:rPr>
              <a:t>Result</a:t>
            </a:r>
          </a:p>
          <a:p>
            <a:pPr algn="l">
              <a:spcAft>
                <a:spcPts val="0"/>
              </a:spcAft>
            </a:pPr>
            <a:r>
              <a:rPr sz="1400" b="0" i="0">
                <a:solidFill>
                  <a:srgbClr val="52514E"/>
                </a:solidFill>
                <a:latin typeface="Calibri"/>
              </a:rPr>
              <a:t>D/E at position 2, counting distinct downstream contexts (n = 2,693)</a:t>
            </a:r>
          </a:p>
        </p:txBody>
      </p:sp>
      <p:sp>
        <p:nvSpPr>
          <p:cNvPr id="3" name="Rectangle 2"/>
          <p:cNvSpPr/>
          <p:nvPr/>
        </p:nvSpPr>
        <p:spPr>
          <a:xfrm>
            <a:off x="548640" y="1207008"/>
            <a:ext cx="1371600" cy="444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0"/>
            <a:ext cx="2743200" cy="1371600"/>
          </a:xfrm>
          <a:prstGeom prst="round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591056"/>
            <a:ext cx="2468880" cy="1143000"/>
          </a:xfrm>
          <a:prstGeom prst="rect">
            <a:avLst/>
          </a:prstGeom>
          <a:noFill/>
        </p:spPr>
        <p:txBody>
          <a:bodyPr wrap="square">
            <a:spAutoFit/>
          </a:bodyPr>
          <a:lstStyle/>
          <a:p>
            <a:pPr algn="ctr">
              <a:spcAft>
                <a:spcPts val="200"/>
              </a:spcAft>
            </a:pPr>
            <a:r>
              <a:rPr sz="3400" b="1" i="0">
                <a:solidFill>
                  <a:srgbClr val="2A78D6"/>
                </a:solidFill>
                <a:latin typeface="Calibri"/>
              </a:rPr>
              <a:t>12.1%</a:t>
            </a:r>
          </a:p>
          <a:p>
            <a:pPr algn="ctr">
              <a:spcAft>
                <a:spcPts val="0"/>
              </a:spcAft>
            </a:pPr>
            <a:r>
              <a:rPr sz="1150" b="0" i="0">
                <a:solidFill>
                  <a:srgbClr val="52514E"/>
                </a:solidFill>
                <a:latin typeface="Calibri"/>
              </a:rPr>
              <a:t>observed D/E at position 2
95% CI 10.9–13.4%</a:t>
            </a:r>
          </a:p>
        </p:txBody>
      </p:sp>
      <p:sp>
        <p:nvSpPr>
          <p:cNvPr id="6" name="TextBox 5"/>
          <p:cNvSpPr txBox="1"/>
          <p:nvPr/>
        </p:nvSpPr>
        <p:spPr>
          <a:xfrm>
            <a:off x="3566160" y="1417320"/>
            <a:ext cx="8138160" cy="365760"/>
          </a:xfrm>
          <a:prstGeom prst="rect">
            <a:avLst/>
          </a:prstGeom>
          <a:noFill/>
        </p:spPr>
        <p:txBody>
          <a:bodyPr wrap="square">
            <a:spAutoFit/>
          </a:bodyPr>
          <a:lstStyle/>
          <a:p>
            <a:pPr algn="l">
              <a:spcAft>
                <a:spcPts val="0"/>
              </a:spcAft>
            </a:pPr>
            <a:r>
              <a:rPr sz="1500" b="1" i="0">
                <a:solidFill>
                  <a:srgbClr val="0B0B0B"/>
                </a:solidFill>
                <a:latin typeface="Calibri"/>
              </a:rPr>
              <a:t>Compared with each background</a:t>
            </a:r>
          </a:p>
        </p:txBody>
      </p:sp>
      <p:sp>
        <p:nvSpPr>
          <p:cNvPr id="7" name="Rounded Rectangle 6"/>
          <p:cNvSpPr/>
          <p:nvPr/>
        </p:nvSpPr>
        <p:spPr>
          <a:xfrm>
            <a:off x="3566160" y="1783080"/>
            <a:ext cx="8138160" cy="914400"/>
          </a:xfrm>
          <a:prstGeom prst="round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49039" y="1856231"/>
            <a:ext cx="3200400" cy="822960"/>
          </a:xfrm>
          <a:prstGeom prst="rect">
            <a:avLst/>
          </a:prstGeom>
          <a:noFill/>
        </p:spPr>
        <p:txBody>
          <a:bodyPr wrap="square">
            <a:spAutoFit/>
          </a:bodyPr>
          <a:lstStyle/>
          <a:p>
            <a:pPr algn="l">
              <a:spcAft>
                <a:spcPts val="200"/>
              </a:spcAft>
            </a:pPr>
            <a:r>
              <a:rPr sz="1400" b="1" i="0">
                <a:solidFill>
                  <a:srgbClr val="8A8880"/>
                </a:solidFill>
                <a:latin typeface="Calibri"/>
              </a:rPr>
              <a:t>vs all amino acids, all positions</a:t>
            </a:r>
          </a:p>
          <a:p>
            <a:pPr algn="l">
              <a:spcAft>
                <a:spcPts val="0"/>
              </a:spcAft>
            </a:pPr>
            <a:r>
              <a:rPr sz="1200" b="0" i="0">
                <a:solidFill>
                  <a:srgbClr val="52514E"/>
                </a:solidFill>
                <a:latin typeface="Calibri"/>
              </a:rPr>
              <a:t>expected 11.1%</a:t>
            </a:r>
          </a:p>
        </p:txBody>
      </p:sp>
      <p:sp>
        <p:nvSpPr>
          <p:cNvPr id="9" name="TextBox 8"/>
          <p:cNvSpPr txBox="1"/>
          <p:nvPr/>
        </p:nvSpPr>
        <p:spPr>
          <a:xfrm>
            <a:off x="7040880" y="1984248"/>
            <a:ext cx="1371600" cy="548640"/>
          </a:xfrm>
          <a:prstGeom prst="rect">
            <a:avLst/>
          </a:prstGeom>
          <a:noFill/>
        </p:spPr>
        <p:txBody>
          <a:bodyPr wrap="square">
            <a:spAutoFit/>
          </a:bodyPr>
          <a:lstStyle/>
          <a:p>
            <a:pPr algn="ctr">
              <a:spcAft>
                <a:spcPts val="0"/>
              </a:spcAft>
            </a:pPr>
            <a:r>
              <a:rPr sz="2000" b="1" i="0">
                <a:solidFill>
                  <a:srgbClr val="8A8880"/>
                </a:solidFill>
                <a:latin typeface="Calibri"/>
              </a:rPr>
              <a:t>1.10×</a:t>
            </a:r>
          </a:p>
        </p:txBody>
      </p:sp>
      <p:sp>
        <p:nvSpPr>
          <p:cNvPr id="10" name="TextBox 9"/>
          <p:cNvSpPr txBox="1"/>
          <p:nvPr/>
        </p:nvSpPr>
        <p:spPr>
          <a:xfrm>
            <a:off x="8503920" y="1984248"/>
            <a:ext cx="3017520" cy="548640"/>
          </a:xfrm>
          <a:prstGeom prst="rect">
            <a:avLst/>
          </a:prstGeom>
          <a:noFill/>
        </p:spPr>
        <p:txBody>
          <a:bodyPr wrap="square">
            <a:spAutoFit/>
          </a:bodyPr>
          <a:lstStyle/>
          <a:p>
            <a:pPr algn="l">
              <a:spcAft>
                <a:spcPts val="0"/>
              </a:spcAft>
            </a:pPr>
            <a:r>
              <a:rPr sz="1500" b="1" i="0">
                <a:solidFill>
                  <a:srgbClr val="52514E"/>
                </a:solidFill>
                <a:latin typeface="Calibri"/>
              </a:rPr>
              <a:t>no difference   (n.s.)</a:t>
            </a:r>
          </a:p>
        </p:txBody>
      </p:sp>
      <p:sp>
        <p:nvSpPr>
          <p:cNvPr id="11" name="Rounded Rectangle 10"/>
          <p:cNvSpPr/>
          <p:nvPr/>
        </p:nvSpPr>
        <p:spPr>
          <a:xfrm>
            <a:off x="3566160" y="2834639"/>
            <a:ext cx="8138160" cy="914400"/>
          </a:xfrm>
          <a:prstGeom prst="round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39" y="2907791"/>
            <a:ext cx="3200400" cy="822960"/>
          </a:xfrm>
          <a:prstGeom prst="rect">
            <a:avLst/>
          </a:prstGeom>
          <a:noFill/>
        </p:spPr>
        <p:txBody>
          <a:bodyPr wrap="square">
            <a:spAutoFit/>
          </a:bodyPr>
          <a:lstStyle/>
          <a:p>
            <a:pPr algn="l">
              <a:spcAft>
                <a:spcPts val="200"/>
              </a:spcAft>
            </a:pPr>
            <a:r>
              <a:rPr sz="1400" b="1" i="0">
                <a:solidFill>
                  <a:srgbClr val="1BAF7A"/>
                </a:solidFill>
                <a:latin typeface="Calibri"/>
              </a:rPr>
              <a:t>vs residue after any proline</a:t>
            </a:r>
          </a:p>
          <a:p>
            <a:pPr algn="l">
              <a:spcAft>
                <a:spcPts val="0"/>
              </a:spcAft>
            </a:pPr>
            <a:r>
              <a:rPr sz="1200" b="0" i="0">
                <a:solidFill>
                  <a:srgbClr val="52514E"/>
                </a:solidFill>
                <a:latin typeface="Calibri"/>
              </a:rPr>
              <a:t>expected 11.1%</a:t>
            </a:r>
          </a:p>
        </p:txBody>
      </p:sp>
      <p:sp>
        <p:nvSpPr>
          <p:cNvPr id="13" name="TextBox 12"/>
          <p:cNvSpPr txBox="1"/>
          <p:nvPr/>
        </p:nvSpPr>
        <p:spPr>
          <a:xfrm>
            <a:off x="7040880" y="3035808"/>
            <a:ext cx="1371600" cy="548640"/>
          </a:xfrm>
          <a:prstGeom prst="rect">
            <a:avLst/>
          </a:prstGeom>
          <a:noFill/>
        </p:spPr>
        <p:txBody>
          <a:bodyPr wrap="square">
            <a:spAutoFit/>
          </a:bodyPr>
          <a:lstStyle/>
          <a:p>
            <a:pPr algn="ctr">
              <a:spcAft>
                <a:spcPts val="0"/>
              </a:spcAft>
            </a:pPr>
            <a:r>
              <a:rPr sz="2000" b="1" i="0">
                <a:solidFill>
                  <a:srgbClr val="1BAF7A"/>
                </a:solidFill>
                <a:latin typeface="Calibri"/>
              </a:rPr>
              <a:t>1.09×</a:t>
            </a:r>
          </a:p>
        </p:txBody>
      </p:sp>
      <p:sp>
        <p:nvSpPr>
          <p:cNvPr id="14" name="TextBox 13"/>
          <p:cNvSpPr txBox="1"/>
          <p:nvPr/>
        </p:nvSpPr>
        <p:spPr>
          <a:xfrm>
            <a:off x="8503920" y="3035808"/>
            <a:ext cx="3017520" cy="548640"/>
          </a:xfrm>
          <a:prstGeom prst="rect">
            <a:avLst/>
          </a:prstGeom>
          <a:noFill/>
        </p:spPr>
        <p:txBody>
          <a:bodyPr wrap="square">
            <a:spAutoFit/>
          </a:bodyPr>
          <a:lstStyle/>
          <a:p>
            <a:pPr algn="l">
              <a:spcAft>
                <a:spcPts val="0"/>
              </a:spcAft>
            </a:pPr>
            <a:r>
              <a:rPr sz="1500" b="1" i="0">
                <a:solidFill>
                  <a:srgbClr val="52514E"/>
                </a:solidFill>
                <a:latin typeface="Calibri"/>
              </a:rPr>
              <a:t>no difference   (n.s.)</a:t>
            </a:r>
          </a:p>
        </p:txBody>
      </p:sp>
      <p:sp>
        <p:nvSpPr>
          <p:cNvPr id="15" name="Rounded Rectangle 14"/>
          <p:cNvSpPr/>
          <p:nvPr/>
        </p:nvSpPr>
        <p:spPr>
          <a:xfrm>
            <a:off x="3566160" y="3886200"/>
            <a:ext cx="8138160" cy="914400"/>
          </a:xfrm>
          <a:prstGeom prst="round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39" y="3959352"/>
            <a:ext cx="3200400" cy="822960"/>
          </a:xfrm>
          <a:prstGeom prst="rect">
            <a:avLst/>
          </a:prstGeom>
          <a:noFill/>
        </p:spPr>
        <p:txBody>
          <a:bodyPr wrap="square">
            <a:spAutoFit/>
          </a:bodyPr>
          <a:lstStyle/>
          <a:p>
            <a:pPr algn="l">
              <a:spcAft>
                <a:spcPts val="200"/>
              </a:spcAft>
            </a:pPr>
            <a:r>
              <a:rPr sz="1400" b="1" i="0">
                <a:solidFill>
                  <a:srgbClr val="EB6834"/>
                </a:solidFill>
                <a:latin typeface="Calibri"/>
              </a:rPr>
              <a:t>vs position 2 of viral proteins</a:t>
            </a:r>
          </a:p>
          <a:p>
            <a:pPr algn="l">
              <a:spcAft>
                <a:spcPts val="0"/>
              </a:spcAft>
            </a:pPr>
            <a:r>
              <a:rPr sz="1200" b="0" i="0">
                <a:solidFill>
                  <a:srgbClr val="52514E"/>
                </a:solidFill>
                <a:latin typeface="Calibri"/>
              </a:rPr>
              <a:t>expected 21.2%</a:t>
            </a:r>
          </a:p>
        </p:txBody>
      </p:sp>
      <p:sp>
        <p:nvSpPr>
          <p:cNvPr id="17" name="TextBox 16"/>
          <p:cNvSpPr txBox="1"/>
          <p:nvPr/>
        </p:nvSpPr>
        <p:spPr>
          <a:xfrm>
            <a:off x="7040880" y="4087368"/>
            <a:ext cx="1371600" cy="548640"/>
          </a:xfrm>
          <a:prstGeom prst="rect">
            <a:avLst/>
          </a:prstGeom>
          <a:noFill/>
        </p:spPr>
        <p:txBody>
          <a:bodyPr wrap="square">
            <a:spAutoFit/>
          </a:bodyPr>
          <a:lstStyle/>
          <a:p>
            <a:pPr algn="ctr">
              <a:spcAft>
                <a:spcPts val="0"/>
              </a:spcAft>
            </a:pPr>
            <a:r>
              <a:rPr sz="2000" b="1" i="0">
                <a:solidFill>
                  <a:srgbClr val="EB6834"/>
                </a:solidFill>
                <a:latin typeface="Calibri"/>
              </a:rPr>
              <a:t>0.57×</a:t>
            </a:r>
          </a:p>
        </p:txBody>
      </p:sp>
      <p:sp>
        <p:nvSpPr>
          <p:cNvPr id="18" name="TextBox 17"/>
          <p:cNvSpPr txBox="1"/>
          <p:nvPr/>
        </p:nvSpPr>
        <p:spPr>
          <a:xfrm>
            <a:off x="8503920" y="4087368"/>
            <a:ext cx="3017520" cy="548640"/>
          </a:xfrm>
          <a:prstGeom prst="rect">
            <a:avLst/>
          </a:prstGeom>
          <a:noFill/>
        </p:spPr>
        <p:txBody>
          <a:bodyPr wrap="square">
            <a:spAutoFit/>
          </a:bodyPr>
          <a:lstStyle/>
          <a:p>
            <a:pPr algn="l">
              <a:spcAft>
                <a:spcPts val="0"/>
              </a:spcAft>
            </a:pPr>
            <a:r>
              <a:rPr sz="1500" b="1" i="0">
                <a:solidFill>
                  <a:srgbClr val="EB6834"/>
                </a:solidFill>
                <a:latin typeface="Calibri"/>
              </a:rPr>
              <a:t>depleted   (p = 1e-30)</a:t>
            </a:r>
          </a:p>
        </p:txBody>
      </p:sp>
      <p:sp>
        <p:nvSpPr>
          <p:cNvPr id="19" name="Rounded Rectangle 18"/>
          <p:cNvSpPr/>
          <p:nvPr/>
        </p:nvSpPr>
        <p:spPr>
          <a:xfrm>
            <a:off x="548640" y="5029200"/>
            <a:ext cx="11155680" cy="1143000"/>
          </a:xfrm>
          <a:prstGeom prst="round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138928"/>
            <a:ext cx="10698480" cy="1005840"/>
          </a:xfrm>
          <a:prstGeom prst="rect">
            <a:avLst/>
          </a:prstGeom>
          <a:noFill/>
        </p:spPr>
        <p:txBody>
          <a:bodyPr wrap="square">
            <a:spAutoFit/>
          </a:bodyPr>
          <a:lstStyle/>
          <a:p>
            <a:pPr algn="l">
              <a:spcAft>
                <a:spcPts val="400"/>
              </a:spcAft>
            </a:pPr>
            <a:r>
              <a:rPr sz="1400" b="1" i="0">
                <a:solidFill>
                  <a:srgbClr val="0B0B0B"/>
                </a:solidFill>
                <a:latin typeface="Calibri"/>
              </a:rPr>
              <a:t>In one sentence</a:t>
            </a:r>
          </a:p>
          <a:p>
            <a:pPr algn="l">
              <a:spcAft>
                <a:spcPts val="0"/>
              </a:spcAft>
            </a:pPr>
            <a:r>
              <a:rPr sz="1500" b="0" i="0">
                <a:solidFill>
                  <a:srgbClr val="0B0B0B"/>
                </a:solidFill>
                <a:latin typeface="Calibri"/>
              </a:rPr>
              <a:t>D/E follows the skip proline at essentially the rate chance predicts — there is no selection for or against the UBR3 motif at 2A skip sites. It is depleted only against viral N-termini, a background that is itself unusual.</a:t>
            </a:r>
          </a:p>
        </p:txBody>
      </p:sp>
      <p:sp>
        <p:nvSpPr>
          <p:cNvPr id="21" name="TextBox 20"/>
          <p:cNvSpPr txBox="1"/>
          <p:nvPr/>
        </p:nvSpPr>
        <p:spPr>
          <a:xfrm>
            <a:off x="548640" y="6355080"/>
            <a:ext cx="11155680" cy="365760"/>
          </a:xfrm>
          <a:prstGeom prst="rect">
            <a:avLst/>
          </a:prstGeom>
          <a:noFill/>
        </p:spPr>
        <p:txBody>
          <a:bodyPr wrap="square">
            <a:spAutoFit/>
          </a:bodyPr>
          <a:lstStyle/>
          <a:p>
            <a:pPr algn="l">
              <a:spcAft>
                <a:spcPts val="0"/>
              </a:spcAft>
            </a:pPr>
            <a:r>
              <a:rPr sz="1000" b="0" i="0">
                <a:solidFill>
                  <a:srgbClr val="8A8880"/>
                </a:solidFill>
                <a:latin typeface="Calibri"/>
              </a:rPr>
              <a:t>Fisher exact test, two-sided, on 2×2 counts; exact binomial 95% CI on the observed proportion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155680" cy="914400"/>
          </a:xfrm>
          <a:prstGeom prst="rect">
            <a:avLst/>
          </a:prstGeom>
          <a:noFill/>
        </p:spPr>
        <p:txBody>
          <a:bodyPr wrap="square">
            <a:spAutoFit/>
          </a:bodyPr>
          <a:lstStyle/>
          <a:p>
            <a:pPr algn="l">
              <a:spcAft>
                <a:spcPts val="200"/>
              </a:spcAft>
            </a:pPr>
            <a:r>
              <a:rPr sz="3000" b="1" i="0">
                <a:solidFill>
                  <a:srgbClr val="0B0B0B"/>
                </a:solidFill>
                <a:latin typeface="Calibri"/>
              </a:rPr>
              <a:t>The analysis in one figure</a:t>
            </a:r>
          </a:p>
        </p:txBody>
      </p:sp>
      <p:sp>
        <p:nvSpPr>
          <p:cNvPr id="3" name="Rectangle 2"/>
          <p:cNvSpPr/>
          <p:nvPr/>
        </p:nvSpPr>
        <p:spPr>
          <a:xfrm>
            <a:off x="548640" y="1207008"/>
            <a:ext cx="1371600" cy="444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nrichment_figure.png"/>
          <p:cNvPicPr>
            <a:picLocks noChangeAspect="1"/>
          </p:cNvPicPr>
          <p:nvPr/>
        </p:nvPicPr>
        <p:blipFill>
          <a:blip r:embed="rId2"/>
          <a:stretch>
            <a:fillRect/>
          </a:stretch>
        </p:blipFill>
        <p:spPr>
          <a:xfrm>
            <a:off x="548640" y="1417320"/>
            <a:ext cx="5764272" cy="4754880"/>
          </a:xfrm>
          <a:prstGeom prst="rect">
            <a:avLst/>
          </a:prstGeom>
        </p:spPr>
      </p:pic>
      <p:sp>
        <p:nvSpPr>
          <p:cNvPr id="5" name="TextBox 4"/>
          <p:cNvSpPr txBox="1"/>
          <p:nvPr/>
        </p:nvSpPr>
        <p:spPr>
          <a:xfrm>
            <a:off x="7086600" y="1481328"/>
            <a:ext cx="4663440" cy="1554480"/>
          </a:xfrm>
          <a:prstGeom prst="rect">
            <a:avLst/>
          </a:prstGeom>
          <a:noFill/>
        </p:spPr>
        <p:txBody>
          <a:bodyPr wrap="square">
            <a:spAutoFit/>
          </a:bodyPr>
          <a:lstStyle/>
          <a:p>
            <a:pPr algn="l">
              <a:spcAft>
                <a:spcPts val="500"/>
              </a:spcAft>
            </a:pPr>
            <a:r>
              <a:rPr sz="1450" b="1" i="0">
                <a:solidFill>
                  <a:srgbClr val="2A78D6"/>
                </a:solidFill>
                <a:latin typeface="Calibri"/>
              </a:rPr>
              <a:t>A · Redundancy changes the answer</a:t>
            </a:r>
          </a:p>
          <a:p>
            <a:pPr algn="l">
              <a:spcAft>
                <a:spcPts val="0"/>
              </a:spcAft>
            </a:pPr>
            <a:r>
              <a:rPr sz="1250" b="0" i="0">
                <a:solidFill>
                  <a:srgbClr val="0B0B0B"/>
                </a:solidFill>
                <a:latin typeface="Calibri"/>
              </a:rPr>
              <a:t>Each bar is the same measurement counted a different way. As duplicate database entries are collapsed, D/E rises from 2.6% to 12.1% and crosses the two matched background lines.</a:t>
            </a:r>
          </a:p>
        </p:txBody>
      </p:sp>
      <p:sp>
        <p:nvSpPr>
          <p:cNvPr id="6" name="TextBox 5"/>
          <p:cNvSpPr txBox="1"/>
          <p:nvPr/>
        </p:nvSpPr>
        <p:spPr>
          <a:xfrm>
            <a:off x="7086600" y="3054096"/>
            <a:ext cx="4663440" cy="1554480"/>
          </a:xfrm>
          <a:prstGeom prst="rect">
            <a:avLst/>
          </a:prstGeom>
          <a:noFill/>
        </p:spPr>
        <p:txBody>
          <a:bodyPr wrap="square">
            <a:spAutoFit/>
          </a:bodyPr>
          <a:lstStyle/>
          <a:p>
            <a:pPr algn="l">
              <a:spcAft>
                <a:spcPts val="500"/>
              </a:spcAft>
            </a:pPr>
            <a:r>
              <a:rPr sz="1450" b="1" i="0">
                <a:solidFill>
                  <a:srgbClr val="0B0B0B"/>
                </a:solidFill>
                <a:latin typeface="Calibri"/>
              </a:rPr>
              <a:t>B · Composition at position 2</a:t>
            </a:r>
          </a:p>
          <a:p>
            <a:pPr algn="l">
              <a:spcAft>
                <a:spcPts val="0"/>
              </a:spcAft>
            </a:pPr>
            <a:r>
              <a:rPr sz="1250" b="0" i="0">
                <a:solidFill>
                  <a:srgbClr val="0B0B0B"/>
                </a:solidFill>
                <a:latin typeface="Calibri"/>
              </a:rPr>
              <a:t>Blue is the observed 2A position 2; the three background sets sit beside it. D and E (shaded) track the grey and green backgrounds closely, and fall well below the orange viral-N-terminus background.</a:t>
            </a:r>
          </a:p>
        </p:txBody>
      </p:sp>
      <p:sp>
        <p:nvSpPr>
          <p:cNvPr id="7" name="TextBox 6"/>
          <p:cNvSpPr txBox="1"/>
          <p:nvPr/>
        </p:nvSpPr>
        <p:spPr>
          <a:xfrm>
            <a:off x="7086600" y="4626864"/>
            <a:ext cx="4663440" cy="1554480"/>
          </a:xfrm>
          <a:prstGeom prst="rect">
            <a:avLst/>
          </a:prstGeom>
          <a:noFill/>
        </p:spPr>
        <p:txBody>
          <a:bodyPr wrap="square">
            <a:spAutoFit/>
          </a:bodyPr>
          <a:lstStyle/>
          <a:p>
            <a:pPr algn="l">
              <a:spcAft>
                <a:spcPts val="500"/>
              </a:spcAft>
            </a:pPr>
            <a:r>
              <a:rPr sz="1450" b="1" i="0">
                <a:solidFill>
                  <a:srgbClr val="1BAF7A"/>
                </a:solidFill>
                <a:latin typeface="Calibri"/>
              </a:rPr>
              <a:t>C · Fold change with 95% CI</a:t>
            </a:r>
          </a:p>
          <a:p>
            <a:pPr algn="l">
              <a:spcAft>
                <a:spcPts val="0"/>
              </a:spcAft>
            </a:pPr>
            <a:r>
              <a:rPr sz="1250" b="0" i="0">
                <a:solidFill>
                  <a:srgbClr val="0B0B0B"/>
                </a:solidFill>
                <a:latin typeface="Calibri"/>
              </a:rPr>
              <a:t>Two intervals cross 1.0 — no difference from chance. Only the viral position-2 comparison is significant, at 0.57×.</a:t>
            </a:r>
          </a:p>
        </p:txBody>
      </p:sp>
      <p:sp>
        <p:nvSpPr>
          <p:cNvPr id="8" name="TextBox 7"/>
          <p:cNvSpPr txBox="1"/>
          <p:nvPr/>
        </p:nvSpPr>
        <p:spPr>
          <a:xfrm>
            <a:off x="548640" y="6355080"/>
            <a:ext cx="11155680" cy="365760"/>
          </a:xfrm>
          <a:prstGeom prst="rect">
            <a:avLst/>
          </a:prstGeom>
          <a:noFill/>
        </p:spPr>
        <p:txBody>
          <a:bodyPr wrap="square">
            <a:spAutoFit/>
          </a:bodyPr>
          <a:lstStyle/>
          <a:p>
            <a:pPr algn="l">
              <a:spcAft>
                <a:spcPts val="0"/>
              </a:spcAft>
            </a:pPr>
            <a:r>
              <a:rPr sz="1000" b="0" i="0">
                <a:solidFill>
                  <a:srgbClr val="8A8880"/>
                </a:solidFill>
                <a:latin typeface="Calibri"/>
              </a:rPr>
              <a:t>Full-resolution vector version available as enrichment_figure.pdf / .svg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155680" cy="914400"/>
          </a:xfrm>
          <a:prstGeom prst="rect">
            <a:avLst/>
          </a:prstGeom>
          <a:noFill/>
        </p:spPr>
        <p:txBody>
          <a:bodyPr wrap="square">
            <a:spAutoFit/>
          </a:bodyPr>
          <a:lstStyle/>
          <a:p>
            <a:pPr algn="l">
              <a:spcAft>
                <a:spcPts val="200"/>
              </a:spcAft>
            </a:pPr>
            <a:r>
              <a:rPr sz="3000" b="1" i="0">
                <a:solidFill>
                  <a:srgbClr val="0B0B0B"/>
                </a:solidFill>
                <a:latin typeface="Calibri"/>
              </a:rPr>
              <a:t>What it means</a:t>
            </a:r>
          </a:p>
          <a:p>
            <a:pPr algn="l">
              <a:spcAft>
                <a:spcPts val="0"/>
              </a:spcAft>
            </a:pPr>
            <a:r>
              <a:rPr sz="1400" b="0" i="0">
                <a:solidFill>
                  <a:srgbClr val="52514E"/>
                </a:solidFill>
                <a:latin typeface="Calibri"/>
              </a:rPr>
              <a:t>Three readings, in order of confidence</a:t>
            </a:r>
          </a:p>
        </p:txBody>
      </p:sp>
      <p:sp>
        <p:nvSpPr>
          <p:cNvPr id="3" name="Rectangle 2"/>
          <p:cNvSpPr/>
          <p:nvPr/>
        </p:nvSpPr>
        <p:spPr>
          <a:xfrm>
            <a:off x="548640" y="1207008"/>
            <a:ext cx="1371600" cy="444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0"/>
            <a:ext cx="11155680" cy="1417320"/>
          </a:xfrm>
          <a:prstGeom prst="round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178308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libri"/>
              </a:rPr>
              <a:t>1</a:t>
            </a:r>
          </a:p>
        </p:txBody>
      </p:sp>
      <p:sp>
        <p:nvSpPr>
          <p:cNvPr id="6" name="TextBox 5"/>
          <p:cNvSpPr txBox="1"/>
          <p:nvPr/>
        </p:nvSpPr>
        <p:spPr>
          <a:xfrm>
            <a:off x="1508760" y="1591056"/>
            <a:ext cx="9966960" cy="1234440"/>
          </a:xfrm>
          <a:prstGeom prst="rect">
            <a:avLst/>
          </a:prstGeom>
          <a:noFill/>
        </p:spPr>
        <p:txBody>
          <a:bodyPr wrap="square">
            <a:spAutoFit/>
          </a:bodyPr>
          <a:lstStyle/>
          <a:p>
            <a:pPr algn="l">
              <a:spcAft>
                <a:spcPts val="500"/>
              </a:spcAft>
            </a:pPr>
            <a:r>
              <a:rPr sz="1650" b="1" i="0">
                <a:solidFill>
                  <a:srgbClr val="2A78D6"/>
                </a:solidFill>
                <a:latin typeface="Calibri"/>
              </a:rPr>
              <a:t>The motif occurs at chance frequency</a:t>
            </a:r>
          </a:p>
          <a:p>
            <a:pPr algn="l">
              <a:spcAft>
                <a:spcPts val="0"/>
              </a:spcAft>
            </a:pPr>
            <a:r>
              <a:rPr sz="1350" b="0" i="0">
                <a:solidFill>
                  <a:srgbClr val="0B0B0B"/>
                </a:solidFill>
                <a:latin typeface="Calibri"/>
              </a:rPr>
              <a:t>Against the two matched backgrounds — overall amino-acid composition (11.1%) and the residue after any proline (11.1%) — the observed 12.1% is statistically indistinguishable (1.10× and 1.09×, both n.s.). Nothing about the 2A skip favours or avoids creating a UBR3 substrate.</a:t>
            </a:r>
          </a:p>
        </p:txBody>
      </p:sp>
      <p:sp>
        <p:nvSpPr>
          <p:cNvPr id="7" name="Rounded Rectangle 6"/>
          <p:cNvSpPr/>
          <p:nvPr/>
        </p:nvSpPr>
        <p:spPr>
          <a:xfrm>
            <a:off x="548640" y="3035808"/>
            <a:ext cx="11155680" cy="1417320"/>
          </a:xfrm>
          <a:prstGeom prst="round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3355848"/>
            <a:ext cx="502920" cy="50292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libri"/>
              </a:rPr>
              <a:t>2</a:t>
            </a:r>
          </a:p>
        </p:txBody>
      </p:sp>
      <p:sp>
        <p:nvSpPr>
          <p:cNvPr id="9" name="TextBox 8"/>
          <p:cNvSpPr txBox="1"/>
          <p:nvPr/>
        </p:nvSpPr>
        <p:spPr>
          <a:xfrm>
            <a:off x="1508760" y="3163824"/>
            <a:ext cx="9966960" cy="1234440"/>
          </a:xfrm>
          <a:prstGeom prst="rect">
            <a:avLst/>
          </a:prstGeom>
          <a:noFill/>
        </p:spPr>
        <p:txBody>
          <a:bodyPr wrap="square">
            <a:spAutoFit/>
          </a:bodyPr>
          <a:lstStyle/>
          <a:p>
            <a:pPr algn="l">
              <a:spcAft>
                <a:spcPts val="500"/>
              </a:spcAft>
            </a:pPr>
            <a:r>
              <a:rPr sz="1650" b="1" i="0">
                <a:solidFill>
                  <a:srgbClr val="EB6834"/>
                </a:solidFill>
                <a:latin typeface="Calibri"/>
              </a:rPr>
              <a:t>The depletion vs viral N-termini is real but says less than it looks</a:t>
            </a:r>
          </a:p>
          <a:p>
            <a:pPr algn="l">
              <a:spcAft>
                <a:spcPts val="0"/>
              </a:spcAft>
            </a:pPr>
            <a:r>
              <a:rPr sz="1350" b="0" i="0">
                <a:solidFill>
                  <a:srgbClr val="0B0B0B"/>
                </a:solidFill>
                <a:latin typeface="Calibri"/>
              </a:rPr>
              <a:t>Position 2 of viral proteins is 21.2% D/E — far above bulk composition. That is expected: Met-aminopeptidase only removes the initiator methionine when residue 2 is small, so acidic residues accumulate at position 2 of real N-termini. Comparing against it measures N-terminal biology, not 2A biology.</a:t>
            </a:r>
          </a:p>
        </p:txBody>
      </p:sp>
      <p:sp>
        <p:nvSpPr>
          <p:cNvPr id="10" name="Rounded Rectangle 9"/>
          <p:cNvSpPr/>
          <p:nvPr/>
        </p:nvSpPr>
        <p:spPr>
          <a:xfrm>
            <a:off x="548640" y="4608576"/>
            <a:ext cx="11155680" cy="1417320"/>
          </a:xfrm>
          <a:prstGeom prst="round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4928616"/>
            <a:ext cx="502920" cy="502920"/>
          </a:xfrm>
          <a:prstGeom prst="ellipse">
            <a:avLst/>
          </a:prstGeom>
          <a:solidFill>
            <a:srgbClr val="B06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libri"/>
              </a:rPr>
              <a:t>3</a:t>
            </a:r>
          </a:p>
        </p:txBody>
      </p:sp>
      <p:sp>
        <p:nvSpPr>
          <p:cNvPr id="12" name="TextBox 11"/>
          <p:cNvSpPr txBox="1"/>
          <p:nvPr/>
        </p:nvSpPr>
        <p:spPr>
          <a:xfrm>
            <a:off x="1508760" y="4736592"/>
            <a:ext cx="9966960" cy="1234440"/>
          </a:xfrm>
          <a:prstGeom prst="rect">
            <a:avLst/>
          </a:prstGeom>
          <a:noFill/>
        </p:spPr>
        <p:txBody>
          <a:bodyPr wrap="square">
            <a:spAutoFit/>
          </a:bodyPr>
          <a:lstStyle/>
          <a:p>
            <a:pPr algn="l">
              <a:spcAft>
                <a:spcPts val="500"/>
              </a:spcAft>
            </a:pPr>
            <a:r>
              <a:rPr sz="1650" b="1" i="0">
                <a:solidFill>
                  <a:srgbClr val="B06D00"/>
                </a:solidFill>
                <a:latin typeface="Calibri"/>
              </a:rPr>
              <a:t>The earlier 'uncommon motif' conclusion needs revising</a:t>
            </a:r>
          </a:p>
          <a:p>
            <a:pPr algn="l">
              <a:spcAft>
                <a:spcPts val="0"/>
              </a:spcAft>
            </a:pPr>
            <a:r>
              <a:rPr sz="1350" b="0" i="0">
                <a:solidFill>
                  <a:srgbClr val="0B0B0B"/>
                </a:solidFill>
                <a:latin typeface="Calibri"/>
              </a:rPr>
              <a:t>The previously reported 2.4% came from raw instance counts dominated by UniParc duplication. On distinct downstream contexts the figure is 12.1% — five times higher, and exactly at background. The motif is not rare; it is ordinary.</a:t>
            </a:r>
          </a:p>
        </p:txBody>
      </p:sp>
      <p:sp>
        <p:nvSpPr>
          <p:cNvPr id="13" name="TextBox 12"/>
          <p:cNvSpPr txBox="1"/>
          <p:nvPr/>
        </p:nvSpPr>
        <p:spPr>
          <a:xfrm>
            <a:off x="548640" y="6355080"/>
            <a:ext cx="11155680" cy="365760"/>
          </a:xfrm>
          <a:prstGeom prst="rect">
            <a:avLst/>
          </a:prstGeom>
          <a:noFill/>
        </p:spPr>
        <p:txBody>
          <a:bodyPr wrap="square">
            <a:spAutoFit/>
          </a:bodyPr>
          <a:lstStyle/>
          <a:p>
            <a:pPr algn="l">
              <a:spcAft>
                <a:spcPts val="0"/>
              </a:spcAft>
            </a:pPr>
            <a:r>
              <a:rPr sz="1000" b="0" i="0">
                <a:solidFill>
                  <a:srgbClr val="8A8880"/>
                </a:solidFill>
                <a:latin typeface="Calibri"/>
              </a:rPr>
              <a:t>Met-aminopeptidase specificity: initiator Met is cleaved only when residue 2 has a small side chain (A, C, G, P, S, T, 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155680" cy="914400"/>
          </a:xfrm>
          <a:prstGeom prst="rect">
            <a:avLst/>
          </a:prstGeom>
          <a:noFill/>
        </p:spPr>
        <p:txBody>
          <a:bodyPr wrap="square">
            <a:spAutoFit/>
          </a:bodyPr>
          <a:lstStyle/>
          <a:p>
            <a:pPr algn="l">
              <a:spcAft>
                <a:spcPts val="200"/>
              </a:spcAft>
            </a:pPr>
            <a:r>
              <a:rPr sz="3000" b="1" i="0">
                <a:solidFill>
                  <a:srgbClr val="0B0B0B"/>
                </a:solidFill>
                <a:latin typeface="Calibri"/>
              </a:rPr>
              <a:t>Caveats and what would strengthen this</a:t>
            </a:r>
          </a:p>
        </p:txBody>
      </p:sp>
      <p:sp>
        <p:nvSpPr>
          <p:cNvPr id="3" name="Rectangle 2"/>
          <p:cNvSpPr/>
          <p:nvPr/>
        </p:nvSpPr>
        <p:spPr>
          <a:xfrm>
            <a:off x="548640" y="1207008"/>
            <a:ext cx="1371600" cy="444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554480"/>
            <a:ext cx="5577840" cy="4480560"/>
          </a:xfrm>
          <a:prstGeom prst="rect">
            <a:avLst/>
          </a:prstGeom>
          <a:noFill/>
        </p:spPr>
        <p:txBody>
          <a:bodyPr wrap="square">
            <a:spAutoFit/>
          </a:bodyPr>
          <a:lstStyle/>
          <a:p>
            <a:pPr algn="l">
              <a:spcAft>
                <a:spcPts val="1000"/>
              </a:spcAft>
            </a:pPr>
            <a:r>
              <a:rPr sz="1900" b="1" i="0">
                <a:solidFill>
                  <a:srgbClr val="EB6834"/>
                </a:solidFill>
                <a:latin typeface="Calibri"/>
              </a:rPr>
              <a:t>Limits of this analysis</a:t>
            </a:r>
          </a:p>
          <a:p>
            <a:pPr algn="l">
              <a:spcAft>
                <a:spcPts val="1000"/>
              </a:spcAft>
            </a:pPr>
            <a:r>
              <a:rPr sz="1350" b="0" i="0">
                <a:solidFill>
                  <a:srgbClr val="0B0B0B"/>
                </a:solidFill>
                <a:latin typeface="Calibri"/>
              </a:rPr>
              <a:t>•  6.8% of instances still have no resolved downstream residue — almost all MGnify (MGYP), which needs the ~270 GB MGnify FASTA dump. resolve_mgnify.py is written but has not been run.</a:t>
            </a:r>
          </a:p>
          <a:p>
            <a:pPr algn="l">
              <a:spcAft>
                <a:spcPts val="1000"/>
              </a:spcAft>
            </a:pPr>
            <a:r>
              <a:rPr sz="1350" b="0" i="0">
                <a:solidFill>
                  <a:srgbClr val="0B0B0B"/>
                </a:solidFill>
                <a:latin typeface="Calibri"/>
              </a:rPr>
              <a:t>•  The background is reviewed viral proteins. The 2A set also contains host and unclassified sequences; using a viral background for all of them is a simplification. The viral-only subset gives the same answer (12.5%).</a:t>
            </a:r>
          </a:p>
          <a:p>
            <a:pPr algn="l">
              <a:spcAft>
                <a:spcPts val="1000"/>
              </a:spcAft>
            </a:pPr>
            <a:r>
              <a:rPr sz="1350" b="0" i="0">
                <a:solidFill>
                  <a:srgbClr val="0B0B0B"/>
                </a:solidFill>
                <a:latin typeface="Calibri"/>
              </a:rPr>
              <a:t>•  'Distinct downstream context' de-duplicates on the 20-aa product. Homologous proteins with slightly different downstream sequence still count separately, so some redundancy remains — this makes the estimate conservative, not inflated.</a:t>
            </a:r>
          </a:p>
        </p:txBody>
      </p:sp>
      <p:sp>
        <p:nvSpPr>
          <p:cNvPr id="5" name="TextBox 4"/>
          <p:cNvSpPr txBox="1"/>
          <p:nvPr/>
        </p:nvSpPr>
        <p:spPr>
          <a:xfrm>
            <a:off x="6400800" y="1554480"/>
            <a:ext cx="5303520" cy="4480560"/>
          </a:xfrm>
          <a:prstGeom prst="rect">
            <a:avLst/>
          </a:prstGeom>
          <a:noFill/>
        </p:spPr>
        <p:txBody>
          <a:bodyPr wrap="square">
            <a:spAutoFit/>
          </a:bodyPr>
          <a:lstStyle/>
          <a:p>
            <a:pPr algn="l">
              <a:spcAft>
                <a:spcPts val="1000"/>
              </a:spcAft>
            </a:pPr>
            <a:r>
              <a:rPr sz="1900" b="1" i="0">
                <a:solidFill>
                  <a:srgbClr val="1BAF7A"/>
                </a:solidFill>
                <a:latin typeface="Calibri"/>
              </a:rPr>
              <a:t>What would make it stronger</a:t>
            </a:r>
          </a:p>
          <a:p>
            <a:pPr algn="l">
              <a:spcAft>
                <a:spcPts val="1000"/>
              </a:spcAft>
            </a:pPr>
            <a:r>
              <a:rPr sz="1350" b="0" i="0">
                <a:solidFill>
                  <a:srgbClr val="0B0B0B"/>
                </a:solidFill>
                <a:latin typeface="Calibri"/>
              </a:rPr>
              <a:t>•  Resolve the MGnify fraction and re-run — it is the one systematic gap.</a:t>
            </a:r>
          </a:p>
          <a:p>
            <a:pPr algn="l">
              <a:spcAft>
                <a:spcPts val="1000"/>
              </a:spcAft>
            </a:pPr>
            <a:r>
              <a:rPr sz="1350" b="0" i="0">
                <a:solidFill>
                  <a:srgbClr val="0B0B0B"/>
                </a:solidFill>
                <a:latin typeface="Calibri"/>
              </a:rPr>
              <a:t>•  Test position 2 against a phylogeny-aware background rather than pooled composition, so related viruses do not count as independent observations.</a:t>
            </a:r>
          </a:p>
          <a:p>
            <a:pPr algn="l">
              <a:spcAft>
                <a:spcPts val="1000"/>
              </a:spcAft>
            </a:pPr>
            <a:r>
              <a:rPr sz="1350" b="0" i="0">
                <a:solidFill>
                  <a:srgbClr val="0B0B0B"/>
                </a:solidFill>
                <a:latin typeface="Calibri"/>
              </a:rPr>
              <a:t>•  Ask the reverse question: among 2A sites that do carry P–[D/E], is anything else shared — host range, protein family, genome position?</a:t>
            </a:r>
          </a:p>
          <a:p>
            <a:pPr algn="l">
              <a:spcAft>
                <a:spcPts val="1000"/>
              </a:spcAft>
            </a:pPr>
            <a:r>
              <a:rPr sz="1350" b="0" i="0">
                <a:solidFill>
                  <a:srgbClr val="0B0B0B"/>
                </a:solidFill>
                <a:latin typeface="Calibri"/>
              </a:rPr>
              <a:t>•  The 280 distinct P–[D/E] peptides already identified remain the useful output regardless of whether they are enriched: they are candidate UBR3 substrates.</a:t>
            </a:r>
          </a:p>
        </p:txBody>
      </p:sp>
      <p:sp>
        <p:nvSpPr>
          <p:cNvPr id="6" name="TextBox 5"/>
          <p:cNvSpPr txBox="1"/>
          <p:nvPr/>
        </p:nvSpPr>
        <p:spPr>
          <a:xfrm>
            <a:off x="548640" y="6355080"/>
            <a:ext cx="11155680" cy="365760"/>
          </a:xfrm>
          <a:prstGeom prst="rect">
            <a:avLst/>
          </a:prstGeom>
          <a:noFill/>
        </p:spPr>
        <p:txBody>
          <a:bodyPr wrap="square">
            <a:spAutoFit/>
          </a:bodyPr>
          <a:lstStyle/>
          <a:p>
            <a:pPr algn="l">
              <a:spcAft>
                <a:spcPts val="0"/>
              </a:spcAft>
            </a:pPr>
            <a:r>
              <a:rPr sz="1000" b="0" i="0">
                <a:solidFill>
                  <a:srgbClr val="8A8880"/>
                </a:solidFill>
                <a:latin typeface="Calibri"/>
              </a:rPr>
              <a:t>Scripts: enrichment.py, plot_enrichment.py, build_pptx.py · all outputs regenerate from these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155680" cy="914400"/>
          </a:xfrm>
          <a:prstGeom prst="rect">
            <a:avLst/>
          </a:prstGeom>
          <a:noFill/>
        </p:spPr>
        <p:txBody>
          <a:bodyPr wrap="square">
            <a:spAutoFit/>
          </a:bodyPr>
          <a:lstStyle/>
          <a:p>
            <a:pPr algn="l">
              <a:spcAft>
                <a:spcPts val="200"/>
              </a:spcAft>
            </a:pPr>
            <a:r>
              <a:rPr sz="3000" b="1" i="0">
                <a:solidFill>
                  <a:srgbClr val="0B0B0B"/>
                </a:solidFill>
                <a:latin typeface="Calibri"/>
              </a:rPr>
              <a:t>Methods</a:t>
            </a:r>
          </a:p>
          <a:p>
            <a:pPr algn="l">
              <a:spcAft>
                <a:spcPts val="0"/>
              </a:spcAft>
            </a:pPr>
            <a:r>
              <a:rPr sz="1400" b="0" i="0">
                <a:solidFill>
                  <a:srgbClr val="52514E"/>
                </a:solidFill>
                <a:latin typeface="Calibri"/>
              </a:rPr>
              <a:t>So the numbers can be reproduced or challenged</a:t>
            </a:r>
          </a:p>
        </p:txBody>
      </p:sp>
      <p:sp>
        <p:nvSpPr>
          <p:cNvPr id="3" name="Rectangle 2"/>
          <p:cNvSpPr/>
          <p:nvPr/>
        </p:nvSpPr>
        <p:spPr>
          <a:xfrm>
            <a:off x="548640" y="1207008"/>
            <a:ext cx="1371600" cy="444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508760"/>
            <a:ext cx="11155680" cy="4572000"/>
          </a:xfrm>
          <a:prstGeom prst="rect">
            <a:avLst/>
          </a:prstGeom>
          <a:noFill/>
        </p:spPr>
        <p:txBody>
          <a:bodyPr wrap="square">
            <a:spAutoFit/>
          </a:bodyPr>
          <a:lstStyle/>
          <a:p>
            <a:pPr algn="l">
              <a:spcAft>
                <a:spcPts val="400"/>
              </a:spcAft>
            </a:pPr>
            <a:r>
              <a:rPr sz="1600" b="1" i="0">
                <a:solidFill>
                  <a:srgbClr val="2A78D6"/>
                </a:solidFill>
                <a:latin typeface="Calibri"/>
              </a:rPr>
              <a:t>Foreground</a:t>
            </a:r>
          </a:p>
          <a:p>
            <a:pPr algn="l">
              <a:spcAft>
                <a:spcPts val="1200"/>
              </a:spcAft>
            </a:pPr>
            <a:r>
              <a:rPr sz="1350" b="0" i="0">
                <a:solidFill>
                  <a:srgbClr val="0B0B0B"/>
                </a:solidFill>
                <a:latin typeface="Calibri"/>
              </a:rPr>
              <a:t>combined_all_instances.csv from 2a_combined_UBR3 — the merged Table S2 + repository set. Kept instances with position 2 resolved to one of the 20 standard amino acids.</a:t>
            </a:r>
          </a:p>
          <a:p>
            <a:pPr algn="l">
              <a:spcAft>
                <a:spcPts val="400"/>
              </a:spcAft>
            </a:pPr>
            <a:r>
              <a:rPr sz="1600" b="1" i="0">
                <a:solidFill>
                  <a:srgbClr val="2A78D6"/>
                </a:solidFill>
                <a:latin typeface="Calibri"/>
              </a:rPr>
              <a:t>De-duplication</a:t>
            </a:r>
          </a:p>
          <a:p>
            <a:pPr algn="l">
              <a:spcAft>
                <a:spcPts val="1200"/>
              </a:spcAft>
            </a:pPr>
            <a:r>
              <a:rPr sz="1350" b="0" i="0">
                <a:solidFill>
                  <a:srgbClr val="0B0B0B"/>
                </a:solidFill>
                <a:latin typeface="Calibri"/>
              </a:rPr>
              <a:t>Each distinct 20-aa downstream product counted once (2,693 of 35,573 instances). Raw instances, unique accession and unique 2A core are also reported so the effect of the choice is visible.</a:t>
            </a:r>
          </a:p>
          <a:p>
            <a:pPr algn="l">
              <a:spcAft>
                <a:spcPts val="400"/>
              </a:spcAft>
            </a:pPr>
            <a:r>
              <a:rPr sz="1600" b="1" i="0">
                <a:solidFill>
                  <a:srgbClr val="2A78D6"/>
                </a:solidFill>
                <a:latin typeface="Calibri"/>
              </a:rPr>
              <a:t>Background</a:t>
            </a:r>
          </a:p>
          <a:p>
            <a:pPr algn="l">
              <a:spcAft>
                <a:spcPts val="1200"/>
              </a:spcAft>
            </a:pPr>
            <a:r>
              <a:rPr sz="1350" b="0" i="0">
                <a:solidFill>
                  <a:srgbClr val="0B0B0B"/>
                </a:solidFill>
                <a:latin typeface="Calibri"/>
              </a:rPr>
              <a:t>17,517 reviewed viral proteins from UniProt (taxonomy 10239). Three counts: every residue; residue 2 of proteins beginning with Met (17,136); and every residue immediately following a proline.</a:t>
            </a:r>
          </a:p>
          <a:p>
            <a:pPr algn="l">
              <a:spcAft>
                <a:spcPts val="400"/>
              </a:spcAft>
            </a:pPr>
            <a:r>
              <a:rPr sz="1600" b="1" i="0">
                <a:solidFill>
                  <a:srgbClr val="2A78D6"/>
                </a:solidFill>
                <a:latin typeface="Calibri"/>
              </a:rPr>
              <a:t>Statistics</a:t>
            </a:r>
          </a:p>
          <a:p>
            <a:pPr algn="l">
              <a:spcAft>
                <a:spcPts val="1200"/>
              </a:spcAft>
            </a:pPr>
            <a:r>
              <a:rPr sz="1350" b="0" i="0">
                <a:solidFill>
                  <a:srgbClr val="0B0B0B"/>
                </a:solidFill>
                <a:latin typeface="Calibri"/>
              </a:rPr>
              <a:t>Two-sided Fisher exact test on the 2×2 table of D/E vs other, foreground vs background; chi-square reported alongside. Exact binomial 95% CI on the observed proportion. Fold change = observed % ÷ background %.</a:t>
            </a:r>
          </a:p>
        </p:txBody>
      </p:sp>
      <p:sp>
        <p:nvSpPr>
          <p:cNvPr id="5" name="TextBox 4"/>
          <p:cNvSpPr txBox="1"/>
          <p:nvPr/>
        </p:nvSpPr>
        <p:spPr>
          <a:xfrm>
            <a:off x="548640" y="6355080"/>
            <a:ext cx="11155680" cy="365760"/>
          </a:xfrm>
          <a:prstGeom prst="rect">
            <a:avLst/>
          </a:prstGeom>
          <a:noFill/>
        </p:spPr>
        <p:txBody>
          <a:bodyPr wrap="square">
            <a:spAutoFit/>
          </a:bodyPr>
          <a:lstStyle/>
          <a:p>
            <a:pPr algn="l">
              <a:spcAft>
                <a:spcPts val="0"/>
              </a:spcAft>
            </a:pPr>
            <a:r>
              <a:rPr sz="1000" b="0" i="0">
                <a:solidFill>
                  <a:srgbClr val="8A8880"/>
                </a:solidFill>
                <a:latin typeface="Calibri"/>
              </a:rPr>
              <a:t>Outputs: enrichment_results.csv · enrichment_composition.csv · enrichment_summary.json · enrichment_figure.png/pdf/svg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